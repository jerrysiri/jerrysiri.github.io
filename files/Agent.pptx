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1"/>
  </p:notesMasterIdLst>
  <p:sldIdLst>
    <p:sldId id="256" r:id="rId2"/>
    <p:sldId id="257" r:id="rId3"/>
    <p:sldId id="272" r:id="rId4"/>
    <p:sldId id="258" r:id="rId5"/>
    <p:sldId id="260" r:id="rId6"/>
    <p:sldId id="259" r:id="rId7"/>
    <p:sldId id="273" r:id="rId8"/>
    <p:sldId id="274" r:id="rId9"/>
    <p:sldId id="277" r:id="rId10"/>
    <p:sldId id="275" r:id="rId11"/>
    <p:sldId id="261" r:id="rId12"/>
    <p:sldId id="262" r:id="rId13"/>
    <p:sldId id="263" r:id="rId14"/>
    <p:sldId id="264" r:id="rId15"/>
    <p:sldId id="288" r:id="rId16"/>
    <p:sldId id="276" r:id="rId17"/>
    <p:sldId id="268" r:id="rId18"/>
    <p:sldId id="267" r:id="rId19"/>
    <p:sldId id="269" r:id="rId20"/>
    <p:sldId id="266" r:id="rId21"/>
    <p:sldId id="281" r:id="rId22"/>
    <p:sldId id="278" r:id="rId23"/>
    <p:sldId id="282" r:id="rId24"/>
    <p:sldId id="279" r:id="rId25"/>
    <p:sldId id="285" r:id="rId26"/>
    <p:sldId id="287" r:id="rId27"/>
    <p:sldId id="280" r:id="rId28"/>
    <p:sldId id="286" r:id="rId29"/>
    <p:sldId id="270"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47"/>
    <p:restoredTop sz="82923"/>
  </p:normalViewPr>
  <p:slideViewPr>
    <p:cSldViewPr snapToGrid="0">
      <p:cViewPr varScale="1">
        <p:scale>
          <a:sx n="129" d="100"/>
          <a:sy n="129" d="100"/>
        </p:scale>
        <p:origin x="123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6" Type="http://schemas.openxmlformats.org/officeDocument/2006/relationships/image" Target="../media/image22.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6" Type="http://schemas.openxmlformats.org/officeDocument/2006/relationships/image" Target="../media/image22.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42507A-3CA9-44FE-AD31-B09AC18349D4}"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00601ECC-088A-4541-826D-C3D1AAAF7752}">
      <dgm:prSet custT="1"/>
      <dgm:spPr/>
      <dgm:t>
        <a:bodyPr/>
        <a:lstStyle/>
        <a:p>
          <a:pPr>
            <a:lnSpc>
              <a:spcPct val="100000"/>
            </a:lnSpc>
          </a:pPr>
          <a:r>
            <a:rPr lang="en-US" sz="1200" dirty="0"/>
            <a:t>1. Host: prepares the model(s) and deploys the system </a:t>
          </a:r>
        </a:p>
      </dgm:t>
    </dgm:pt>
    <dgm:pt modelId="{6091F9EF-EA00-4036-A016-53BED4E3DE0A}" type="parTrans" cxnId="{95CAB95A-7AAA-4FED-BDE5-AC493941F58B}">
      <dgm:prSet/>
      <dgm:spPr/>
      <dgm:t>
        <a:bodyPr/>
        <a:lstStyle/>
        <a:p>
          <a:endParaRPr lang="en-US"/>
        </a:p>
      </dgm:t>
    </dgm:pt>
    <dgm:pt modelId="{4DCEECC4-1A2C-435E-B199-0117561E2C76}" type="sibTrans" cxnId="{95CAB95A-7AAA-4FED-BDE5-AC493941F58B}">
      <dgm:prSet/>
      <dgm:spPr/>
      <dgm:t>
        <a:bodyPr/>
        <a:lstStyle/>
        <a:p>
          <a:pPr>
            <a:lnSpc>
              <a:spcPct val="100000"/>
            </a:lnSpc>
          </a:pPr>
          <a:endParaRPr lang="en-US"/>
        </a:p>
      </dgm:t>
    </dgm:pt>
    <dgm:pt modelId="{AB494703-3432-4296-A530-7D00C624C5F6}">
      <dgm:prSet custT="1"/>
      <dgm:spPr/>
      <dgm:t>
        <a:bodyPr/>
        <a:lstStyle/>
        <a:p>
          <a:pPr>
            <a:lnSpc>
              <a:spcPct val="100000"/>
            </a:lnSpc>
          </a:pPr>
          <a:r>
            <a:rPr lang="en-US" sz="1200" dirty="0"/>
            <a:t>2. User: send request to the system </a:t>
          </a:r>
        </a:p>
      </dgm:t>
    </dgm:pt>
    <dgm:pt modelId="{C817DD99-1385-4BBD-89D5-8D3DB5E78B54}" type="parTrans" cxnId="{D56EFB3E-E9D2-4D69-B5AA-7B3E948ADDCC}">
      <dgm:prSet/>
      <dgm:spPr/>
      <dgm:t>
        <a:bodyPr/>
        <a:lstStyle/>
        <a:p>
          <a:endParaRPr lang="en-US"/>
        </a:p>
      </dgm:t>
    </dgm:pt>
    <dgm:pt modelId="{226B7173-F789-4BE5-A52A-87A5CBF2F3D9}" type="sibTrans" cxnId="{D56EFB3E-E9D2-4D69-B5AA-7B3E948ADDCC}">
      <dgm:prSet/>
      <dgm:spPr/>
      <dgm:t>
        <a:bodyPr/>
        <a:lstStyle/>
        <a:p>
          <a:pPr>
            <a:lnSpc>
              <a:spcPct val="100000"/>
            </a:lnSpc>
          </a:pPr>
          <a:endParaRPr lang="en-US"/>
        </a:p>
      </dgm:t>
    </dgm:pt>
    <dgm:pt modelId="{81983F8F-1CC4-4426-9DC8-40203FDC0370}">
      <dgm:prSet custT="1"/>
      <dgm:spPr/>
      <dgm:t>
        <a:bodyPr/>
        <a:lstStyle/>
        <a:p>
          <a:pPr>
            <a:lnSpc>
              <a:spcPct val="100000"/>
            </a:lnSpc>
          </a:pPr>
          <a:r>
            <a:rPr lang="en-US" sz="1200" dirty="0"/>
            <a:t>3. </a:t>
          </a:r>
          <a:r>
            <a:rPr lang="en-US" sz="1200" b="1" dirty="0"/>
            <a:t>System</a:t>
          </a:r>
          <a:r>
            <a:rPr lang="en-US" sz="1200" dirty="0"/>
            <a:t>: process the request and invoke the model(s) </a:t>
          </a:r>
        </a:p>
      </dgm:t>
    </dgm:pt>
    <dgm:pt modelId="{71BD13F2-34B6-40DC-BEDB-B332D4469831}" type="parTrans" cxnId="{06F48791-66CD-4428-B482-3B10A07931A1}">
      <dgm:prSet/>
      <dgm:spPr/>
      <dgm:t>
        <a:bodyPr/>
        <a:lstStyle/>
        <a:p>
          <a:endParaRPr lang="en-US"/>
        </a:p>
      </dgm:t>
    </dgm:pt>
    <dgm:pt modelId="{B9DBC180-73F0-4CCC-B357-5D355285A3B3}" type="sibTrans" cxnId="{06F48791-66CD-4428-B482-3B10A07931A1}">
      <dgm:prSet/>
      <dgm:spPr/>
      <dgm:t>
        <a:bodyPr/>
        <a:lstStyle/>
        <a:p>
          <a:pPr>
            <a:lnSpc>
              <a:spcPct val="100000"/>
            </a:lnSpc>
          </a:pPr>
          <a:endParaRPr lang="en-US"/>
        </a:p>
      </dgm:t>
    </dgm:pt>
    <dgm:pt modelId="{D09227CE-FD75-4227-AFCA-3B60A2EECE33}">
      <dgm:prSet custT="1"/>
      <dgm:spPr/>
      <dgm:t>
        <a:bodyPr/>
        <a:lstStyle/>
        <a:p>
          <a:pPr>
            <a:lnSpc>
              <a:spcPct val="100000"/>
            </a:lnSpc>
          </a:pPr>
          <a:r>
            <a:rPr lang="en-US" sz="1200" dirty="0"/>
            <a:t>4. Model: interact with rest of the system </a:t>
          </a:r>
        </a:p>
      </dgm:t>
    </dgm:pt>
    <dgm:pt modelId="{664A89CE-AB62-4F7E-8AB6-CB53D2420282}" type="parTrans" cxnId="{B11E534F-F44A-407E-B95C-9F81532B1344}">
      <dgm:prSet/>
      <dgm:spPr/>
      <dgm:t>
        <a:bodyPr/>
        <a:lstStyle/>
        <a:p>
          <a:endParaRPr lang="en-US"/>
        </a:p>
      </dgm:t>
    </dgm:pt>
    <dgm:pt modelId="{C589BFFE-2D5D-49DB-AE6F-077589CBE671}" type="sibTrans" cxnId="{B11E534F-F44A-407E-B95C-9F81532B1344}">
      <dgm:prSet/>
      <dgm:spPr/>
      <dgm:t>
        <a:bodyPr/>
        <a:lstStyle/>
        <a:p>
          <a:pPr>
            <a:lnSpc>
              <a:spcPct val="100000"/>
            </a:lnSpc>
          </a:pPr>
          <a:endParaRPr lang="en-US"/>
        </a:p>
      </dgm:t>
    </dgm:pt>
    <dgm:pt modelId="{1178B960-A0CE-49AF-B0A8-2CF5B3B80E98}">
      <dgm:prSet custT="1"/>
      <dgm:spPr/>
      <dgm:t>
        <a:bodyPr/>
        <a:lstStyle/>
        <a:p>
          <a:pPr>
            <a:lnSpc>
              <a:spcPct val="100000"/>
            </a:lnSpc>
          </a:pPr>
          <a:r>
            <a:rPr lang="en-US" sz="1200" dirty="0"/>
            <a:t>5. </a:t>
          </a:r>
          <a:r>
            <a:rPr lang="en-US" sz="1200" b="1" dirty="0"/>
            <a:t>System</a:t>
          </a:r>
          <a:r>
            <a:rPr lang="en-US" sz="1200" dirty="0"/>
            <a:t>: interact with the External World </a:t>
          </a:r>
        </a:p>
      </dgm:t>
    </dgm:pt>
    <dgm:pt modelId="{BC22A40B-DC52-4776-9EAF-96A198095EDC}" type="parTrans" cxnId="{ED6482C6-72CF-49AC-8017-3EAB58DCDC34}">
      <dgm:prSet/>
      <dgm:spPr/>
      <dgm:t>
        <a:bodyPr/>
        <a:lstStyle/>
        <a:p>
          <a:endParaRPr lang="en-US"/>
        </a:p>
      </dgm:t>
    </dgm:pt>
    <dgm:pt modelId="{5B74BF3E-9C25-466D-9AD4-8D976B47CB9C}" type="sibTrans" cxnId="{ED6482C6-72CF-49AC-8017-3EAB58DCDC34}">
      <dgm:prSet/>
      <dgm:spPr/>
      <dgm:t>
        <a:bodyPr/>
        <a:lstStyle/>
        <a:p>
          <a:pPr>
            <a:lnSpc>
              <a:spcPct val="100000"/>
            </a:lnSpc>
          </a:pPr>
          <a:endParaRPr lang="en-US"/>
        </a:p>
      </dgm:t>
    </dgm:pt>
    <dgm:pt modelId="{7815E7FD-53E4-4235-BEAD-7E7B6871FA8A}">
      <dgm:prSet custT="1"/>
      <dgm:spPr/>
      <dgm:t>
        <a:bodyPr/>
        <a:lstStyle/>
        <a:p>
          <a:pPr>
            <a:lnSpc>
              <a:spcPct val="100000"/>
            </a:lnSpc>
          </a:pPr>
          <a:r>
            <a:rPr lang="en-US" sz="1200" dirty="0"/>
            <a:t>6. </a:t>
          </a:r>
          <a:r>
            <a:rPr lang="en-US" sz="1200" b="1" dirty="0"/>
            <a:t>System</a:t>
          </a:r>
          <a:r>
            <a:rPr lang="en-US" sz="1200" dirty="0"/>
            <a:t>: respond to User </a:t>
          </a:r>
        </a:p>
      </dgm:t>
    </dgm:pt>
    <dgm:pt modelId="{39F4201C-07FB-4589-81C4-6DE23F906716}" type="parTrans" cxnId="{7CF9A8D2-A9E9-4508-B636-24774D6C0CED}">
      <dgm:prSet/>
      <dgm:spPr/>
      <dgm:t>
        <a:bodyPr/>
        <a:lstStyle/>
        <a:p>
          <a:endParaRPr lang="en-US"/>
        </a:p>
      </dgm:t>
    </dgm:pt>
    <dgm:pt modelId="{36CD37D7-624E-4783-9CB6-3C4798758ED6}" type="sibTrans" cxnId="{7CF9A8D2-A9E9-4508-B636-24774D6C0CED}">
      <dgm:prSet/>
      <dgm:spPr/>
      <dgm:t>
        <a:bodyPr/>
        <a:lstStyle/>
        <a:p>
          <a:pPr>
            <a:lnSpc>
              <a:spcPct val="100000"/>
            </a:lnSpc>
          </a:pPr>
          <a:endParaRPr lang="en-US"/>
        </a:p>
      </dgm:t>
    </dgm:pt>
    <dgm:pt modelId="{746C3D95-5807-4C6A-A8D7-A4D36DA1D28B}">
      <dgm:prSet custT="1"/>
      <dgm:spPr/>
      <dgm:t>
        <a:bodyPr/>
        <a:lstStyle/>
        <a:p>
          <a:pPr>
            <a:lnSpc>
              <a:spcPct val="100000"/>
            </a:lnSpc>
          </a:pPr>
          <a:r>
            <a:rPr lang="en-US" sz="1200" u="sng" dirty="0"/>
            <a:t>7</a:t>
          </a:r>
          <a:r>
            <a:rPr lang="en-US" sz="1200" b="1" u="sng" dirty="0"/>
            <a:t>. System: </a:t>
          </a:r>
          <a:r>
            <a:rPr lang="en-US" sz="1200" u="sng" dirty="0"/>
            <a:t>continuously running for long-term tasks </a:t>
          </a:r>
          <a:endParaRPr lang="en-US" sz="1200" dirty="0"/>
        </a:p>
      </dgm:t>
    </dgm:pt>
    <dgm:pt modelId="{714273A0-1848-48C7-B6AF-B1418B0607AB}" type="parTrans" cxnId="{CF2AF1C2-7843-4BC1-99BF-F6C54C70E183}">
      <dgm:prSet/>
      <dgm:spPr/>
      <dgm:t>
        <a:bodyPr/>
        <a:lstStyle/>
        <a:p>
          <a:endParaRPr lang="en-US"/>
        </a:p>
      </dgm:t>
    </dgm:pt>
    <dgm:pt modelId="{98C577C5-0AFF-45CC-B0F5-57087B74DB3C}" type="sibTrans" cxnId="{CF2AF1C2-7843-4BC1-99BF-F6C54C70E183}">
      <dgm:prSet/>
      <dgm:spPr/>
      <dgm:t>
        <a:bodyPr/>
        <a:lstStyle/>
        <a:p>
          <a:pPr>
            <a:lnSpc>
              <a:spcPct val="100000"/>
            </a:lnSpc>
          </a:pPr>
          <a:endParaRPr lang="en-US"/>
        </a:p>
      </dgm:t>
    </dgm:pt>
    <dgm:pt modelId="{8DFD8B97-721F-4AB0-99C6-8E68DA97148E}">
      <dgm:prSet custT="1"/>
      <dgm:spPr/>
      <dgm:t>
        <a:bodyPr/>
        <a:lstStyle/>
        <a:p>
          <a:pPr>
            <a:lnSpc>
              <a:spcPct val="100000"/>
            </a:lnSpc>
          </a:pPr>
          <a:r>
            <a:rPr lang="en-US" sz="1200" dirty="0">
              <a:solidFill>
                <a:srgbClr val="FF0000"/>
              </a:solidFill>
            </a:rPr>
            <a:t>Ahead: </a:t>
          </a:r>
          <a:r>
            <a:rPr lang="en-US" sz="1200" dirty="0"/>
            <a:t>A hybrid/agent system sometimes also interacts with another hybrid system, forming multi-LLM/multi-agent communications</a:t>
          </a:r>
        </a:p>
      </dgm:t>
    </dgm:pt>
    <dgm:pt modelId="{836639DA-1089-4C3D-A581-4A6C51DA388F}" type="parTrans" cxnId="{99F814E9-71F5-484F-9689-2EFFC2F73BC1}">
      <dgm:prSet/>
      <dgm:spPr/>
      <dgm:t>
        <a:bodyPr/>
        <a:lstStyle/>
        <a:p>
          <a:endParaRPr lang="en-US"/>
        </a:p>
      </dgm:t>
    </dgm:pt>
    <dgm:pt modelId="{619F8F14-8DD0-44C7-A28B-B323D0548D78}" type="sibTrans" cxnId="{99F814E9-71F5-484F-9689-2EFFC2F73BC1}">
      <dgm:prSet/>
      <dgm:spPr/>
      <dgm:t>
        <a:bodyPr/>
        <a:lstStyle/>
        <a:p>
          <a:endParaRPr lang="en-US"/>
        </a:p>
      </dgm:t>
    </dgm:pt>
    <dgm:pt modelId="{51E09830-5A1B-42D6-9F5F-6A51E6217266}" type="pres">
      <dgm:prSet presAssocID="{3242507A-3CA9-44FE-AD31-B09AC18349D4}" presName="root" presStyleCnt="0">
        <dgm:presLayoutVars>
          <dgm:dir/>
          <dgm:resizeHandles val="exact"/>
        </dgm:presLayoutVars>
      </dgm:prSet>
      <dgm:spPr/>
    </dgm:pt>
    <dgm:pt modelId="{A2FEA9C5-DC29-4041-AC97-F42C99C287B3}" type="pres">
      <dgm:prSet presAssocID="{3242507A-3CA9-44FE-AD31-B09AC18349D4}" presName="container" presStyleCnt="0">
        <dgm:presLayoutVars>
          <dgm:dir/>
          <dgm:resizeHandles val="exact"/>
        </dgm:presLayoutVars>
      </dgm:prSet>
      <dgm:spPr/>
    </dgm:pt>
    <dgm:pt modelId="{23A5CF56-8817-4BFC-BCAE-A9101E10635D}" type="pres">
      <dgm:prSet presAssocID="{00601ECC-088A-4541-826D-C3D1AAAF7752}" presName="compNode" presStyleCnt="0"/>
      <dgm:spPr/>
    </dgm:pt>
    <dgm:pt modelId="{19E981D9-587F-4B3F-94E3-161FD69B13CA}" type="pres">
      <dgm:prSet presAssocID="{00601ECC-088A-4541-826D-C3D1AAAF7752}" presName="iconBgRect" presStyleLbl="bgShp" presStyleIdx="0" presStyleCnt="8"/>
      <dgm:spPr/>
    </dgm:pt>
    <dgm:pt modelId="{60F48D1D-ADCD-4430-82BC-088282C94A6E}" type="pres">
      <dgm:prSet presAssocID="{00601ECC-088A-4541-826D-C3D1AAAF7752}"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服务器"/>
        </a:ext>
      </dgm:extLst>
    </dgm:pt>
    <dgm:pt modelId="{2E8E713D-B7FE-4B7C-879D-D8B12EDFE8A6}" type="pres">
      <dgm:prSet presAssocID="{00601ECC-088A-4541-826D-C3D1AAAF7752}" presName="spaceRect" presStyleCnt="0"/>
      <dgm:spPr/>
    </dgm:pt>
    <dgm:pt modelId="{886BEF75-3E77-4B81-A9E4-44C58772AEAD}" type="pres">
      <dgm:prSet presAssocID="{00601ECC-088A-4541-826D-C3D1AAAF7752}" presName="textRect" presStyleLbl="revTx" presStyleIdx="0" presStyleCnt="8">
        <dgm:presLayoutVars>
          <dgm:chMax val="1"/>
          <dgm:chPref val="1"/>
        </dgm:presLayoutVars>
      </dgm:prSet>
      <dgm:spPr/>
    </dgm:pt>
    <dgm:pt modelId="{A635EC9A-A777-4173-BB0B-BD2BACBF509E}" type="pres">
      <dgm:prSet presAssocID="{4DCEECC4-1A2C-435E-B199-0117561E2C76}" presName="sibTrans" presStyleLbl="sibTrans2D1" presStyleIdx="0" presStyleCnt="0"/>
      <dgm:spPr/>
    </dgm:pt>
    <dgm:pt modelId="{BA71C4F5-B699-4846-BA6F-083C955D8C91}" type="pres">
      <dgm:prSet presAssocID="{AB494703-3432-4296-A530-7D00C624C5F6}" presName="compNode" presStyleCnt="0"/>
      <dgm:spPr/>
    </dgm:pt>
    <dgm:pt modelId="{AE4FA2EC-721E-4967-85E0-3DB6771FFD1D}" type="pres">
      <dgm:prSet presAssocID="{AB494703-3432-4296-A530-7D00C624C5F6}" presName="iconBgRect" presStyleLbl="bgShp" presStyleIdx="1" presStyleCnt="8"/>
      <dgm:spPr/>
    </dgm:pt>
    <dgm:pt modelId="{6DEB6915-C929-47D6-83FD-A733ED2040B3}" type="pres">
      <dgm:prSet presAssocID="{AB494703-3432-4296-A530-7D00C624C5F6}"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发送"/>
        </a:ext>
      </dgm:extLst>
    </dgm:pt>
    <dgm:pt modelId="{FB46D954-F96B-4AB2-BD40-52199293B7D1}" type="pres">
      <dgm:prSet presAssocID="{AB494703-3432-4296-A530-7D00C624C5F6}" presName="spaceRect" presStyleCnt="0"/>
      <dgm:spPr/>
    </dgm:pt>
    <dgm:pt modelId="{30451135-B6E7-450A-8CF6-ED8AFCCC745C}" type="pres">
      <dgm:prSet presAssocID="{AB494703-3432-4296-A530-7D00C624C5F6}" presName="textRect" presStyleLbl="revTx" presStyleIdx="1" presStyleCnt="8">
        <dgm:presLayoutVars>
          <dgm:chMax val="1"/>
          <dgm:chPref val="1"/>
        </dgm:presLayoutVars>
      </dgm:prSet>
      <dgm:spPr/>
    </dgm:pt>
    <dgm:pt modelId="{8D219FD9-013B-4462-B669-03ECC944ACE5}" type="pres">
      <dgm:prSet presAssocID="{226B7173-F789-4BE5-A52A-87A5CBF2F3D9}" presName="sibTrans" presStyleLbl="sibTrans2D1" presStyleIdx="0" presStyleCnt="0"/>
      <dgm:spPr/>
    </dgm:pt>
    <dgm:pt modelId="{0218C897-AA60-4384-9893-4BD82C846576}" type="pres">
      <dgm:prSet presAssocID="{81983F8F-1CC4-4426-9DC8-40203FDC0370}" presName="compNode" presStyleCnt="0"/>
      <dgm:spPr/>
    </dgm:pt>
    <dgm:pt modelId="{0A8AE9ED-E52E-455C-8F96-E7D8AB7B9240}" type="pres">
      <dgm:prSet presAssocID="{81983F8F-1CC4-4426-9DC8-40203FDC0370}" presName="iconBgRect" presStyleLbl="bgShp" presStyleIdx="2" presStyleCnt="8"/>
      <dgm:spPr/>
    </dgm:pt>
    <dgm:pt modelId="{1E117BE3-200B-4714-8034-796CA7597A79}" type="pres">
      <dgm:prSet presAssocID="{81983F8F-1CC4-4426-9DC8-40203FDC0370}"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流程图"/>
        </a:ext>
      </dgm:extLst>
    </dgm:pt>
    <dgm:pt modelId="{AE9655A2-7952-4D21-BB42-F0E05E1F1904}" type="pres">
      <dgm:prSet presAssocID="{81983F8F-1CC4-4426-9DC8-40203FDC0370}" presName="spaceRect" presStyleCnt="0"/>
      <dgm:spPr/>
    </dgm:pt>
    <dgm:pt modelId="{4FD04B6C-6963-4A88-A66A-72B41AB3AA78}" type="pres">
      <dgm:prSet presAssocID="{81983F8F-1CC4-4426-9DC8-40203FDC0370}" presName="textRect" presStyleLbl="revTx" presStyleIdx="2" presStyleCnt="8">
        <dgm:presLayoutVars>
          <dgm:chMax val="1"/>
          <dgm:chPref val="1"/>
        </dgm:presLayoutVars>
      </dgm:prSet>
      <dgm:spPr/>
    </dgm:pt>
    <dgm:pt modelId="{874CCE8B-209D-45AB-84CE-4BF24FF4AA82}" type="pres">
      <dgm:prSet presAssocID="{B9DBC180-73F0-4CCC-B357-5D355285A3B3}" presName="sibTrans" presStyleLbl="sibTrans2D1" presStyleIdx="0" presStyleCnt="0"/>
      <dgm:spPr/>
    </dgm:pt>
    <dgm:pt modelId="{EB167DB4-0E8C-4B6A-AFBB-E9CC516DC6DF}" type="pres">
      <dgm:prSet presAssocID="{D09227CE-FD75-4227-AFCA-3B60A2EECE33}" presName="compNode" presStyleCnt="0"/>
      <dgm:spPr/>
    </dgm:pt>
    <dgm:pt modelId="{A84F6D69-30B9-447D-B9E4-1DAE7015F145}" type="pres">
      <dgm:prSet presAssocID="{D09227CE-FD75-4227-AFCA-3B60A2EECE33}" presName="iconBgRect" presStyleLbl="bgShp" presStyleIdx="3" presStyleCnt="8"/>
      <dgm:spPr/>
    </dgm:pt>
    <dgm:pt modelId="{318B58C8-F9CD-4298-AD71-E677CD21F762}" type="pres">
      <dgm:prSet presAssocID="{D09227CE-FD75-4227-AFCA-3B60A2EECE33}"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Network Diagram"/>
        </a:ext>
      </dgm:extLst>
    </dgm:pt>
    <dgm:pt modelId="{804B1189-481C-46B1-9630-776FEE55168E}" type="pres">
      <dgm:prSet presAssocID="{D09227CE-FD75-4227-AFCA-3B60A2EECE33}" presName="spaceRect" presStyleCnt="0"/>
      <dgm:spPr/>
    </dgm:pt>
    <dgm:pt modelId="{0B0F2BBB-BFA1-48C5-BC47-E7872E468D9A}" type="pres">
      <dgm:prSet presAssocID="{D09227CE-FD75-4227-AFCA-3B60A2EECE33}" presName="textRect" presStyleLbl="revTx" presStyleIdx="3" presStyleCnt="8">
        <dgm:presLayoutVars>
          <dgm:chMax val="1"/>
          <dgm:chPref val="1"/>
        </dgm:presLayoutVars>
      </dgm:prSet>
      <dgm:spPr/>
    </dgm:pt>
    <dgm:pt modelId="{4DE8E3EA-7C2E-4E45-BDE5-75BBB0ECEC6D}" type="pres">
      <dgm:prSet presAssocID="{C589BFFE-2D5D-49DB-AE6F-077589CBE671}" presName="sibTrans" presStyleLbl="sibTrans2D1" presStyleIdx="0" presStyleCnt="0"/>
      <dgm:spPr/>
    </dgm:pt>
    <dgm:pt modelId="{B567D42F-5D8A-4AF1-82AB-4F579ACBCB19}" type="pres">
      <dgm:prSet presAssocID="{1178B960-A0CE-49AF-B0A8-2CF5B3B80E98}" presName="compNode" presStyleCnt="0"/>
      <dgm:spPr/>
    </dgm:pt>
    <dgm:pt modelId="{BBC7010D-9668-4AD4-997F-26E9B4FF79F4}" type="pres">
      <dgm:prSet presAssocID="{1178B960-A0CE-49AF-B0A8-2CF5B3B80E98}" presName="iconBgRect" presStyleLbl="bgShp" presStyleIdx="4" presStyleCnt="8"/>
      <dgm:spPr/>
    </dgm:pt>
    <dgm:pt modelId="{FC1D3D6C-BC35-454E-851C-D33FA9C8BF93}" type="pres">
      <dgm:prSet presAssocID="{1178B960-A0CE-49AF-B0A8-2CF5B3B80E98}"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连接"/>
        </a:ext>
      </dgm:extLst>
    </dgm:pt>
    <dgm:pt modelId="{203D9198-04A5-4932-99C9-72BC564A87E9}" type="pres">
      <dgm:prSet presAssocID="{1178B960-A0CE-49AF-B0A8-2CF5B3B80E98}" presName="spaceRect" presStyleCnt="0"/>
      <dgm:spPr/>
    </dgm:pt>
    <dgm:pt modelId="{DA18A24B-C7FE-456E-BF99-37A370C64EAC}" type="pres">
      <dgm:prSet presAssocID="{1178B960-A0CE-49AF-B0A8-2CF5B3B80E98}" presName="textRect" presStyleLbl="revTx" presStyleIdx="4" presStyleCnt="8">
        <dgm:presLayoutVars>
          <dgm:chMax val="1"/>
          <dgm:chPref val="1"/>
        </dgm:presLayoutVars>
      </dgm:prSet>
      <dgm:spPr/>
    </dgm:pt>
    <dgm:pt modelId="{801F0A79-1A56-411D-A7B5-E4CB4991B98C}" type="pres">
      <dgm:prSet presAssocID="{5B74BF3E-9C25-466D-9AD4-8D976B47CB9C}" presName="sibTrans" presStyleLbl="sibTrans2D1" presStyleIdx="0" presStyleCnt="0"/>
      <dgm:spPr/>
    </dgm:pt>
    <dgm:pt modelId="{3FAEACA5-E399-4772-A2A5-D7923F4ACE2B}" type="pres">
      <dgm:prSet presAssocID="{7815E7FD-53E4-4235-BEAD-7E7B6871FA8A}" presName="compNode" presStyleCnt="0"/>
      <dgm:spPr/>
    </dgm:pt>
    <dgm:pt modelId="{F9C3C75C-920B-4394-A8BE-0D774CB92E6E}" type="pres">
      <dgm:prSet presAssocID="{7815E7FD-53E4-4235-BEAD-7E7B6871FA8A}" presName="iconBgRect" presStyleLbl="bgShp" presStyleIdx="5" presStyleCnt="8"/>
      <dgm:spPr/>
    </dgm:pt>
    <dgm:pt modelId="{E55E0B1C-5163-4B88-946E-4506913FF48E}" type="pres">
      <dgm:prSet presAssocID="{7815E7FD-53E4-4235-BEAD-7E7B6871FA8A}"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机器人"/>
        </a:ext>
      </dgm:extLst>
    </dgm:pt>
    <dgm:pt modelId="{A59F91F1-5790-455D-9B48-524C19254BD7}" type="pres">
      <dgm:prSet presAssocID="{7815E7FD-53E4-4235-BEAD-7E7B6871FA8A}" presName="spaceRect" presStyleCnt="0"/>
      <dgm:spPr/>
    </dgm:pt>
    <dgm:pt modelId="{C9DE5A35-82B8-468E-82BC-4AF04D7F9361}" type="pres">
      <dgm:prSet presAssocID="{7815E7FD-53E4-4235-BEAD-7E7B6871FA8A}" presName="textRect" presStyleLbl="revTx" presStyleIdx="5" presStyleCnt="8">
        <dgm:presLayoutVars>
          <dgm:chMax val="1"/>
          <dgm:chPref val="1"/>
        </dgm:presLayoutVars>
      </dgm:prSet>
      <dgm:spPr/>
    </dgm:pt>
    <dgm:pt modelId="{038C81C4-9CD6-4A39-9F82-19AD90ED1607}" type="pres">
      <dgm:prSet presAssocID="{36CD37D7-624E-4783-9CB6-3C4798758ED6}" presName="sibTrans" presStyleLbl="sibTrans2D1" presStyleIdx="0" presStyleCnt="0"/>
      <dgm:spPr/>
    </dgm:pt>
    <dgm:pt modelId="{CD897811-FEAE-48F4-946D-6653329D7924}" type="pres">
      <dgm:prSet presAssocID="{746C3D95-5807-4C6A-A8D7-A4D36DA1D28B}" presName="compNode" presStyleCnt="0"/>
      <dgm:spPr/>
    </dgm:pt>
    <dgm:pt modelId="{F44E2937-1703-4963-AE33-D61AB4F5A434}" type="pres">
      <dgm:prSet presAssocID="{746C3D95-5807-4C6A-A8D7-A4D36DA1D28B}" presName="iconBgRect" presStyleLbl="bgShp" presStyleIdx="6" presStyleCnt="8"/>
      <dgm:spPr/>
    </dgm:pt>
    <dgm:pt modelId="{E7FA4C36-C99C-4A08-AEAE-068F20CC1965}" type="pres">
      <dgm:prSet presAssocID="{746C3D95-5807-4C6A-A8D7-A4D36DA1D28B}"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层次结构"/>
        </a:ext>
      </dgm:extLst>
    </dgm:pt>
    <dgm:pt modelId="{53E89676-55DE-4A05-A50D-F6AA62C7C8BC}" type="pres">
      <dgm:prSet presAssocID="{746C3D95-5807-4C6A-A8D7-A4D36DA1D28B}" presName="spaceRect" presStyleCnt="0"/>
      <dgm:spPr/>
    </dgm:pt>
    <dgm:pt modelId="{81D31BC3-7456-4CA4-9B7A-7CCCDFBF1F50}" type="pres">
      <dgm:prSet presAssocID="{746C3D95-5807-4C6A-A8D7-A4D36DA1D28B}" presName="textRect" presStyleLbl="revTx" presStyleIdx="6" presStyleCnt="8">
        <dgm:presLayoutVars>
          <dgm:chMax val="1"/>
          <dgm:chPref val="1"/>
        </dgm:presLayoutVars>
      </dgm:prSet>
      <dgm:spPr/>
    </dgm:pt>
    <dgm:pt modelId="{B4B00BD5-0148-497F-9159-6CEE57023571}" type="pres">
      <dgm:prSet presAssocID="{98C577C5-0AFF-45CC-B0F5-57087B74DB3C}" presName="sibTrans" presStyleLbl="sibTrans2D1" presStyleIdx="0" presStyleCnt="0"/>
      <dgm:spPr/>
    </dgm:pt>
    <dgm:pt modelId="{0AEEABB9-F82C-40CC-A18D-BA946C30FD3F}" type="pres">
      <dgm:prSet presAssocID="{8DFD8B97-721F-4AB0-99C6-8E68DA97148E}" presName="compNode" presStyleCnt="0"/>
      <dgm:spPr/>
    </dgm:pt>
    <dgm:pt modelId="{9BB8171C-66D1-4EFE-BF9B-8E083F2BEBF8}" type="pres">
      <dgm:prSet presAssocID="{8DFD8B97-721F-4AB0-99C6-8E68DA97148E}" presName="iconBgRect" presStyleLbl="bgShp" presStyleIdx="7" presStyleCnt="8"/>
      <dgm:spPr/>
    </dgm:pt>
    <dgm:pt modelId="{5FD82B9B-71AA-4F9F-8805-C3EFB50B7962}" type="pres">
      <dgm:prSet presAssocID="{8DFD8B97-721F-4AB0-99C6-8E68DA97148E}"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dgm:spPr>
      <dgm:extLst>
        <a:ext uri="{E40237B7-FDA0-4F09-8148-C483321AD2D9}">
          <dgm14:cNvPr xmlns:dgm14="http://schemas.microsoft.com/office/drawing/2010/diagram" id="0" name="" descr="Social Network"/>
        </a:ext>
      </dgm:extLst>
    </dgm:pt>
    <dgm:pt modelId="{29ECB3EF-BD8F-4950-BB3E-1ACF506E441B}" type="pres">
      <dgm:prSet presAssocID="{8DFD8B97-721F-4AB0-99C6-8E68DA97148E}" presName="spaceRect" presStyleCnt="0"/>
      <dgm:spPr/>
    </dgm:pt>
    <dgm:pt modelId="{AEC3C3D8-8669-466A-A32A-908985FF4EA9}" type="pres">
      <dgm:prSet presAssocID="{8DFD8B97-721F-4AB0-99C6-8E68DA97148E}" presName="textRect" presStyleLbl="revTx" presStyleIdx="7" presStyleCnt="8" custScaleX="202957" custScaleY="180388" custLinFactNeighborX="49852" custLinFactNeighborY="-3456">
        <dgm:presLayoutVars>
          <dgm:chMax val="1"/>
          <dgm:chPref val="1"/>
        </dgm:presLayoutVars>
      </dgm:prSet>
      <dgm:spPr/>
    </dgm:pt>
  </dgm:ptLst>
  <dgm:cxnLst>
    <dgm:cxn modelId="{8D9EBF03-4F9D-4C60-8880-198FBC948286}" type="presOf" srcId="{C589BFFE-2D5D-49DB-AE6F-077589CBE671}" destId="{4DE8E3EA-7C2E-4E45-BDE5-75BBB0ECEC6D}" srcOrd="0" destOrd="0" presId="urn:microsoft.com/office/officeart/2018/2/layout/IconCircleList"/>
    <dgm:cxn modelId="{8BFDBB0D-213F-430B-867E-A35E693439F6}" type="presOf" srcId="{4DCEECC4-1A2C-435E-B199-0117561E2C76}" destId="{A635EC9A-A777-4173-BB0B-BD2BACBF509E}" srcOrd="0" destOrd="0" presId="urn:microsoft.com/office/officeart/2018/2/layout/IconCircleList"/>
    <dgm:cxn modelId="{F7AFC314-1F15-4E23-909D-8409578D8577}" type="presOf" srcId="{81983F8F-1CC4-4426-9DC8-40203FDC0370}" destId="{4FD04B6C-6963-4A88-A66A-72B41AB3AA78}" srcOrd="0" destOrd="0" presId="urn:microsoft.com/office/officeart/2018/2/layout/IconCircleList"/>
    <dgm:cxn modelId="{CB4CEC14-A3F8-41F8-80EA-0A51BB421B83}" type="presOf" srcId="{36CD37D7-624E-4783-9CB6-3C4798758ED6}" destId="{038C81C4-9CD6-4A39-9F82-19AD90ED1607}" srcOrd="0" destOrd="0" presId="urn:microsoft.com/office/officeart/2018/2/layout/IconCircleList"/>
    <dgm:cxn modelId="{D56EFB3E-E9D2-4D69-B5AA-7B3E948ADDCC}" srcId="{3242507A-3CA9-44FE-AD31-B09AC18349D4}" destId="{AB494703-3432-4296-A530-7D00C624C5F6}" srcOrd="1" destOrd="0" parTransId="{C817DD99-1385-4BBD-89D5-8D3DB5E78B54}" sibTransId="{226B7173-F789-4BE5-A52A-87A5CBF2F3D9}"/>
    <dgm:cxn modelId="{31BEB546-4205-4D8D-BA91-F62A9C747087}" type="presOf" srcId="{746C3D95-5807-4C6A-A8D7-A4D36DA1D28B}" destId="{81D31BC3-7456-4CA4-9B7A-7CCCDFBF1F50}" srcOrd="0" destOrd="0" presId="urn:microsoft.com/office/officeart/2018/2/layout/IconCircleList"/>
    <dgm:cxn modelId="{B11E534F-F44A-407E-B95C-9F81532B1344}" srcId="{3242507A-3CA9-44FE-AD31-B09AC18349D4}" destId="{D09227CE-FD75-4227-AFCA-3B60A2EECE33}" srcOrd="3" destOrd="0" parTransId="{664A89CE-AB62-4F7E-8AB6-CB53D2420282}" sibTransId="{C589BFFE-2D5D-49DB-AE6F-077589CBE671}"/>
    <dgm:cxn modelId="{95CAB95A-7AAA-4FED-BDE5-AC493941F58B}" srcId="{3242507A-3CA9-44FE-AD31-B09AC18349D4}" destId="{00601ECC-088A-4541-826D-C3D1AAAF7752}" srcOrd="0" destOrd="0" parTransId="{6091F9EF-EA00-4036-A016-53BED4E3DE0A}" sibTransId="{4DCEECC4-1A2C-435E-B199-0117561E2C76}"/>
    <dgm:cxn modelId="{7D2FAC66-2F7F-4B91-95DF-157CAF5DDB3D}" type="presOf" srcId="{D09227CE-FD75-4227-AFCA-3B60A2EECE33}" destId="{0B0F2BBB-BFA1-48C5-BC47-E7872E468D9A}" srcOrd="0" destOrd="0" presId="urn:microsoft.com/office/officeart/2018/2/layout/IconCircleList"/>
    <dgm:cxn modelId="{9B34137F-1FC4-4360-BE07-B5987C931CD3}" type="presOf" srcId="{3242507A-3CA9-44FE-AD31-B09AC18349D4}" destId="{51E09830-5A1B-42D6-9F5F-6A51E6217266}" srcOrd="0" destOrd="0" presId="urn:microsoft.com/office/officeart/2018/2/layout/IconCircleList"/>
    <dgm:cxn modelId="{68659286-4BFF-4736-B147-6D83A63B0E8D}" type="presOf" srcId="{226B7173-F789-4BE5-A52A-87A5CBF2F3D9}" destId="{8D219FD9-013B-4462-B669-03ECC944ACE5}" srcOrd="0" destOrd="0" presId="urn:microsoft.com/office/officeart/2018/2/layout/IconCircleList"/>
    <dgm:cxn modelId="{AAEA9A8F-B67C-4CF4-8163-9A7A846C9631}" type="presOf" srcId="{00601ECC-088A-4541-826D-C3D1AAAF7752}" destId="{886BEF75-3E77-4B81-A9E4-44C58772AEAD}" srcOrd="0" destOrd="0" presId="urn:microsoft.com/office/officeart/2018/2/layout/IconCircleList"/>
    <dgm:cxn modelId="{8FFC0290-C835-48F0-B55B-C4E0F3D55C58}" type="presOf" srcId="{B9DBC180-73F0-4CCC-B357-5D355285A3B3}" destId="{874CCE8B-209D-45AB-84CE-4BF24FF4AA82}" srcOrd="0" destOrd="0" presId="urn:microsoft.com/office/officeart/2018/2/layout/IconCircleList"/>
    <dgm:cxn modelId="{8A8A7790-5F2A-4221-9535-13D2FE3E355F}" type="presOf" srcId="{98C577C5-0AFF-45CC-B0F5-57087B74DB3C}" destId="{B4B00BD5-0148-497F-9159-6CEE57023571}" srcOrd="0" destOrd="0" presId="urn:microsoft.com/office/officeart/2018/2/layout/IconCircleList"/>
    <dgm:cxn modelId="{06F48791-66CD-4428-B482-3B10A07931A1}" srcId="{3242507A-3CA9-44FE-AD31-B09AC18349D4}" destId="{81983F8F-1CC4-4426-9DC8-40203FDC0370}" srcOrd="2" destOrd="0" parTransId="{71BD13F2-34B6-40DC-BEDB-B332D4469831}" sibTransId="{B9DBC180-73F0-4CCC-B357-5D355285A3B3}"/>
    <dgm:cxn modelId="{0ED9359E-D3BD-42DC-86D3-53C8E475652B}" type="presOf" srcId="{AB494703-3432-4296-A530-7D00C624C5F6}" destId="{30451135-B6E7-450A-8CF6-ED8AFCCC745C}" srcOrd="0" destOrd="0" presId="urn:microsoft.com/office/officeart/2018/2/layout/IconCircleList"/>
    <dgm:cxn modelId="{B6A16AB4-C1BD-4978-8A7D-D76AA434FABC}" type="presOf" srcId="{5B74BF3E-9C25-466D-9AD4-8D976B47CB9C}" destId="{801F0A79-1A56-411D-A7B5-E4CB4991B98C}" srcOrd="0" destOrd="0" presId="urn:microsoft.com/office/officeart/2018/2/layout/IconCircleList"/>
    <dgm:cxn modelId="{CF2AF1C2-7843-4BC1-99BF-F6C54C70E183}" srcId="{3242507A-3CA9-44FE-AD31-B09AC18349D4}" destId="{746C3D95-5807-4C6A-A8D7-A4D36DA1D28B}" srcOrd="6" destOrd="0" parTransId="{714273A0-1848-48C7-B6AF-B1418B0607AB}" sibTransId="{98C577C5-0AFF-45CC-B0F5-57087B74DB3C}"/>
    <dgm:cxn modelId="{ED6482C6-72CF-49AC-8017-3EAB58DCDC34}" srcId="{3242507A-3CA9-44FE-AD31-B09AC18349D4}" destId="{1178B960-A0CE-49AF-B0A8-2CF5B3B80E98}" srcOrd="4" destOrd="0" parTransId="{BC22A40B-DC52-4776-9EAF-96A198095EDC}" sibTransId="{5B74BF3E-9C25-466D-9AD4-8D976B47CB9C}"/>
    <dgm:cxn modelId="{B1B105C9-BF8C-47DA-A41A-7EF73B4326B5}" type="presOf" srcId="{7815E7FD-53E4-4235-BEAD-7E7B6871FA8A}" destId="{C9DE5A35-82B8-468E-82BC-4AF04D7F9361}" srcOrd="0" destOrd="0" presId="urn:microsoft.com/office/officeart/2018/2/layout/IconCircleList"/>
    <dgm:cxn modelId="{7CF9A8D2-A9E9-4508-B636-24774D6C0CED}" srcId="{3242507A-3CA9-44FE-AD31-B09AC18349D4}" destId="{7815E7FD-53E4-4235-BEAD-7E7B6871FA8A}" srcOrd="5" destOrd="0" parTransId="{39F4201C-07FB-4589-81C4-6DE23F906716}" sibTransId="{36CD37D7-624E-4783-9CB6-3C4798758ED6}"/>
    <dgm:cxn modelId="{99F814E9-71F5-484F-9689-2EFFC2F73BC1}" srcId="{3242507A-3CA9-44FE-AD31-B09AC18349D4}" destId="{8DFD8B97-721F-4AB0-99C6-8E68DA97148E}" srcOrd="7" destOrd="0" parTransId="{836639DA-1089-4C3D-A581-4A6C51DA388F}" sibTransId="{619F8F14-8DD0-44C7-A28B-B323D0548D78}"/>
    <dgm:cxn modelId="{1913D4FB-CE62-4F66-9D32-CD5EA27B5C66}" type="presOf" srcId="{1178B960-A0CE-49AF-B0A8-2CF5B3B80E98}" destId="{DA18A24B-C7FE-456E-BF99-37A370C64EAC}" srcOrd="0" destOrd="0" presId="urn:microsoft.com/office/officeart/2018/2/layout/IconCircleList"/>
    <dgm:cxn modelId="{2E45B2FC-818F-43E9-9851-997B24F1AB53}" type="presOf" srcId="{8DFD8B97-721F-4AB0-99C6-8E68DA97148E}" destId="{AEC3C3D8-8669-466A-A32A-908985FF4EA9}" srcOrd="0" destOrd="0" presId="urn:microsoft.com/office/officeart/2018/2/layout/IconCircleList"/>
    <dgm:cxn modelId="{5DEF22D8-8271-4EC1-B803-6A703AE44A5A}" type="presParOf" srcId="{51E09830-5A1B-42D6-9F5F-6A51E6217266}" destId="{A2FEA9C5-DC29-4041-AC97-F42C99C287B3}" srcOrd="0" destOrd="0" presId="urn:microsoft.com/office/officeart/2018/2/layout/IconCircleList"/>
    <dgm:cxn modelId="{31CD4356-CFD4-45AB-8CCF-C5D664A7C2B5}" type="presParOf" srcId="{A2FEA9C5-DC29-4041-AC97-F42C99C287B3}" destId="{23A5CF56-8817-4BFC-BCAE-A9101E10635D}" srcOrd="0" destOrd="0" presId="urn:microsoft.com/office/officeart/2018/2/layout/IconCircleList"/>
    <dgm:cxn modelId="{70F7A4F9-ED3C-4E9F-A324-35F84211C42F}" type="presParOf" srcId="{23A5CF56-8817-4BFC-BCAE-A9101E10635D}" destId="{19E981D9-587F-4B3F-94E3-161FD69B13CA}" srcOrd="0" destOrd="0" presId="urn:microsoft.com/office/officeart/2018/2/layout/IconCircleList"/>
    <dgm:cxn modelId="{EDC9802E-C3D8-4C57-81FE-092C74FF1448}" type="presParOf" srcId="{23A5CF56-8817-4BFC-BCAE-A9101E10635D}" destId="{60F48D1D-ADCD-4430-82BC-088282C94A6E}" srcOrd="1" destOrd="0" presId="urn:microsoft.com/office/officeart/2018/2/layout/IconCircleList"/>
    <dgm:cxn modelId="{20EE0381-E623-40B2-BDA8-6AFE5B585682}" type="presParOf" srcId="{23A5CF56-8817-4BFC-BCAE-A9101E10635D}" destId="{2E8E713D-B7FE-4B7C-879D-D8B12EDFE8A6}" srcOrd="2" destOrd="0" presId="urn:microsoft.com/office/officeart/2018/2/layout/IconCircleList"/>
    <dgm:cxn modelId="{64F48022-6B64-4D31-8C75-E3235AC22B41}" type="presParOf" srcId="{23A5CF56-8817-4BFC-BCAE-A9101E10635D}" destId="{886BEF75-3E77-4B81-A9E4-44C58772AEAD}" srcOrd="3" destOrd="0" presId="urn:microsoft.com/office/officeart/2018/2/layout/IconCircleList"/>
    <dgm:cxn modelId="{F318316B-9CCE-4982-9E68-D7894DAEB550}" type="presParOf" srcId="{A2FEA9C5-DC29-4041-AC97-F42C99C287B3}" destId="{A635EC9A-A777-4173-BB0B-BD2BACBF509E}" srcOrd="1" destOrd="0" presId="urn:microsoft.com/office/officeart/2018/2/layout/IconCircleList"/>
    <dgm:cxn modelId="{B9733E61-D170-4D77-912F-5BB7191B49A0}" type="presParOf" srcId="{A2FEA9C5-DC29-4041-AC97-F42C99C287B3}" destId="{BA71C4F5-B699-4846-BA6F-083C955D8C91}" srcOrd="2" destOrd="0" presId="urn:microsoft.com/office/officeart/2018/2/layout/IconCircleList"/>
    <dgm:cxn modelId="{BD676CA5-DD9E-4690-8A78-2F4E8EB7AA28}" type="presParOf" srcId="{BA71C4F5-B699-4846-BA6F-083C955D8C91}" destId="{AE4FA2EC-721E-4967-85E0-3DB6771FFD1D}" srcOrd="0" destOrd="0" presId="urn:microsoft.com/office/officeart/2018/2/layout/IconCircleList"/>
    <dgm:cxn modelId="{10B738F9-5603-4A71-BECF-7CF249F063AC}" type="presParOf" srcId="{BA71C4F5-B699-4846-BA6F-083C955D8C91}" destId="{6DEB6915-C929-47D6-83FD-A733ED2040B3}" srcOrd="1" destOrd="0" presId="urn:microsoft.com/office/officeart/2018/2/layout/IconCircleList"/>
    <dgm:cxn modelId="{3931AF46-1619-441A-9C5A-FBEDF19C322F}" type="presParOf" srcId="{BA71C4F5-B699-4846-BA6F-083C955D8C91}" destId="{FB46D954-F96B-4AB2-BD40-52199293B7D1}" srcOrd="2" destOrd="0" presId="urn:microsoft.com/office/officeart/2018/2/layout/IconCircleList"/>
    <dgm:cxn modelId="{F8C3BAC1-CEC8-42F4-8CE0-27A4688C5405}" type="presParOf" srcId="{BA71C4F5-B699-4846-BA6F-083C955D8C91}" destId="{30451135-B6E7-450A-8CF6-ED8AFCCC745C}" srcOrd="3" destOrd="0" presId="urn:microsoft.com/office/officeart/2018/2/layout/IconCircleList"/>
    <dgm:cxn modelId="{A99B6589-752C-4DE6-8525-E0F459635F24}" type="presParOf" srcId="{A2FEA9C5-DC29-4041-AC97-F42C99C287B3}" destId="{8D219FD9-013B-4462-B669-03ECC944ACE5}" srcOrd="3" destOrd="0" presId="urn:microsoft.com/office/officeart/2018/2/layout/IconCircleList"/>
    <dgm:cxn modelId="{F74595E0-574A-4209-B83A-F6FA811FEC8F}" type="presParOf" srcId="{A2FEA9C5-DC29-4041-AC97-F42C99C287B3}" destId="{0218C897-AA60-4384-9893-4BD82C846576}" srcOrd="4" destOrd="0" presId="urn:microsoft.com/office/officeart/2018/2/layout/IconCircleList"/>
    <dgm:cxn modelId="{8C3251E0-B073-46DB-AFCB-54022E1309D1}" type="presParOf" srcId="{0218C897-AA60-4384-9893-4BD82C846576}" destId="{0A8AE9ED-E52E-455C-8F96-E7D8AB7B9240}" srcOrd="0" destOrd="0" presId="urn:microsoft.com/office/officeart/2018/2/layout/IconCircleList"/>
    <dgm:cxn modelId="{3899C851-3C12-4E65-AB0B-CD493FC5E055}" type="presParOf" srcId="{0218C897-AA60-4384-9893-4BD82C846576}" destId="{1E117BE3-200B-4714-8034-796CA7597A79}" srcOrd="1" destOrd="0" presId="urn:microsoft.com/office/officeart/2018/2/layout/IconCircleList"/>
    <dgm:cxn modelId="{D0A0432A-F0FB-463A-BFF1-66678D67A900}" type="presParOf" srcId="{0218C897-AA60-4384-9893-4BD82C846576}" destId="{AE9655A2-7952-4D21-BB42-F0E05E1F1904}" srcOrd="2" destOrd="0" presId="urn:microsoft.com/office/officeart/2018/2/layout/IconCircleList"/>
    <dgm:cxn modelId="{7280DD5B-E742-4B78-9B58-228A12472027}" type="presParOf" srcId="{0218C897-AA60-4384-9893-4BD82C846576}" destId="{4FD04B6C-6963-4A88-A66A-72B41AB3AA78}" srcOrd="3" destOrd="0" presId="urn:microsoft.com/office/officeart/2018/2/layout/IconCircleList"/>
    <dgm:cxn modelId="{78B8ED45-E273-4FDC-A419-3697188C7B56}" type="presParOf" srcId="{A2FEA9C5-DC29-4041-AC97-F42C99C287B3}" destId="{874CCE8B-209D-45AB-84CE-4BF24FF4AA82}" srcOrd="5" destOrd="0" presId="urn:microsoft.com/office/officeart/2018/2/layout/IconCircleList"/>
    <dgm:cxn modelId="{7983751A-698D-453E-9436-535018A18A05}" type="presParOf" srcId="{A2FEA9C5-DC29-4041-AC97-F42C99C287B3}" destId="{EB167DB4-0E8C-4B6A-AFBB-E9CC516DC6DF}" srcOrd="6" destOrd="0" presId="urn:microsoft.com/office/officeart/2018/2/layout/IconCircleList"/>
    <dgm:cxn modelId="{CE2710EA-FAD4-4DD3-9A18-4C87E3623E63}" type="presParOf" srcId="{EB167DB4-0E8C-4B6A-AFBB-E9CC516DC6DF}" destId="{A84F6D69-30B9-447D-B9E4-1DAE7015F145}" srcOrd="0" destOrd="0" presId="urn:microsoft.com/office/officeart/2018/2/layout/IconCircleList"/>
    <dgm:cxn modelId="{FFCA90B2-31B5-4D3D-98F8-7E4A409A7C21}" type="presParOf" srcId="{EB167DB4-0E8C-4B6A-AFBB-E9CC516DC6DF}" destId="{318B58C8-F9CD-4298-AD71-E677CD21F762}" srcOrd="1" destOrd="0" presId="urn:microsoft.com/office/officeart/2018/2/layout/IconCircleList"/>
    <dgm:cxn modelId="{ACB12273-F149-486F-8072-599C78CDA215}" type="presParOf" srcId="{EB167DB4-0E8C-4B6A-AFBB-E9CC516DC6DF}" destId="{804B1189-481C-46B1-9630-776FEE55168E}" srcOrd="2" destOrd="0" presId="urn:microsoft.com/office/officeart/2018/2/layout/IconCircleList"/>
    <dgm:cxn modelId="{11572C51-FF72-4D5D-8466-6BA50D4FB21F}" type="presParOf" srcId="{EB167DB4-0E8C-4B6A-AFBB-E9CC516DC6DF}" destId="{0B0F2BBB-BFA1-48C5-BC47-E7872E468D9A}" srcOrd="3" destOrd="0" presId="urn:microsoft.com/office/officeart/2018/2/layout/IconCircleList"/>
    <dgm:cxn modelId="{2B449186-A88B-47C1-88B7-E8F226E8C438}" type="presParOf" srcId="{A2FEA9C5-DC29-4041-AC97-F42C99C287B3}" destId="{4DE8E3EA-7C2E-4E45-BDE5-75BBB0ECEC6D}" srcOrd="7" destOrd="0" presId="urn:microsoft.com/office/officeart/2018/2/layout/IconCircleList"/>
    <dgm:cxn modelId="{997D25D4-936E-42EC-86B5-DD1ED56C58C3}" type="presParOf" srcId="{A2FEA9C5-DC29-4041-AC97-F42C99C287B3}" destId="{B567D42F-5D8A-4AF1-82AB-4F579ACBCB19}" srcOrd="8" destOrd="0" presId="urn:microsoft.com/office/officeart/2018/2/layout/IconCircleList"/>
    <dgm:cxn modelId="{A93EF9D9-5744-4575-A037-500AE077E1D5}" type="presParOf" srcId="{B567D42F-5D8A-4AF1-82AB-4F579ACBCB19}" destId="{BBC7010D-9668-4AD4-997F-26E9B4FF79F4}" srcOrd="0" destOrd="0" presId="urn:microsoft.com/office/officeart/2018/2/layout/IconCircleList"/>
    <dgm:cxn modelId="{97A95822-F55A-4765-BB6B-B0E0F1DEE732}" type="presParOf" srcId="{B567D42F-5D8A-4AF1-82AB-4F579ACBCB19}" destId="{FC1D3D6C-BC35-454E-851C-D33FA9C8BF93}" srcOrd="1" destOrd="0" presId="urn:microsoft.com/office/officeart/2018/2/layout/IconCircleList"/>
    <dgm:cxn modelId="{213481A9-0FB7-417F-A8EE-9BDA0C7B322D}" type="presParOf" srcId="{B567D42F-5D8A-4AF1-82AB-4F579ACBCB19}" destId="{203D9198-04A5-4932-99C9-72BC564A87E9}" srcOrd="2" destOrd="0" presId="urn:microsoft.com/office/officeart/2018/2/layout/IconCircleList"/>
    <dgm:cxn modelId="{1B0A13DB-9116-46FB-BB3E-067BA425ABF9}" type="presParOf" srcId="{B567D42F-5D8A-4AF1-82AB-4F579ACBCB19}" destId="{DA18A24B-C7FE-456E-BF99-37A370C64EAC}" srcOrd="3" destOrd="0" presId="urn:microsoft.com/office/officeart/2018/2/layout/IconCircleList"/>
    <dgm:cxn modelId="{D97357AA-5876-484F-971C-503B053C9801}" type="presParOf" srcId="{A2FEA9C5-DC29-4041-AC97-F42C99C287B3}" destId="{801F0A79-1A56-411D-A7B5-E4CB4991B98C}" srcOrd="9" destOrd="0" presId="urn:microsoft.com/office/officeart/2018/2/layout/IconCircleList"/>
    <dgm:cxn modelId="{946FA35D-6726-4C03-83FE-3AB2150820EB}" type="presParOf" srcId="{A2FEA9C5-DC29-4041-AC97-F42C99C287B3}" destId="{3FAEACA5-E399-4772-A2A5-D7923F4ACE2B}" srcOrd="10" destOrd="0" presId="urn:microsoft.com/office/officeart/2018/2/layout/IconCircleList"/>
    <dgm:cxn modelId="{C9FA9E8F-5DE7-49BC-ABDB-2708E64CA0FA}" type="presParOf" srcId="{3FAEACA5-E399-4772-A2A5-D7923F4ACE2B}" destId="{F9C3C75C-920B-4394-A8BE-0D774CB92E6E}" srcOrd="0" destOrd="0" presId="urn:microsoft.com/office/officeart/2018/2/layout/IconCircleList"/>
    <dgm:cxn modelId="{9C34A68C-FB24-4487-8DF2-5C7A5A3E1037}" type="presParOf" srcId="{3FAEACA5-E399-4772-A2A5-D7923F4ACE2B}" destId="{E55E0B1C-5163-4B88-946E-4506913FF48E}" srcOrd="1" destOrd="0" presId="urn:microsoft.com/office/officeart/2018/2/layout/IconCircleList"/>
    <dgm:cxn modelId="{68C96212-DEE8-4B1B-B216-DCBC8339EBEF}" type="presParOf" srcId="{3FAEACA5-E399-4772-A2A5-D7923F4ACE2B}" destId="{A59F91F1-5790-455D-9B48-524C19254BD7}" srcOrd="2" destOrd="0" presId="urn:microsoft.com/office/officeart/2018/2/layout/IconCircleList"/>
    <dgm:cxn modelId="{83C67DCD-BC3F-42B6-AD2C-C49684535893}" type="presParOf" srcId="{3FAEACA5-E399-4772-A2A5-D7923F4ACE2B}" destId="{C9DE5A35-82B8-468E-82BC-4AF04D7F9361}" srcOrd="3" destOrd="0" presId="urn:microsoft.com/office/officeart/2018/2/layout/IconCircleList"/>
    <dgm:cxn modelId="{7744A8E3-0988-45AF-9F90-96245E8B495B}" type="presParOf" srcId="{A2FEA9C5-DC29-4041-AC97-F42C99C287B3}" destId="{038C81C4-9CD6-4A39-9F82-19AD90ED1607}" srcOrd="11" destOrd="0" presId="urn:microsoft.com/office/officeart/2018/2/layout/IconCircleList"/>
    <dgm:cxn modelId="{48FAF799-18F1-45DC-92DA-4FA3E30FB89A}" type="presParOf" srcId="{A2FEA9C5-DC29-4041-AC97-F42C99C287B3}" destId="{CD897811-FEAE-48F4-946D-6653329D7924}" srcOrd="12" destOrd="0" presId="urn:microsoft.com/office/officeart/2018/2/layout/IconCircleList"/>
    <dgm:cxn modelId="{D0C12B1D-E74A-4100-A0AF-DB4A51FF676C}" type="presParOf" srcId="{CD897811-FEAE-48F4-946D-6653329D7924}" destId="{F44E2937-1703-4963-AE33-D61AB4F5A434}" srcOrd="0" destOrd="0" presId="urn:microsoft.com/office/officeart/2018/2/layout/IconCircleList"/>
    <dgm:cxn modelId="{83F76563-F32C-4B92-8470-423D40090336}" type="presParOf" srcId="{CD897811-FEAE-48F4-946D-6653329D7924}" destId="{E7FA4C36-C99C-4A08-AEAE-068F20CC1965}" srcOrd="1" destOrd="0" presId="urn:microsoft.com/office/officeart/2018/2/layout/IconCircleList"/>
    <dgm:cxn modelId="{39C1274E-9938-4660-935D-490E3975EF18}" type="presParOf" srcId="{CD897811-FEAE-48F4-946D-6653329D7924}" destId="{53E89676-55DE-4A05-A50D-F6AA62C7C8BC}" srcOrd="2" destOrd="0" presId="urn:microsoft.com/office/officeart/2018/2/layout/IconCircleList"/>
    <dgm:cxn modelId="{6594AA19-A382-426E-8CDF-77E92CB22873}" type="presParOf" srcId="{CD897811-FEAE-48F4-946D-6653329D7924}" destId="{81D31BC3-7456-4CA4-9B7A-7CCCDFBF1F50}" srcOrd="3" destOrd="0" presId="urn:microsoft.com/office/officeart/2018/2/layout/IconCircleList"/>
    <dgm:cxn modelId="{72279FCE-9F69-4A32-A06E-F6CC0641CF01}" type="presParOf" srcId="{A2FEA9C5-DC29-4041-AC97-F42C99C287B3}" destId="{B4B00BD5-0148-497F-9159-6CEE57023571}" srcOrd="13" destOrd="0" presId="urn:microsoft.com/office/officeart/2018/2/layout/IconCircleList"/>
    <dgm:cxn modelId="{D0CB6F26-62D7-4733-9A30-63D67F6E29E0}" type="presParOf" srcId="{A2FEA9C5-DC29-4041-AC97-F42C99C287B3}" destId="{0AEEABB9-F82C-40CC-A18D-BA946C30FD3F}" srcOrd="14" destOrd="0" presId="urn:microsoft.com/office/officeart/2018/2/layout/IconCircleList"/>
    <dgm:cxn modelId="{7A980550-EAA3-4D72-882E-1AC1593F28C7}" type="presParOf" srcId="{0AEEABB9-F82C-40CC-A18D-BA946C30FD3F}" destId="{9BB8171C-66D1-4EFE-BF9B-8E083F2BEBF8}" srcOrd="0" destOrd="0" presId="urn:microsoft.com/office/officeart/2018/2/layout/IconCircleList"/>
    <dgm:cxn modelId="{5E0E195F-589D-4F09-A9C8-C1C4DBFB33CF}" type="presParOf" srcId="{0AEEABB9-F82C-40CC-A18D-BA946C30FD3F}" destId="{5FD82B9B-71AA-4F9F-8805-C3EFB50B7962}" srcOrd="1" destOrd="0" presId="urn:microsoft.com/office/officeart/2018/2/layout/IconCircleList"/>
    <dgm:cxn modelId="{C2985BD8-2183-41D7-8629-CAFF18F346C5}" type="presParOf" srcId="{0AEEABB9-F82C-40CC-A18D-BA946C30FD3F}" destId="{29ECB3EF-BD8F-4950-BB3E-1ACF506E441B}" srcOrd="2" destOrd="0" presId="urn:microsoft.com/office/officeart/2018/2/layout/IconCircleList"/>
    <dgm:cxn modelId="{D243BAEA-36E5-4FAC-942E-BBD7C0636100}" type="presParOf" srcId="{0AEEABB9-F82C-40CC-A18D-BA946C30FD3F}" destId="{AEC3C3D8-8669-466A-A32A-908985FF4EA9}" srcOrd="3" destOrd="0" presId="urn:microsoft.com/office/officeart/2018/2/layout/IconCircle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E981D9-587F-4B3F-94E3-161FD69B13CA}">
      <dsp:nvSpPr>
        <dsp:cNvPr id="0" name=""/>
        <dsp:cNvSpPr/>
      </dsp:nvSpPr>
      <dsp:spPr>
        <a:xfrm>
          <a:off x="3072" y="160535"/>
          <a:ext cx="573496" cy="57349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F48D1D-ADCD-4430-82BC-088282C94A6E}">
      <dsp:nvSpPr>
        <dsp:cNvPr id="0" name=""/>
        <dsp:cNvSpPr/>
      </dsp:nvSpPr>
      <dsp:spPr>
        <a:xfrm>
          <a:off x="123507" y="280969"/>
          <a:ext cx="332628" cy="3326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6BEF75-3E77-4B81-A9E4-44C58772AEAD}">
      <dsp:nvSpPr>
        <dsp:cNvPr id="0" name=""/>
        <dsp:cNvSpPr/>
      </dsp:nvSpPr>
      <dsp:spPr>
        <a:xfrm>
          <a:off x="699462" y="160535"/>
          <a:ext cx="1351814" cy="573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t>1. Host: prepares the model(s) and deploys the system </a:t>
          </a:r>
        </a:p>
      </dsp:txBody>
      <dsp:txXfrm>
        <a:off x="699462" y="160535"/>
        <a:ext cx="1351814" cy="573496"/>
      </dsp:txXfrm>
    </dsp:sp>
    <dsp:sp modelId="{AE4FA2EC-721E-4967-85E0-3DB6771FFD1D}">
      <dsp:nvSpPr>
        <dsp:cNvPr id="0" name=""/>
        <dsp:cNvSpPr/>
      </dsp:nvSpPr>
      <dsp:spPr>
        <a:xfrm>
          <a:off x="2286819" y="160535"/>
          <a:ext cx="573496" cy="57349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EB6915-C929-47D6-83FD-A733ED2040B3}">
      <dsp:nvSpPr>
        <dsp:cNvPr id="0" name=""/>
        <dsp:cNvSpPr/>
      </dsp:nvSpPr>
      <dsp:spPr>
        <a:xfrm>
          <a:off x="2407253" y="280969"/>
          <a:ext cx="332628" cy="3326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451135-B6E7-450A-8CF6-ED8AFCCC745C}">
      <dsp:nvSpPr>
        <dsp:cNvPr id="0" name=""/>
        <dsp:cNvSpPr/>
      </dsp:nvSpPr>
      <dsp:spPr>
        <a:xfrm>
          <a:off x="2983208" y="160535"/>
          <a:ext cx="1351814" cy="573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t>2. User: send request to the system </a:t>
          </a:r>
        </a:p>
      </dsp:txBody>
      <dsp:txXfrm>
        <a:off x="2983208" y="160535"/>
        <a:ext cx="1351814" cy="573496"/>
      </dsp:txXfrm>
    </dsp:sp>
    <dsp:sp modelId="{0A8AE9ED-E52E-455C-8F96-E7D8AB7B9240}">
      <dsp:nvSpPr>
        <dsp:cNvPr id="0" name=""/>
        <dsp:cNvSpPr/>
      </dsp:nvSpPr>
      <dsp:spPr>
        <a:xfrm>
          <a:off x="4570565" y="160535"/>
          <a:ext cx="573496" cy="57349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117BE3-200B-4714-8034-796CA7597A79}">
      <dsp:nvSpPr>
        <dsp:cNvPr id="0" name=""/>
        <dsp:cNvSpPr/>
      </dsp:nvSpPr>
      <dsp:spPr>
        <a:xfrm>
          <a:off x="4691000" y="280969"/>
          <a:ext cx="332628" cy="3326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D04B6C-6963-4A88-A66A-72B41AB3AA78}">
      <dsp:nvSpPr>
        <dsp:cNvPr id="0" name=""/>
        <dsp:cNvSpPr/>
      </dsp:nvSpPr>
      <dsp:spPr>
        <a:xfrm>
          <a:off x="5266954" y="160535"/>
          <a:ext cx="1351814" cy="573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t>3. </a:t>
          </a:r>
          <a:r>
            <a:rPr lang="en-US" sz="1200" b="1" kern="1200" dirty="0"/>
            <a:t>System</a:t>
          </a:r>
          <a:r>
            <a:rPr lang="en-US" sz="1200" kern="1200" dirty="0"/>
            <a:t>: process the request and invoke the model(s) </a:t>
          </a:r>
        </a:p>
      </dsp:txBody>
      <dsp:txXfrm>
        <a:off x="5266954" y="160535"/>
        <a:ext cx="1351814" cy="573496"/>
      </dsp:txXfrm>
    </dsp:sp>
    <dsp:sp modelId="{A84F6D69-30B9-447D-B9E4-1DAE7015F145}">
      <dsp:nvSpPr>
        <dsp:cNvPr id="0" name=""/>
        <dsp:cNvSpPr/>
      </dsp:nvSpPr>
      <dsp:spPr>
        <a:xfrm>
          <a:off x="3072" y="1329399"/>
          <a:ext cx="573496" cy="57349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8B58C8-F9CD-4298-AD71-E677CD21F762}">
      <dsp:nvSpPr>
        <dsp:cNvPr id="0" name=""/>
        <dsp:cNvSpPr/>
      </dsp:nvSpPr>
      <dsp:spPr>
        <a:xfrm>
          <a:off x="123507" y="1449834"/>
          <a:ext cx="332628" cy="33262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0F2BBB-BFA1-48C5-BC47-E7872E468D9A}">
      <dsp:nvSpPr>
        <dsp:cNvPr id="0" name=""/>
        <dsp:cNvSpPr/>
      </dsp:nvSpPr>
      <dsp:spPr>
        <a:xfrm>
          <a:off x="699462" y="1329399"/>
          <a:ext cx="1351814" cy="573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t>4. Model: interact with rest of the system </a:t>
          </a:r>
        </a:p>
      </dsp:txBody>
      <dsp:txXfrm>
        <a:off x="699462" y="1329399"/>
        <a:ext cx="1351814" cy="573496"/>
      </dsp:txXfrm>
    </dsp:sp>
    <dsp:sp modelId="{BBC7010D-9668-4AD4-997F-26E9B4FF79F4}">
      <dsp:nvSpPr>
        <dsp:cNvPr id="0" name=""/>
        <dsp:cNvSpPr/>
      </dsp:nvSpPr>
      <dsp:spPr>
        <a:xfrm>
          <a:off x="2286819" y="1329399"/>
          <a:ext cx="573496" cy="57349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1D3D6C-BC35-454E-851C-D33FA9C8BF93}">
      <dsp:nvSpPr>
        <dsp:cNvPr id="0" name=""/>
        <dsp:cNvSpPr/>
      </dsp:nvSpPr>
      <dsp:spPr>
        <a:xfrm>
          <a:off x="2407253" y="1449834"/>
          <a:ext cx="332628" cy="33262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18A24B-C7FE-456E-BF99-37A370C64EAC}">
      <dsp:nvSpPr>
        <dsp:cNvPr id="0" name=""/>
        <dsp:cNvSpPr/>
      </dsp:nvSpPr>
      <dsp:spPr>
        <a:xfrm>
          <a:off x="2983208" y="1329399"/>
          <a:ext cx="1351814" cy="573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t>5. </a:t>
          </a:r>
          <a:r>
            <a:rPr lang="en-US" sz="1200" b="1" kern="1200" dirty="0"/>
            <a:t>System</a:t>
          </a:r>
          <a:r>
            <a:rPr lang="en-US" sz="1200" kern="1200" dirty="0"/>
            <a:t>: interact with the External World </a:t>
          </a:r>
        </a:p>
      </dsp:txBody>
      <dsp:txXfrm>
        <a:off x="2983208" y="1329399"/>
        <a:ext cx="1351814" cy="573496"/>
      </dsp:txXfrm>
    </dsp:sp>
    <dsp:sp modelId="{F9C3C75C-920B-4394-A8BE-0D774CB92E6E}">
      <dsp:nvSpPr>
        <dsp:cNvPr id="0" name=""/>
        <dsp:cNvSpPr/>
      </dsp:nvSpPr>
      <dsp:spPr>
        <a:xfrm>
          <a:off x="4570565" y="1329399"/>
          <a:ext cx="573496" cy="57349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5E0B1C-5163-4B88-946E-4506913FF48E}">
      <dsp:nvSpPr>
        <dsp:cNvPr id="0" name=""/>
        <dsp:cNvSpPr/>
      </dsp:nvSpPr>
      <dsp:spPr>
        <a:xfrm>
          <a:off x="4691000" y="1449834"/>
          <a:ext cx="332628" cy="33262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DE5A35-82B8-468E-82BC-4AF04D7F9361}">
      <dsp:nvSpPr>
        <dsp:cNvPr id="0" name=""/>
        <dsp:cNvSpPr/>
      </dsp:nvSpPr>
      <dsp:spPr>
        <a:xfrm>
          <a:off x="5266954" y="1329399"/>
          <a:ext cx="1351814" cy="573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t>6. </a:t>
          </a:r>
          <a:r>
            <a:rPr lang="en-US" sz="1200" b="1" kern="1200" dirty="0"/>
            <a:t>System</a:t>
          </a:r>
          <a:r>
            <a:rPr lang="en-US" sz="1200" kern="1200" dirty="0"/>
            <a:t>: respond to User </a:t>
          </a:r>
        </a:p>
      </dsp:txBody>
      <dsp:txXfrm>
        <a:off x="5266954" y="1329399"/>
        <a:ext cx="1351814" cy="573496"/>
      </dsp:txXfrm>
    </dsp:sp>
    <dsp:sp modelId="{F44E2937-1703-4963-AE33-D61AB4F5A434}">
      <dsp:nvSpPr>
        <dsp:cNvPr id="0" name=""/>
        <dsp:cNvSpPr/>
      </dsp:nvSpPr>
      <dsp:spPr>
        <a:xfrm>
          <a:off x="3072" y="2728775"/>
          <a:ext cx="573496" cy="57349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FA4C36-C99C-4A08-AEAE-068F20CC1965}">
      <dsp:nvSpPr>
        <dsp:cNvPr id="0" name=""/>
        <dsp:cNvSpPr/>
      </dsp:nvSpPr>
      <dsp:spPr>
        <a:xfrm>
          <a:off x="123507" y="2849209"/>
          <a:ext cx="332628" cy="332628"/>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D31BC3-7456-4CA4-9B7A-7CCCDFBF1F50}">
      <dsp:nvSpPr>
        <dsp:cNvPr id="0" name=""/>
        <dsp:cNvSpPr/>
      </dsp:nvSpPr>
      <dsp:spPr>
        <a:xfrm>
          <a:off x="699462" y="2728775"/>
          <a:ext cx="1351814" cy="573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u="sng" kern="1200" dirty="0"/>
            <a:t>7</a:t>
          </a:r>
          <a:r>
            <a:rPr lang="en-US" sz="1200" b="1" u="sng" kern="1200" dirty="0"/>
            <a:t>. System: </a:t>
          </a:r>
          <a:r>
            <a:rPr lang="en-US" sz="1200" u="sng" kern="1200" dirty="0"/>
            <a:t>continuously running for long-term tasks </a:t>
          </a:r>
          <a:endParaRPr lang="en-US" sz="1200" kern="1200" dirty="0"/>
        </a:p>
      </dsp:txBody>
      <dsp:txXfrm>
        <a:off x="699462" y="2728775"/>
        <a:ext cx="1351814" cy="573496"/>
      </dsp:txXfrm>
    </dsp:sp>
    <dsp:sp modelId="{9BB8171C-66D1-4EFE-BF9B-8E083F2BEBF8}">
      <dsp:nvSpPr>
        <dsp:cNvPr id="0" name=""/>
        <dsp:cNvSpPr/>
      </dsp:nvSpPr>
      <dsp:spPr>
        <a:xfrm>
          <a:off x="2286819" y="2728775"/>
          <a:ext cx="573496" cy="57349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D82B9B-71AA-4F9F-8805-C3EFB50B7962}">
      <dsp:nvSpPr>
        <dsp:cNvPr id="0" name=""/>
        <dsp:cNvSpPr/>
      </dsp:nvSpPr>
      <dsp:spPr>
        <a:xfrm>
          <a:off x="2407253" y="2849209"/>
          <a:ext cx="332628" cy="332628"/>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C3C3D8-8669-466A-A32A-908985FF4EA9}">
      <dsp:nvSpPr>
        <dsp:cNvPr id="0" name=""/>
        <dsp:cNvSpPr/>
      </dsp:nvSpPr>
      <dsp:spPr>
        <a:xfrm>
          <a:off x="2961221" y="2478443"/>
          <a:ext cx="2743601" cy="1034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solidFill>
                <a:srgbClr val="FF0000"/>
              </a:solidFill>
            </a:rPr>
            <a:t>Ahead: </a:t>
          </a:r>
          <a:r>
            <a:rPr lang="en-US" sz="1200" kern="1200" dirty="0"/>
            <a:t>A hybrid/agent system sometimes also interacts with another hybrid system, forming multi-LLM/multi-agent communications</a:t>
          </a:r>
        </a:p>
      </dsp:txBody>
      <dsp:txXfrm>
        <a:off x="2961221" y="2478443"/>
        <a:ext cx="2743601" cy="1034519"/>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07:41:30.396"/>
    </inkml:context>
    <inkml:brush xml:id="br0">
      <inkml:brushProperty name="width" value="0.035" units="cm"/>
      <inkml:brushProperty name="height" value="0.035" units="cm"/>
      <inkml:brushProperty name="color" value="#E71224"/>
    </inkml:brush>
  </inkml:definitions>
  <inkml:trace contextRef="#ctx0" brushRef="#br0">1019 173 24575,'-13'0'0,"4"0"0,-4 0 0,6 0 0,-7 0 0,-20 4 0,14-4 0,-25 3 0,22-3 0,-41 7 0,34-3 0,-53 7 0,67-7 0,-51 10 0,57-9 0,-37 18 0,39-17 0,-28 13 0,29-15 0,-22 13 0,23-12 0,-20 14 0,19-14 0,-18 12 0,19-9 0,-24 8 0,20-11 0,-23 17 0,26-12 0,-28 20 0,24-20 0,-22 18 0,23-22 0,-18 26 0,21-21 0,-19 24 0,20-25 0,-13 16 0,17-17 0,-14 17 0,11-16 0,-12 22 0,12-22 0,-14 16 0,16-18 0,-12 27 0,13-23 0,-11 29 0,12-31 0,-9 16 0,9-17 0,-5 7 0,5-8 0,-2 8 0,3-7 0,3 10 0,1-10 0,6 17 0,-5-13 0,4 14 0,-8-15 0,8 4 0,-7-8 0,10 8 0,-7-7 0,5 4 0,-6-6 0,9 9 0,-8-6 0,15 9 0,-15-11 0,23 8 0,-20-10 0,21 6 0,-24-8 0,17 0 0,-15 2 0,12 1 0,-11-2 0,11 5 0,-9-10 0,19 7 0,-19-7 0,28 3 0,-26-3 0,29 0 0,-30 0 0,21 0 0,-23 0 0,23 4 0,-21-4 0,21 3 0,-22-3 0,22 4 0,-18-4 0,28 3 0,-27-3 0,23 4 0,-25-4 0,17 3 0,-17-3 0,22 4 0,-17-4 0,15 4 0,-18-4 0,11-4 0,-16 4 0,19-4 0,-20 4 0,30 0 0,-27 0 0,33 0 0,-31 0 0,35-3 0,-33 2 0,25-5 0,-28 5 0,10-11 0,-14 6 0,16-7 0,-18 2 0,19 6 0,-18-1 0,27 3 0,-25-1 0,30-10 0,-29 9 0,21-11 0,-15 14 0,3-4 0,-10 6 0,7-6 0,-5 4 0,18-17 0,-17 13 0,23-11 0,-25 10 0,30-10 0,-29 11 0,29-16 0,-30 19 0,21-16 0,-23 17 0,30-17 0,-27 13 0,27-10 0,-33 8 0,16-6 0,-17 10 0,15-9 0,-15 8 0,14-12 0,-14 9 0,18-18 0,-14 15 0,30-15 0,-30 14 0,32-8 0,-31 11 0,16-13 0,-14 15 0,5-13 0,-10 13 0,7-16 0,-10 12 0,12-21 0,-14 21 0,14-27 0,-15 26 0,15-30 0,-11 30 0,9-20 0,-10 22 0,2-25 0,-5 23 0,2-21 0,-3 25 0,0-15 0,0 13 0,0-19 0,0 18 0,-4-18 0,4 20 0,-7-14 0,7 14 0,-7-11 0,3 14 0,-6-16 0,2 16 0,-9-17 0,9 17 0,-9-10 0,9 12 0,-9-13 0,5 8 0,-8-7 0,8 11 0,-11-8 0,13 8 0,-22-5 0,21 3 0,-31-3 0,30 5 0,-40-14 0,39 16 0,-32-13 0,31 15 0,-22-5 0,21 5 0,-8-2 0,16 3 0,0-3 0,0 2 0,0-2 0,0 3 0,-4 0 0,3 0 0,-8 0 0,7 0 0,-11 6 0,11-5 0,-7 9 0,8-9 0,-2 2 0,2 0 0,-8 1 0,9 3 0,-15-3 0,13 2 0,-8-2 0,6 0 0,-6 5 0,9-7 0,-15 10 0,13-10 0,-32 16 0,25-11 0,-26 12 0,31-11 0,-24 5 0,24-8 0,-23 10 0,25-12 0,-13 12 0,14-13 0,-4 7 0,6-8 0,-4 2 0,3-3 0,-8 3 0,7 1 0,-4 0 0,5-1 0,1 0 0,0-2 0,0 2 0,0 0 0,0-2 0,0 2 0,-4 0 0,0-2 0,-3 8 0,3-7 0,0 4 0,4-6 0,0 0 0,3 0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07:41:33.265"/>
    </inkml:context>
    <inkml:brush xml:id="br0">
      <inkml:brushProperty name="width" value="0.035" units="cm"/>
      <inkml:brushProperty name="height" value="0.035" units="cm"/>
      <inkml:brushProperty name="color" value="#E71224"/>
    </inkml:brush>
  </inkml:definitions>
  <inkml:trace contextRef="#ctx0" brushRef="#br0">1037 1 24575,'11'6'0,"-1"-5"0,0 9 0,1-6 0,0 3 0,15 9 0,-15-3 0,46 19 0,-41-18-8503,41 18 8503,-46-22 497,33 25-497,-28-23 0,44 27 0,-45-26 0,37 15 0,-41-20-558,28 17 558,-25-21 0,18 24 0,-20-22 0,15 17 0,-15-17-34,17 12 34,-18-12 5886,21 13-5886,-22-13 0,19 12 0,-20-15 1740,17 15-1740,-20-12 914,19 7-914,-22-6 0,16 10 0,-12-8 0,17 10 0,-11-14 0,19 17 0,-22-18 58,31 28-58,-31-25 0,33 20 0,-38-19 0,23 15 0,-19-17 0,5 19 0,-4-19 0,6 23 0,-6-19 0,9 16 0,-14-17 0,4 7 0,-8-8 0,5 2 0,-5 0 0,5-2 0,-2-1 0,9 18 0,-7-16 0,12 29 0,-15-28 0,12 28 0,-10-26 0,5 26 0,-3-31 0,-3 28 0,-1-27 0,-3 20 0,0-19 0,0 11 0,0-12 0,0 8 0,0-8 0,0 2 0,0-3 0,0 0 0,0 0 0,-9 7 0,3-9 0,-11 8 0,10-9 0,-7 3 0,6-4 0,-15 13 0,13-13 0,-23 19 0,23-20 0,-19 8 0,16-7 0,-20 10 0,18-4 0,-14 8 0,20-13 0,-7-1 0,8 0 0,-3-2 0,4 2 0,-3-3 0,2 0 0,-15 0 0,16 3 0,-44-5 0,39 4 0,-52-12 0,50 9 0,-37-12 0,39 12 0,-42-9 0,43 6 0,-45-3 0,46 3 0,-47-2 0,39 2 0,-46-7 0,43 7 0,-50-9 0,52 8 0,-48-8 0,50 8 0,-39-11 0,41 10 0,-28-7 0,33 9 0,-22-9 0,21 11 0,-24-17 0,24 17 0,-35-18 0,37 12 0,-44-13 0,42 12 0,-40-13 0,43 16 0,-34-14 0,31 15 0,-22-14 0,17 13 0,-17-17 0,19 14 0,-22-11 0,26 8 0,-26-2 0,25 4 0,-28-10 0,28 13 0,-43-23 0,39 26 0,-30-20 0,37 22 0,-22-17 0,22 13 0,-30-17 0,30 17 0,-27-23 0,27 22 0,-23-25 0,24 21 0,-16-15 0,15 17 0,-12-17 0,10 16 0,-13-23 0,11 20 0,-5-17 0,9 17 0,-8-20 0,11 26 0,-15-38 0,14 32 0,-7-20 0,10 25 0,-5-8 0,1 8 0,3-7 0,1 5 0,3-3 0,0 4 0,0-14 0,0 10 0,0-8 0,0 10 0,-3-8 0,2 9 0,-2-16 0,6 13 0,1-11 0,0 12 0,5-7 0,-7 10 0,4-8 0,-6 9 0,6-5 0,-1 5 0,5 1 0,-3 0 0,3-3 0,-5 1 0,4-1 0,-5 4 0,3 5 0,0-2 0,0 0 0,0 2 0,0-2 0,0 3 0,0 0 0,0 0 0,0 0 0,0 0 0,3 0 0,-2 0 0,12-4 0,-11 4 0,14-4 0,-15 4 0,15 0 0,-11 0 0,12 0 0,-12 0 0,7 0 0,-7 0 0,18 0 0,-16 0 0,21 0 0,-25 4 0,19-4 0,-20 3 0,14-3 0,-15 0 0,12 0 0,-8 0 0,17 7 0,-15-6 0,21 6 0,-25-7 0,22 3 0,-22-3 0,22 7 0,-22-7 0,16 7 0,-18-3 0,18-1 0,-16 1 0,22-1 0,-18-3 0,18 10 0,-18-5 0,30 5 0,-33-3 0,36-3 0,-40 2 0,26-5 0,-24 2 0,4 0 0,-7-2 0,-5 2 0,2-3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6T07:41:36.416"/>
    </inkml:context>
    <inkml:brush xml:id="br0">
      <inkml:brushProperty name="width" value="0.035" units="cm"/>
      <inkml:brushProperty name="height" value="0.035" units="cm"/>
      <inkml:brushProperty name="color" value="#E71224"/>
    </inkml:brush>
  </inkml:definitions>
  <inkml:trace contextRef="#ctx0" brushRef="#br0">200 15 24575,'-10'0'0,"-1"0"0,0 3 0,0 1 0,-2 6 0,1 1 0,1 0 0,-18 18 0,24-18 0,-21 21 0,26-23 0,-7 13 0,3-15 0,-3 18 0,3-19 0,-5 23 0,7-19 0,-7 19 0,5-20 0,-4 20 0,4-16 0,1 14 0,3-15 0,0 13 0,0-14 0,0 14 0,0-13 0,0 11 0,0-7 0,0 14 0,3-20 0,-2 28 0,2-30 0,0 40 0,-2-32 0,5 23 0,-5-27 0,5 14 0,-2-13 0,7 19 0,-4-21 0,3 24 0,-3-31 0,0 30 0,1-29 0,-1 23 0,0-22 0,0 16 0,-4-12 0,4 3 0,-7-7 0,7-2 0,-3 3 0,3 6 0,0-7 0,6 25 0,-5-23 0,15 40 0,-14-38 0,17 43 0,-16-40 0,12 39 0,-13-37 0,1 10 0,2-11 0,3 19 0,1-13 0,6 15 0,-16-27 0,10 8 0,-15-7 0,12 1 0,-9-7 0,6-3 0,-3 3 0,0 4 0,-3 1 0,9-1 0,-11-1 0,17-5 0,-14 2 0,12 0 0,-9-2 0,11 5 0,-10-5 0,23 2 0,-21 0 0,28 1 0,-28 0 0,33 2 0,-31-5 0,28 2 0,-28-3 0,17 0 0,-17 0 0,6-3 0,-11 2 0,2-2 0,-3 3 0,3-3 0,-2-1 0,5 0 0,-5-6 0,5-1 0,-5 3 0,12-8 0,-14 11 0,13-8 0,-15 8 0,19-11 0,-13 14 0,13-14 0,-15 14 0,14-20 0,-12 18 0,16-21 0,-20 19 0,9-17 0,-10 17 0,8-20 0,-5 23 0,2-16 0,-6 14 0,2-11 0,-5 13 0,5-18 0,-5 18 0,2-27 0,-3 20 0,0-19 0,0 19 0,0-16 0,0 16 0,0-19 0,0 19 0,0-29 0,0 27 0,0-33 0,0 33 0,0-24 0,0 27 0,0-21 0,0 20 0,0-23 0,0 23 0,0-19 0,0 19 0,-6-13 0,4 14 0,-10-10 0,10 10 0,-7-14 0,1 17 0,-6-23 0,2 22 0,-4-22 0,8 19 0,-12-13 0,10 17 0,-16-13 0,17 14 0,-14-12 0,14 9 0,-11-12 0,11 14 0,-17-22 0,16 20 0,-19-15 0,19 19 0,-19-15 0,18 15 0,-18-18 0,19 20 0,-16-20 0,17 18 0,-17-15 0,16 15 0,-10-13 0,12 11 0,-15-9 0,16 10 0,-21-5 0,24 2 0,-24-5 0,24 1 0,-15 1 0,12 5 0,-4 2 0,3 0 0,-11-6 0,15 2 0,-18-2 0,14 6 0,-16-6 0,14 6 0,-15-10 0,19 6 0,-14-5 0,12 8 0,-12-1 0,14 2 0,-17-3 0,21-1 0,-17-2 0,17 3 0,-11 3 0,12-2 0,-5 5 0,2-2 0,-3 3 0,-1 0 0,5 0 0,-1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50C006-6277-3D45-8B77-C16CE7D59F23}" type="datetimeFigureOut">
              <a:rPr kumimoji="1" lang="zh-CN" altLang="en-US" smtClean="0"/>
              <a:t>2026/3/17</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005BC0-016E-1C46-B64E-FF4E2F4D80A0}"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kumimoji="1" lang="zh-CN" altLang="en-US" dirty="0"/>
              <a:t>很开心</a:t>
            </a:r>
            <a:r>
              <a:rPr kumimoji="1" lang="en-US" altLang="zh-CN" dirty="0"/>
              <a:t>great honor</a:t>
            </a:r>
          </a:p>
          <a:p>
            <a:pPr marL="228600" indent="-228600">
              <a:buAutoNum type="arabicPeriod"/>
            </a:pPr>
            <a:endParaRPr kumimoji="1" lang="en-US" altLang="zh-CN" dirty="0"/>
          </a:p>
          <a:p>
            <a:pPr marL="228600" indent="-228600">
              <a:buAutoNum type="arabicPeriod"/>
            </a:pPr>
            <a:r>
              <a:rPr kumimoji="1" lang="zh-CN" altLang="en-US" dirty="0"/>
              <a:t>介绍自己</a:t>
            </a:r>
            <a:endParaRPr kumimoji="1" lang="en-US" altLang="zh-CN" dirty="0"/>
          </a:p>
          <a:p>
            <a:pPr marL="228600" indent="-228600">
              <a:buAutoNum type="arabicPeriod"/>
            </a:pPr>
            <a:endParaRPr kumimoji="1" lang="en-US" altLang="zh-CN" dirty="0"/>
          </a:p>
          <a:p>
            <a:pPr marL="228600" indent="-228600">
              <a:buAutoNum type="arabicPeriod"/>
            </a:pPr>
            <a:r>
              <a:rPr kumimoji="1" lang="zh-CN" altLang="en-US" dirty="0"/>
              <a:t>在这一个小时内，我不会介绍非常详细的算法细节（</a:t>
            </a:r>
            <a:r>
              <a:rPr lang="en-US" altLang="zh-CN" sz="1200" b="0" i="0" u="none" strike="noStrike" kern="1200" dirty="0">
                <a:solidFill>
                  <a:schemeClr val="tx1"/>
                </a:solidFill>
                <a:effectLst/>
                <a:latin typeface="+mn-lt"/>
                <a:ea typeface="+mn-ea"/>
                <a:cs typeface="+mn-cs"/>
              </a:rPr>
              <a:t>won‘t introduce very detailed algorithm details</a:t>
            </a:r>
            <a:r>
              <a:rPr kumimoji="1" lang="zh-CN" altLang="en-US" dirty="0"/>
              <a:t>），我希望可以快速带大家了解一下</a:t>
            </a:r>
            <a:r>
              <a:rPr kumimoji="1" lang="en-US" altLang="zh-CN" dirty="0"/>
              <a:t>Agent</a:t>
            </a:r>
            <a:r>
              <a:rPr kumimoji="1" lang="zh-CN" altLang="en-US" dirty="0"/>
              <a:t>领域在做些什么，并且如何让你们能快速上手。如果对某个技术很感兴趣，我也列出了</a:t>
            </a:r>
            <a:r>
              <a:rPr kumimoji="1" lang="en-US" altLang="zh-CN" dirty="0"/>
              <a:t>references</a:t>
            </a:r>
            <a:r>
              <a:rPr kumimoji="1" lang="zh-CN" altLang="en-US" dirty="0"/>
              <a:t>，在那里你会得到更多的信息。</a:t>
            </a:r>
            <a:r>
              <a:rPr kumimoji="1" lang="zh-CN" altLang="en-US" sz="1200" b="0" i="0" u="none" strike="noStrike" kern="1200" dirty="0">
                <a:solidFill>
                  <a:schemeClr val="tx1"/>
                </a:solidFill>
                <a:effectLst/>
                <a:latin typeface="+mn-lt"/>
                <a:ea typeface="+mn-ea"/>
                <a:cs typeface="+mn-cs"/>
              </a:rPr>
              <a:t> </a:t>
            </a:r>
            <a:r>
              <a:rPr lang="en-US" altLang="zh-CN" sz="1200" b="0" i="0" u="none" strike="noStrike" kern="1200" dirty="0">
                <a:solidFill>
                  <a:schemeClr val="tx1"/>
                </a:solidFill>
                <a:effectLst/>
                <a:latin typeface="+mn-lt"/>
                <a:ea typeface="+mn-ea"/>
                <a:cs typeface="+mn-cs"/>
              </a:rPr>
              <a:t>I hope to quickly take you through what is being done in the Agent field and how to help you get started quickly. If you are very interested in a certain technology, I have also listed references, where you will get more information. </a:t>
            </a:r>
            <a:endParaRPr kumimoji="1" lang="en-US" altLang="zh-CN" dirty="0"/>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1</a:t>
            </a:fld>
            <a:endParaRPr kumimoji="1" lang="zh-CN" altLang="en-US"/>
          </a:p>
        </p:txBody>
      </p:sp>
    </p:spTree>
    <p:extLst>
      <p:ext uri="{BB962C8B-B14F-4D97-AF65-F5344CB8AC3E}">
        <p14:creationId xmlns:p14="http://schemas.microsoft.com/office/powerpoint/2010/main" val="4277803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2</a:t>
            </a:fld>
            <a:endParaRPr kumimoji="1" lang="zh-CN" altLang="en-US"/>
          </a:p>
        </p:txBody>
      </p:sp>
    </p:spTree>
    <p:extLst>
      <p:ext uri="{BB962C8B-B14F-4D97-AF65-F5344CB8AC3E}">
        <p14:creationId xmlns:p14="http://schemas.microsoft.com/office/powerpoint/2010/main" val="3473808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F4CFD-304F-EE5B-8787-6214DA587E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D7671C-6900-6EAB-EF0C-26B450435C6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4ADDB63-27EF-5FD8-8B2A-F00A1401D921}"/>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E8F939E9-7FB3-5560-372B-BD699EEB5137}"/>
              </a:ext>
            </a:extLst>
          </p:cNvPr>
          <p:cNvSpPr>
            <a:spLocks noGrp="1"/>
          </p:cNvSpPr>
          <p:nvPr>
            <p:ph type="sldNum" sz="quarter" idx="5"/>
          </p:nvPr>
        </p:nvSpPr>
        <p:spPr/>
        <p:txBody>
          <a:bodyPr/>
          <a:lstStyle/>
          <a:p>
            <a:fld id="{04005BC0-016E-1C46-B64E-FF4E2F4D80A0}" type="slidenum">
              <a:rPr kumimoji="1" lang="zh-CN" altLang="en-US" smtClean="0"/>
              <a:t>3</a:t>
            </a:fld>
            <a:endParaRPr kumimoji="1" lang="zh-CN" altLang="en-US"/>
          </a:p>
        </p:txBody>
      </p:sp>
    </p:spTree>
    <p:extLst>
      <p:ext uri="{BB962C8B-B14F-4D97-AF65-F5344CB8AC3E}">
        <p14:creationId xmlns:p14="http://schemas.microsoft.com/office/powerpoint/2010/main" val="2003916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kern="1200" dirty="0">
                <a:solidFill>
                  <a:schemeClr val="tx1"/>
                </a:solidFill>
                <a:effectLst/>
                <a:latin typeface="+mn-lt"/>
                <a:ea typeface="+mn-ea"/>
                <a:cs typeface="+mn-cs"/>
              </a:rPr>
              <a:t>Scaffold on top of LLMs (</a:t>
            </a:r>
            <a:r>
              <a:rPr lang="zh-CN" altLang="en-US" sz="1200" b="1" kern="1200" dirty="0">
                <a:solidFill>
                  <a:schemeClr val="tx1"/>
                </a:solidFill>
                <a:effectLst/>
                <a:latin typeface="+mn-lt"/>
                <a:ea typeface="+mn-ea"/>
                <a:cs typeface="+mn-cs"/>
              </a:rPr>
              <a:t>搭建脚手架</a:t>
            </a:r>
            <a:r>
              <a:rPr lang="en-US" altLang="zh-CN" sz="1200" b="1" kern="1200" dirty="0">
                <a:solidFill>
                  <a:schemeClr val="tx1"/>
                </a:solidFill>
                <a:effectLst/>
                <a:latin typeface="+mn-lt"/>
                <a:ea typeface="+mn-ea"/>
                <a:cs typeface="+mn-cs"/>
              </a:rPr>
              <a:t>)</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写一堆外围代码（比如用 </a:t>
            </a:r>
            <a:r>
              <a:rPr lang="en-US" altLang="zh-CN" sz="1200" kern="1200" dirty="0" err="1">
                <a:solidFill>
                  <a:schemeClr val="tx1"/>
                </a:solidFill>
                <a:effectLst/>
                <a:latin typeface="+mn-lt"/>
                <a:ea typeface="+mn-ea"/>
                <a:cs typeface="+mn-cs"/>
              </a:rPr>
              <a:t>LangChain</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这类框架）把大模型包装起来。</a:t>
            </a:r>
          </a:p>
          <a:p>
            <a:r>
              <a:rPr lang="en-US" altLang="zh-CN" sz="1200" b="1" kern="1200" dirty="0">
                <a:solidFill>
                  <a:schemeClr val="tx1"/>
                </a:solidFill>
                <a:effectLst/>
                <a:latin typeface="+mn-lt"/>
                <a:ea typeface="+mn-ea"/>
                <a:cs typeface="+mn-cs"/>
              </a:rPr>
              <a:t>Prompting-focused (</a:t>
            </a:r>
            <a:r>
              <a:rPr lang="zh-CN" altLang="en-US" sz="1200" b="1" kern="1200" dirty="0">
                <a:solidFill>
                  <a:schemeClr val="tx1"/>
                </a:solidFill>
                <a:effectLst/>
                <a:latin typeface="+mn-lt"/>
                <a:ea typeface="+mn-ea"/>
                <a:cs typeface="+mn-cs"/>
              </a:rPr>
              <a:t>重度依赖提示词</a:t>
            </a:r>
            <a:r>
              <a:rPr lang="en-US" altLang="zh-CN" sz="1200" b="1" kern="1200" dirty="0">
                <a:solidFill>
                  <a:schemeClr val="tx1"/>
                </a:solidFill>
                <a:effectLst/>
                <a:latin typeface="+mn-lt"/>
                <a:ea typeface="+mn-ea"/>
                <a:cs typeface="+mn-cs"/>
              </a:rPr>
              <a:t>)</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靠写各种极其复杂的 </a:t>
            </a:r>
            <a:r>
              <a:rPr lang="en-US" altLang="zh-CN" sz="1200" kern="1200" dirty="0">
                <a:solidFill>
                  <a:schemeClr val="tx1"/>
                </a:solidFill>
                <a:effectLst/>
                <a:latin typeface="+mn-lt"/>
                <a:ea typeface="+mn-ea"/>
                <a:cs typeface="+mn-cs"/>
              </a:rPr>
              <a:t>Prompt </a:t>
            </a:r>
            <a:r>
              <a:rPr lang="zh-CN" altLang="en-US" sz="1200" kern="1200" dirty="0">
                <a:solidFill>
                  <a:schemeClr val="tx1"/>
                </a:solidFill>
                <a:effectLst/>
                <a:latin typeface="+mn-lt"/>
                <a:ea typeface="+mn-ea"/>
                <a:cs typeface="+mn-cs"/>
              </a:rPr>
              <a:t>来逼迫大模型按照特定格式输出。</a:t>
            </a:r>
          </a:p>
          <a:p>
            <a:r>
              <a:rPr lang="en-US" altLang="zh-CN" sz="1200" b="1" kern="1200" dirty="0">
                <a:solidFill>
                  <a:schemeClr val="tx1"/>
                </a:solidFill>
                <a:effectLst/>
                <a:latin typeface="+mn-lt"/>
                <a:ea typeface="+mn-ea"/>
                <a:cs typeface="+mn-cs"/>
              </a:rPr>
              <a:t>Heavy on engineering (</a:t>
            </a:r>
            <a:r>
              <a:rPr lang="zh-CN" altLang="en-US" sz="1200" b="1" kern="1200" dirty="0">
                <a:solidFill>
                  <a:schemeClr val="tx1"/>
                </a:solidFill>
                <a:effectLst/>
                <a:latin typeface="+mn-lt"/>
                <a:ea typeface="+mn-ea"/>
                <a:cs typeface="+mn-cs"/>
              </a:rPr>
              <a:t>重工程</a:t>
            </a:r>
            <a:r>
              <a:rPr lang="en-US" altLang="zh-CN" sz="1200" b="1" kern="1200" dirty="0">
                <a:solidFill>
                  <a:schemeClr val="tx1"/>
                </a:solidFill>
                <a:effectLst/>
                <a:latin typeface="+mn-lt"/>
                <a:ea typeface="+mn-ea"/>
                <a:cs typeface="+mn-cs"/>
              </a:rPr>
              <a:t>)</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遇到问题就加 </a:t>
            </a:r>
            <a:r>
              <a:rPr lang="en-US" altLang="zh-CN" sz="1200" kern="1200" dirty="0">
                <a:solidFill>
                  <a:schemeClr val="tx1"/>
                </a:solidFill>
                <a:effectLst/>
                <a:latin typeface="+mn-lt"/>
                <a:ea typeface="+mn-ea"/>
                <a:cs typeface="+mn-cs"/>
              </a:rPr>
              <a:t>if-else </a:t>
            </a:r>
            <a:r>
              <a:rPr lang="zh-CN" altLang="en-US" sz="1200" kern="1200" dirty="0">
                <a:solidFill>
                  <a:schemeClr val="tx1"/>
                </a:solidFill>
                <a:effectLst/>
                <a:latin typeface="+mn-lt"/>
                <a:ea typeface="+mn-ea"/>
                <a:cs typeface="+mn-cs"/>
              </a:rPr>
              <a:t>代码，本质上是一种偏工程 </a:t>
            </a:r>
            <a:r>
              <a:rPr lang="en-US" altLang="zh-CN" sz="1200" kern="1200" dirty="0">
                <a:solidFill>
                  <a:schemeClr val="tx1"/>
                </a:solidFill>
                <a:effectLst/>
                <a:latin typeface="+mn-lt"/>
                <a:ea typeface="+mn-ea"/>
                <a:cs typeface="+mn-cs"/>
              </a:rPr>
              <a:t>Hack </a:t>
            </a:r>
            <a:r>
              <a:rPr lang="zh-CN" altLang="en-US" sz="1200" kern="1200" dirty="0">
                <a:solidFill>
                  <a:schemeClr val="tx1"/>
                </a:solidFill>
                <a:effectLst/>
                <a:latin typeface="+mn-lt"/>
                <a:ea typeface="+mn-ea"/>
                <a:cs typeface="+mn-cs"/>
              </a:rPr>
              <a:t>的打法。</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边界情况 </a:t>
            </a:r>
            <a:r>
              <a:rPr lang="en-US" altLang="zh-CN" sz="1200" kern="1200" dirty="0">
                <a:solidFill>
                  <a:schemeClr val="tx1"/>
                </a:solidFill>
                <a:effectLst/>
                <a:latin typeface="+mn-lt"/>
                <a:ea typeface="+mn-ea"/>
                <a:cs typeface="+mn-cs"/>
              </a:rPr>
              <a:t>boundary</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situation</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cases</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t>
            </a:r>
            <a:endParaRPr lang="zh-CN" altLang="en-US" sz="1200" kern="1200" dirty="0">
              <a:solidFill>
                <a:schemeClr val="tx1"/>
              </a:solidFill>
              <a:effectLst/>
              <a:latin typeface="+mn-lt"/>
              <a:ea typeface="+mn-ea"/>
              <a:cs typeface="+mn-cs"/>
            </a:endParaRPr>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tx1"/>
                </a:solidFill>
                <a:effectLst/>
                <a:latin typeface="+mn-lt"/>
                <a:ea typeface="+mn-ea"/>
                <a:cs typeface="+mn-cs"/>
              </a:rPr>
              <a:t>Agent </a:t>
            </a:r>
            <a:r>
              <a:rPr lang="zh-CN" altLang="en-US" sz="1200" b="1" kern="1200" dirty="0">
                <a:solidFill>
                  <a:schemeClr val="tx1"/>
                </a:solidFill>
                <a:effectLst/>
                <a:latin typeface="+mn-lt"/>
                <a:ea typeface="+mn-ea"/>
                <a:cs typeface="+mn-cs"/>
              </a:rPr>
              <a:t>体系自古就有</a:t>
            </a:r>
            <a:r>
              <a:rPr lang="zh-CN" altLang="en-US" sz="1200" kern="1200" dirty="0">
                <a:solidFill>
                  <a:schemeClr val="tx1"/>
                </a:solidFill>
                <a:effectLst/>
                <a:latin typeface="+mn-lt"/>
                <a:ea typeface="+mn-ea"/>
                <a:cs typeface="+mn-cs"/>
              </a:rPr>
              <a:t>（右上角那个传统的经典控制图就是证明），经典问题依然存在（感知、推理、世界模型、规划）。</a:t>
            </a:r>
            <a:endParaRPr lang="en-US" altLang="zh-CN" sz="1200" kern="1200" dirty="0">
              <a:solidFill>
                <a:schemeClr val="tx1"/>
              </a:solidFill>
              <a:effectLst/>
              <a:latin typeface="+mn-lt"/>
              <a:ea typeface="+mn-ea"/>
              <a:cs typeface="+mn-cs"/>
            </a:endParaRPr>
          </a:p>
          <a:p>
            <a:pPr marL="171450" indent="-171450">
              <a:buFontTx/>
              <a:buChar char="-"/>
            </a:pPr>
            <a:r>
              <a:rPr lang="zh-CN" altLang="en-US" sz="1200" kern="1200" dirty="0">
                <a:solidFill>
                  <a:schemeClr val="tx1"/>
                </a:solidFill>
                <a:effectLst/>
                <a:latin typeface="+mn-lt"/>
                <a:ea typeface="+mn-ea"/>
                <a:cs typeface="+mn-cs"/>
              </a:rPr>
              <a:t>感知</a:t>
            </a:r>
            <a:r>
              <a:rPr lang="en-US" altLang="zh-CN" sz="1200" kern="1200" dirty="0">
                <a:solidFill>
                  <a:schemeClr val="tx1"/>
                </a:solidFill>
                <a:effectLst/>
                <a:latin typeface="+mn-lt"/>
                <a:ea typeface="+mn-ea"/>
                <a:cs typeface="+mn-cs"/>
              </a:rPr>
              <a:t>: </a:t>
            </a:r>
            <a:r>
              <a:rPr lang="zh-CN" altLang="en-US" sz="1200" b="0" i="0" u="none" strike="noStrike" kern="1200" dirty="0">
                <a:solidFill>
                  <a:schemeClr val="tx1"/>
                </a:solidFill>
                <a:effectLst/>
                <a:latin typeface="+mn-lt"/>
                <a:ea typeface="+mn-ea"/>
                <a:cs typeface="+mn-cs"/>
              </a:rPr>
              <a:t>从复杂的外部环境（</a:t>
            </a:r>
            <a:r>
              <a:rPr lang="en-US" altLang="zh-CN" sz="1200" b="0" i="0" u="none" strike="noStrike" kern="1200" dirty="0">
                <a:solidFill>
                  <a:schemeClr val="tx1"/>
                </a:solidFill>
                <a:effectLst/>
                <a:latin typeface="+mn-lt"/>
                <a:ea typeface="+mn-ea"/>
                <a:cs typeface="+mn-cs"/>
              </a:rPr>
              <a:t>Environment</a:t>
            </a:r>
            <a:r>
              <a:rPr lang="zh-CN" altLang="en-US" sz="1200" b="0" i="0" u="none" strike="noStrike" kern="1200" dirty="0">
                <a:solidFill>
                  <a:schemeClr val="tx1"/>
                </a:solidFill>
                <a:effectLst/>
                <a:latin typeface="+mn-lt"/>
                <a:ea typeface="+mn-ea"/>
                <a:cs typeface="+mn-cs"/>
              </a:rPr>
              <a:t>）中接收原始信号，并把这些毫无意义的信号提取、转化为自己能理解的**“结构化信息（状态 </a:t>
            </a:r>
            <a:r>
              <a:rPr lang="en-US" altLang="zh-CN" sz="1200" b="0" i="0" u="none" strike="noStrike" kern="1200" dirty="0">
                <a:solidFill>
                  <a:schemeClr val="tx1"/>
                </a:solidFill>
                <a:effectLst/>
                <a:latin typeface="+mn-lt"/>
                <a:ea typeface="+mn-ea"/>
                <a:cs typeface="+mn-cs"/>
              </a:rPr>
              <a:t>State</a:t>
            </a:r>
            <a:r>
              <a:rPr lang="zh-CN" altLang="en-US" sz="1200" b="0" i="0" u="none" strike="noStrike"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171450" indent="-171450">
              <a:buFontTx/>
              <a:buChar char="-"/>
            </a:pPr>
            <a:r>
              <a:rPr lang="zh-CN" altLang="en-US" sz="1200" kern="1200" dirty="0">
                <a:solidFill>
                  <a:schemeClr val="tx1"/>
                </a:solidFill>
                <a:effectLst/>
                <a:latin typeface="+mn-lt"/>
                <a:ea typeface="+mn-ea"/>
                <a:cs typeface="+mn-cs"/>
              </a:rPr>
              <a:t>规划：</a:t>
            </a:r>
            <a:r>
              <a:rPr lang="en-US" altLang="zh-CN" sz="1200" kern="1200" dirty="0">
                <a:solidFill>
                  <a:schemeClr val="tx1"/>
                </a:solidFill>
                <a:effectLst/>
                <a:latin typeface="+mn-lt"/>
                <a:ea typeface="+mn-ea"/>
                <a:cs typeface="+mn-cs"/>
              </a:rPr>
              <a:t>policy \pi(</a:t>
            </a:r>
            <a:r>
              <a:rPr lang="en-US" altLang="zh-CN" sz="1200" kern="1200" dirty="0" err="1">
                <a:solidFill>
                  <a:schemeClr val="tx1"/>
                </a:solidFill>
                <a:effectLst/>
                <a:latin typeface="+mn-lt"/>
                <a:ea typeface="+mn-ea"/>
                <a:cs typeface="+mn-cs"/>
              </a:rPr>
              <a:t>a|s</a:t>
            </a:r>
            <a:r>
              <a:rPr lang="en-US" altLang="zh-CN" sz="1200" kern="1200" dirty="0">
                <a:solidFill>
                  <a:schemeClr val="tx1"/>
                </a:solidFill>
                <a:effectLst/>
                <a:latin typeface="+mn-lt"/>
                <a:ea typeface="+mn-ea"/>
                <a:cs typeface="+mn-cs"/>
              </a:rPr>
              <a:t>)</a:t>
            </a:r>
          </a:p>
          <a:p>
            <a:pPr marL="171450" indent="-171450">
              <a:buFontTx/>
              <a:buChar char="-"/>
            </a:pPr>
            <a:r>
              <a:rPr lang="zh-CN" altLang="en-US" sz="1200" kern="1200" dirty="0">
                <a:solidFill>
                  <a:schemeClr val="tx1"/>
                </a:solidFill>
                <a:effectLst/>
                <a:latin typeface="+mn-lt"/>
                <a:ea typeface="+mn-ea"/>
                <a:cs typeface="+mn-cs"/>
              </a:rPr>
              <a:t>世界模型：</a:t>
            </a:r>
            <a:r>
              <a:rPr lang="en-US" altLang="zh-CN" sz="1200" kern="1200" dirty="0">
                <a:solidFill>
                  <a:schemeClr val="tx1"/>
                </a:solidFill>
                <a:effectLst/>
                <a:latin typeface="+mn-lt"/>
                <a:ea typeface="+mn-ea"/>
                <a:cs typeface="+mn-cs"/>
              </a:rPr>
              <a:t>Transition</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function</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P(s’|</a:t>
            </a:r>
            <a:r>
              <a:rPr lang="en-US" altLang="zh-CN" sz="1200" kern="1200" dirty="0" err="1">
                <a:solidFill>
                  <a:schemeClr val="tx1"/>
                </a:solidFill>
                <a:effectLst/>
                <a:latin typeface="+mn-lt"/>
                <a:ea typeface="+mn-ea"/>
                <a:cs typeface="+mn-cs"/>
              </a:rPr>
              <a:t>s,a</a:t>
            </a:r>
            <a:r>
              <a:rPr lang="en-US" altLang="zh-CN" sz="1200" kern="1200" dirty="0">
                <a:solidFill>
                  <a:schemeClr val="tx1"/>
                </a:solidFill>
                <a:effectLst/>
                <a:latin typeface="+mn-lt"/>
                <a:ea typeface="+mn-ea"/>
                <a:cs typeface="+mn-cs"/>
              </a:rPr>
              <a:t>) + Rewards r</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但我们要 </a:t>
            </a:r>
            <a:r>
              <a:rPr lang="en-US" altLang="zh-CN" sz="1200" b="1" kern="1200" dirty="0">
                <a:solidFill>
                  <a:schemeClr val="tx1"/>
                </a:solidFill>
                <a:effectLst/>
                <a:latin typeface="+mn-lt"/>
                <a:ea typeface="+mn-ea"/>
                <a:cs typeface="+mn-cs"/>
              </a:rPr>
              <a:t>through the new lens of LLMs (</a:t>
            </a:r>
            <a:r>
              <a:rPr lang="zh-CN" altLang="en-US" sz="1200" b="1" kern="1200" dirty="0">
                <a:solidFill>
                  <a:schemeClr val="tx1"/>
                </a:solidFill>
                <a:effectLst/>
                <a:latin typeface="+mn-lt"/>
                <a:ea typeface="+mn-ea"/>
                <a:cs typeface="+mn-cs"/>
              </a:rPr>
              <a:t>通过大模型的新视角去重新审视它们</a:t>
            </a:r>
            <a:r>
              <a:rPr lang="en-US" altLang="zh-CN"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en-US" altLang="zh-CN" sz="1200" kern="1200" dirty="0">
              <a:solidFill>
                <a:srgbClr val="FF0000"/>
              </a:solidFill>
              <a:effectLst/>
              <a:latin typeface="+mn-lt"/>
              <a:ea typeface="+mn-ea"/>
              <a:cs typeface="+mn-cs"/>
            </a:endParaRPr>
          </a:p>
          <a:p>
            <a:r>
              <a:rPr lang="zh-CN" altLang="en-US" sz="1200" kern="1200" dirty="0">
                <a:solidFill>
                  <a:srgbClr val="FF0000"/>
                </a:solidFill>
                <a:effectLst/>
                <a:latin typeface="+mn-lt"/>
                <a:ea typeface="+mn-ea"/>
                <a:cs typeface="+mn-cs"/>
              </a:rPr>
              <a:t>实现上可以看成是两个</a:t>
            </a:r>
            <a:r>
              <a:rPr lang="en-US" altLang="zh-CN" sz="1200" kern="1200" dirty="0">
                <a:solidFill>
                  <a:srgbClr val="FF0000"/>
                </a:solidFill>
                <a:effectLst/>
                <a:latin typeface="+mn-lt"/>
                <a:ea typeface="+mn-ea"/>
                <a:cs typeface="+mn-cs"/>
              </a:rPr>
              <a:t>stages</a:t>
            </a:r>
            <a:endParaRPr lang="zh-CN" altLang="en-US" sz="1200" kern="1200" dirty="0">
              <a:solidFill>
                <a:srgbClr val="FF0000"/>
              </a:solidFill>
              <a:effectLst/>
              <a:latin typeface="+mn-lt"/>
              <a:ea typeface="+mn-ea"/>
              <a:cs typeface="+mn-cs"/>
            </a:endParaRPr>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4</a:t>
            </a:fld>
            <a:endParaRPr kumimoji="1" lang="zh-CN" altLang="en-US"/>
          </a:p>
        </p:txBody>
      </p:sp>
    </p:spTree>
    <p:extLst>
      <p:ext uri="{BB962C8B-B14F-4D97-AF65-F5344CB8AC3E}">
        <p14:creationId xmlns:p14="http://schemas.microsoft.com/office/powerpoint/2010/main" val="389087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tx1"/>
                </a:solidFill>
                <a:effectLst/>
                <a:latin typeface="+mn-lt"/>
                <a:ea typeface="+mn-ea"/>
                <a:cs typeface="+mn-cs"/>
              </a:rPr>
              <a:t>LLM</a:t>
            </a:r>
            <a:r>
              <a:rPr lang="zh-CN" altLang="en-US" sz="1200" b="1" kern="1200" dirty="0">
                <a:solidFill>
                  <a:schemeClr val="tx1"/>
                </a:solidFill>
                <a:effectLst/>
                <a:latin typeface="+mn-lt"/>
                <a:ea typeface="+mn-ea"/>
                <a:cs typeface="+mn-cs"/>
              </a:rPr>
              <a:t> </a:t>
            </a:r>
            <a:r>
              <a:rPr lang="en-US" altLang="zh-CN" sz="1200" b="1" kern="1200" dirty="0">
                <a:solidFill>
                  <a:schemeClr val="tx1"/>
                </a:solidFill>
                <a:effectLst/>
                <a:latin typeface="+mn-lt"/>
                <a:ea typeface="+mn-ea"/>
                <a:cs typeface="+mn-cs"/>
              </a:rPr>
              <a:t>agent</a:t>
            </a:r>
            <a:r>
              <a:rPr lang="zh-CN" altLang="en-US" sz="1200" b="1" kern="1200" dirty="0">
                <a:solidFill>
                  <a:schemeClr val="tx1"/>
                </a:solidFill>
                <a:effectLst/>
                <a:latin typeface="+mn-lt"/>
                <a:ea typeface="+mn-ea"/>
                <a:cs typeface="+mn-cs"/>
              </a:rPr>
              <a:t>细节：</a:t>
            </a: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tx1"/>
                </a:solidFill>
                <a:effectLst/>
                <a:latin typeface="+mn-lt"/>
                <a:ea typeface="+mn-ea"/>
                <a:cs typeface="+mn-cs"/>
              </a:rPr>
              <a:t>LLM Agent</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就像是一个</a:t>
            </a:r>
            <a:r>
              <a:rPr lang="en-US" altLang="zh-CN" sz="1200" kern="1200" dirty="0">
                <a:solidFill>
                  <a:schemeClr val="tx1"/>
                </a:solidFill>
                <a:effectLst/>
                <a:latin typeface="+mn-lt"/>
                <a:ea typeface="+mn-ea"/>
                <a:cs typeface="+mn-cs"/>
              </a:rPr>
              <a:t>talented</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freelancer</a:t>
            </a:r>
            <a:r>
              <a:rPr lang="zh-CN" altLang="en-US" sz="1200" kern="1200" dirty="0">
                <a:solidFill>
                  <a:schemeClr val="tx1"/>
                </a:solidFill>
                <a:effectLst/>
                <a:latin typeface="+mn-lt"/>
                <a:ea typeface="+mn-ea"/>
                <a:cs typeface="+mn-cs"/>
              </a:rPr>
              <a:t>。你把任务外包给他，中间他什么时候起床、用什么工具、按什么顺序做，你完全不管，也没有固定的</a:t>
            </a:r>
            <a:r>
              <a:rPr lang="en-US" altLang="zh-CN" sz="1200" kern="1200" dirty="0">
                <a:solidFill>
                  <a:schemeClr val="tx1"/>
                </a:solidFill>
                <a:effectLst/>
                <a:latin typeface="+mn-lt"/>
                <a:ea typeface="+mn-ea"/>
                <a:cs typeface="+mn-cs"/>
              </a:rPr>
              <a:t>SOP</a:t>
            </a:r>
            <a:r>
              <a:rPr lang="zh-CN" altLang="en-US" sz="1200" kern="1200" dirty="0">
                <a:solidFill>
                  <a:schemeClr val="tx1"/>
                </a:solidFill>
                <a:effectLst/>
                <a:latin typeface="+mn-lt"/>
                <a:ea typeface="+mn-ea"/>
                <a:cs typeface="+mn-cs"/>
              </a:rPr>
              <a:t>（标准作业程序，</a:t>
            </a:r>
            <a:r>
              <a:rPr lang="en-US" altLang="zh-CN" sz="1200" kern="1200" dirty="0">
                <a:solidFill>
                  <a:schemeClr val="tx1"/>
                </a:solidFill>
                <a:effectLst/>
                <a:latin typeface="+mn-lt"/>
                <a:ea typeface="+mn-ea"/>
                <a:cs typeface="+mn-cs"/>
              </a:rPr>
              <a:t>Standard Operation Process</a:t>
            </a:r>
            <a:r>
              <a:rPr lang="zh-CN" altLang="en-US" sz="1200" kern="1200" dirty="0">
                <a:solidFill>
                  <a:schemeClr val="tx1"/>
                </a:solidFill>
                <a:effectLst/>
                <a:latin typeface="+mn-lt"/>
                <a:ea typeface="+mn-ea"/>
                <a:cs typeface="+mn-cs"/>
              </a:rPr>
              <a:t>），你只看最后结果。他确实能自己决定每一步，但有可能会搞砸。</a:t>
            </a:r>
          </a:p>
          <a:p>
            <a:endParaRPr kumimoji="1" lang="zh-CN" altLang="en-US" dirty="0"/>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6</a:t>
            </a:fld>
            <a:endParaRPr kumimoji="1" lang="zh-CN" altLang="en-US"/>
          </a:p>
        </p:txBody>
      </p:sp>
    </p:spTree>
    <p:extLst>
      <p:ext uri="{BB962C8B-B14F-4D97-AF65-F5344CB8AC3E}">
        <p14:creationId xmlns:p14="http://schemas.microsoft.com/office/powerpoint/2010/main" val="612523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200" dirty="0">
                <a:solidFill>
                  <a:schemeClr val="tx1"/>
                </a:solidFill>
                <a:effectLst/>
                <a:latin typeface="+mn-lt"/>
                <a:ea typeface="+mn-ea"/>
                <a:cs typeface="+mn-cs"/>
              </a:rPr>
              <a:t>宏观上，它有固定的、由人类设计的 </a:t>
            </a:r>
            <a:r>
              <a:rPr lang="en-US" altLang="zh-CN" sz="1200" b="1" kern="1200" dirty="0">
                <a:solidFill>
                  <a:schemeClr val="tx1"/>
                </a:solidFill>
                <a:effectLst/>
                <a:latin typeface="+mn-lt"/>
                <a:ea typeface="+mn-ea"/>
                <a:cs typeface="+mn-cs"/>
              </a:rPr>
              <a:t>Workflow</a:t>
            </a:r>
            <a:r>
              <a:rPr lang="zh-CN" altLang="en-US" sz="1200" b="1" kern="1200" dirty="0">
                <a:solidFill>
                  <a:schemeClr val="tx1"/>
                </a:solidFill>
                <a:effectLst/>
                <a:latin typeface="+mn-lt"/>
                <a:ea typeface="+mn-ea"/>
                <a:cs typeface="+mn-cs"/>
              </a:rPr>
              <a:t>（工作流护栏）。</a:t>
            </a:r>
            <a:r>
              <a:rPr lang="zh-CN" altLang="en-US" sz="1200" kern="1200" dirty="0">
                <a:solidFill>
                  <a:schemeClr val="tx1"/>
                </a:solidFill>
                <a:effectLst/>
                <a:latin typeface="+mn-lt"/>
                <a:ea typeface="+mn-ea"/>
                <a:cs typeface="+mn-cs"/>
              </a:rPr>
              <a:t> 比如系统设定了必须先过“意图识别节点”，再过“数据检索节点”，最后过“总结输出节点”。</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200" dirty="0">
                <a:solidFill>
                  <a:schemeClr val="tx1"/>
                </a:solidFill>
                <a:effectLst/>
                <a:latin typeface="+mn-lt"/>
                <a:ea typeface="+mn-ea"/>
                <a:cs typeface="+mn-cs"/>
              </a:rPr>
              <a:t>微观上，</a:t>
            </a:r>
            <a:r>
              <a:rPr lang="en-US" altLang="zh-CN" sz="1200" b="1" kern="1200" dirty="0">
                <a:solidFill>
                  <a:schemeClr val="tx1"/>
                </a:solidFill>
                <a:effectLst/>
                <a:latin typeface="+mn-lt"/>
                <a:ea typeface="+mn-ea"/>
                <a:cs typeface="+mn-cs"/>
              </a:rPr>
              <a:t>LLM </a:t>
            </a:r>
            <a:r>
              <a:rPr lang="zh-CN" altLang="en-US" sz="1200" b="1" kern="1200" dirty="0">
                <a:solidFill>
                  <a:schemeClr val="tx1"/>
                </a:solidFill>
                <a:effectLst/>
                <a:latin typeface="+mn-lt"/>
                <a:ea typeface="+mn-ea"/>
                <a:cs typeface="+mn-cs"/>
              </a:rPr>
              <a:t>在特定节点内做决定。</a:t>
            </a:r>
            <a:r>
              <a:rPr lang="zh-CN" altLang="en-US" sz="1200" kern="1200" dirty="0">
                <a:solidFill>
                  <a:schemeClr val="tx1"/>
                </a:solidFill>
                <a:effectLst/>
                <a:latin typeface="+mn-lt"/>
                <a:ea typeface="+mn-ea"/>
                <a:cs typeface="+mn-cs"/>
              </a:rPr>
              <a:t> 比如到了“数据检索节点”，大模型才开始行使它的权力，自己决定是用关键词 </a:t>
            </a:r>
            <a:r>
              <a:rPr lang="en-US" altLang="zh-CN" sz="1200" kern="1200" dirty="0">
                <a:solidFill>
                  <a:schemeClr val="tx1"/>
                </a:solidFill>
                <a:effectLst/>
                <a:latin typeface="+mn-lt"/>
                <a:ea typeface="+mn-ea"/>
                <a:cs typeface="+mn-cs"/>
              </a:rPr>
              <a:t>A </a:t>
            </a:r>
            <a:r>
              <a:rPr lang="zh-CN" altLang="en-US" sz="1200" kern="1200" dirty="0">
                <a:solidFill>
                  <a:schemeClr val="tx1"/>
                </a:solidFill>
                <a:effectLst/>
                <a:latin typeface="+mn-lt"/>
                <a:ea typeface="+mn-ea"/>
                <a:cs typeface="+mn-cs"/>
              </a:rPr>
              <a:t>还是关键词 </a:t>
            </a:r>
            <a:r>
              <a:rPr lang="en-US" altLang="zh-CN" sz="1200" kern="1200" dirty="0">
                <a:solidFill>
                  <a:schemeClr val="tx1"/>
                </a:solidFill>
                <a:effectLst/>
                <a:latin typeface="+mn-lt"/>
                <a:ea typeface="+mn-ea"/>
                <a:cs typeface="+mn-cs"/>
              </a:rPr>
              <a:t>B </a:t>
            </a:r>
            <a:r>
              <a:rPr lang="zh-CN" altLang="en-US" sz="1200" kern="1200" dirty="0">
                <a:solidFill>
                  <a:schemeClr val="tx1"/>
                </a:solidFill>
                <a:effectLst/>
                <a:latin typeface="+mn-lt"/>
                <a:ea typeface="+mn-ea"/>
                <a:cs typeface="+mn-cs"/>
              </a:rPr>
              <a:t>去搜数据库。</a:t>
            </a:r>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200" dirty="0">
                <a:solidFill>
                  <a:schemeClr val="tx1"/>
                </a:solidFill>
                <a:effectLst/>
                <a:latin typeface="+mn-lt"/>
                <a:ea typeface="+mn-ea"/>
                <a:cs typeface="+mn-cs"/>
              </a:rPr>
              <a:t>很像是一种半固定</a:t>
            </a:r>
            <a:r>
              <a:rPr lang="en-US" altLang="zh-CN" sz="1200" b="1" kern="1200" dirty="0">
                <a:solidFill>
                  <a:schemeClr val="tx1"/>
                </a:solidFill>
                <a:effectLst/>
                <a:latin typeface="+mn-lt"/>
                <a:ea typeface="+mn-ea"/>
                <a:cs typeface="+mn-cs"/>
              </a:rPr>
              <a:t>/</a:t>
            </a:r>
            <a:r>
              <a:rPr lang="zh-CN" altLang="en-US" sz="1200" b="1" kern="1200" dirty="0">
                <a:solidFill>
                  <a:schemeClr val="tx1"/>
                </a:solidFill>
                <a:effectLst/>
                <a:latin typeface="+mn-lt"/>
                <a:ea typeface="+mn-ea"/>
                <a:cs typeface="+mn-cs"/>
              </a:rPr>
              <a:t>有约束的编排（</a:t>
            </a:r>
            <a:r>
              <a:rPr lang="en-US" altLang="zh-CN" sz="1200" b="1" kern="1200" dirty="0">
                <a:solidFill>
                  <a:schemeClr val="tx1"/>
                </a:solidFill>
                <a:effectLst/>
                <a:latin typeface="+mn-lt"/>
                <a:ea typeface="+mn-ea"/>
                <a:cs typeface="+mn-cs"/>
              </a:rPr>
              <a:t>Orchestration</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。系统工程代码（粉色模块）负责兜底和流程流转，大模型（绿色模块）负责在关键卡点做复杂的逻辑推理。</a:t>
            </a:r>
          </a:p>
          <a:p>
            <a:endParaRPr kumimoji="1" lang="zh-CN" altLang="en-US" dirty="0"/>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7</a:t>
            </a:fld>
            <a:endParaRPr kumimoji="1" lang="zh-CN" altLang="en-US"/>
          </a:p>
        </p:txBody>
      </p:sp>
    </p:spTree>
    <p:extLst>
      <p:ext uri="{BB962C8B-B14F-4D97-AF65-F5344CB8AC3E}">
        <p14:creationId xmlns:p14="http://schemas.microsoft.com/office/powerpoint/2010/main" val="2941217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3E627-2CE9-F2BC-012B-7A8BF497A09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3E81AA-175D-4E7F-E4DE-174E6FD2F9C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C5F8B7-F8C2-B281-370C-B1ED3B5DED8A}"/>
              </a:ext>
            </a:extLst>
          </p:cNvPr>
          <p:cNvSpPr>
            <a:spLocks noGrp="1"/>
          </p:cNvSpPr>
          <p:nvPr>
            <p:ph type="body" idx="1"/>
          </p:nvPr>
        </p:nvSpPr>
        <p:spPr/>
        <p:txBody>
          <a:bodyPr/>
          <a:lstStyle/>
          <a:p>
            <a:r>
              <a:rPr kumimoji="1" lang="zh-CN" altLang="en-US" dirty="0"/>
              <a:t>聚焦</a:t>
            </a:r>
            <a:r>
              <a:rPr kumimoji="1" lang="en-US" altLang="zh-CN" dirty="0"/>
              <a:t>LLM</a:t>
            </a:r>
            <a:r>
              <a:rPr kumimoji="1" lang="zh-CN" altLang="en-US" dirty="0"/>
              <a:t> </a:t>
            </a:r>
            <a:r>
              <a:rPr kumimoji="1" lang="en-US" altLang="zh-CN" dirty="0"/>
              <a:t>Agent</a:t>
            </a:r>
            <a:r>
              <a:rPr kumimoji="1" lang="zh-CN" altLang="en-US" dirty="0"/>
              <a:t>；</a:t>
            </a:r>
            <a:r>
              <a:rPr kumimoji="1" lang="en-US" altLang="zh-CN" dirty="0"/>
              <a:t>Agentic</a:t>
            </a:r>
            <a:r>
              <a:rPr kumimoji="1" lang="zh-CN" altLang="en-US" dirty="0"/>
              <a:t> </a:t>
            </a:r>
            <a:r>
              <a:rPr kumimoji="1" lang="en-US" altLang="zh-CN" dirty="0"/>
              <a:t>System</a:t>
            </a:r>
            <a:r>
              <a:rPr kumimoji="1" lang="zh-CN" altLang="en-US" dirty="0"/>
              <a:t>更多的是系统设计、安全性保障，和根据领域特定的脚手架设定</a:t>
            </a:r>
          </a:p>
        </p:txBody>
      </p:sp>
      <p:sp>
        <p:nvSpPr>
          <p:cNvPr id="4" name="灯片编号占位符 3">
            <a:extLst>
              <a:ext uri="{FF2B5EF4-FFF2-40B4-BE49-F238E27FC236}">
                <a16:creationId xmlns:a16="http://schemas.microsoft.com/office/drawing/2014/main" id="{3F331196-E55C-F567-D351-84532F54141B}"/>
              </a:ext>
            </a:extLst>
          </p:cNvPr>
          <p:cNvSpPr>
            <a:spLocks noGrp="1"/>
          </p:cNvSpPr>
          <p:nvPr>
            <p:ph type="sldNum" sz="quarter" idx="5"/>
          </p:nvPr>
        </p:nvSpPr>
        <p:spPr/>
        <p:txBody>
          <a:bodyPr/>
          <a:lstStyle/>
          <a:p>
            <a:fld id="{04005BC0-016E-1C46-B64E-FF4E2F4D80A0}" type="slidenum">
              <a:rPr kumimoji="1" lang="zh-CN" altLang="en-US" smtClean="0"/>
              <a:t>8</a:t>
            </a:fld>
            <a:endParaRPr kumimoji="1" lang="zh-CN" altLang="en-US"/>
          </a:p>
        </p:txBody>
      </p:sp>
    </p:spTree>
    <p:extLst>
      <p:ext uri="{BB962C8B-B14F-4D97-AF65-F5344CB8AC3E}">
        <p14:creationId xmlns:p14="http://schemas.microsoft.com/office/powerpoint/2010/main" val="3810242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t>Mid-training</a:t>
            </a:r>
            <a:r>
              <a:rPr lang="zh-CN" altLang="en-US" dirty="0"/>
              <a:t>：是一个</a:t>
            </a:r>
            <a:r>
              <a:rPr lang="en-US" altLang="zh-CN" dirty="0"/>
              <a:t>pre-training technique</a:t>
            </a:r>
            <a:r>
              <a:rPr lang="zh-CN" altLang="en-US" dirty="0"/>
              <a:t>（</a:t>
            </a:r>
            <a:r>
              <a:rPr lang="en-US" altLang="zh-CN" dirty="0"/>
              <a:t>continual</a:t>
            </a:r>
            <a:r>
              <a:rPr lang="zh-CN" altLang="en-US" dirty="0"/>
              <a:t> </a:t>
            </a:r>
            <a:r>
              <a:rPr lang="en-US" altLang="zh-CN" dirty="0"/>
              <a:t>pre-training</a:t>
            </a:r>
            <a:r>
              <a:rPr lang="zh-CN" altLang="en-US" dirty="0"/>
              <a:t>），用来在</a:t>
            </a:r>
            <a:r>
              <a:rPr lang="en-US" altLang="zh-CN" dirty="0"/>
              <a:t>SFT</a:t>
            </a:r>
            <a:r>
              <a:rPr lang="zh-CN" altLang="en-US" dirty="0"/>
              <a:t>前</a:t>
            </a:r>
            <a:r>
              <a:rPr lang="en-US" altLang="zh-CN" dirty="0"/>
              <a:t>warm-up</a:t>
            </a:r>
            <a:r>
              <a:rPr lang="zh-CN" altLang="en-US" dirty="0"/>
              <a:t>模型的；数据一定是精细化的、过滤掉大量垃圾数据，只包含高质量高密度的推理数据。蕴含了推理能力和逻辑思维的信息压缩和知识重组。包含了大量的各类专业领域的核心问题、规则、逻辑关系的高级别知识数据。</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算力</a:t>
            </a:r>
            <a:r>
              <a:rPr lang="zh-CN" altLang="en-US" dirty="0"/>
              <a:t>：照着</a:t>
            </a:r>
            <a:r>
              <a:rPr lang="en-US" altLang="zh-CN" dirty="0"/>
              <a:t>pre-training</a:t>
            </a:r>
            <a:r>
              <a:rPr lang="zh-CN" altLang="en-US" dirty="0"/>
              <a:t>来的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形式</a:t>
            </a:r>
            <a:r>
              <a:rPr lang="zh-CN" altLang="en-US" dirty="0">
                <a:sym typeface="Wingdings" pitchFamily="2" charset="2"/>
              </a:rPr>
              <a:t>：</a:t>
            </a:r>
            <a:r>
              <a:rPr lang="zh-CN" altLang="en-US" sz="1200" b="1" i="0" u="none" strike="noStrike" kern="1200" dirty="0">
                <a:solidFill>
                  <a:schemeClr val="tx1"/>
                </a:solidFill>
                <a:effectLst/>
                <a:latin typeface="+mn-lt"/>
                <a:ea typeface="+mn-ea"/>
                <a:cs typeface="+mn-cs"/>
              </a:rPr>
              <a:t>文档 </a:t>
            </a:r>
            <a:r>
              <a:rPr lang="en-US" altLang="zh-CN" sz="1200" b="1" i="0" u="none" strike="noStrike" kern="1200" dirty="0">
                <a:solidFill>
                  <a:schemeClr val="tx1"/>
                </a:solidFill>
                <a:effectLst/>
                <a:latin typeface="+mn-lt"/>
                <a:ea typeface="+mn-ea"/>
                <a:cs typeface="+mn-cs"/>
              </a:rPr>
              <a:t>(Document-level)</a:t>
            </a:r>
            <a:r>
              <a:rPr lang="zh-CN" altLang="en-US" sz="1200" b="0" i="0" u="none" strike="noStrike" kern="1200" dirty="0">
                <a:solidFill>
                  <a:schemeClr val="tx1"/>
                </a:solidFill>
                <a:effectLst/>
                <a:latin typeface="+mn-lt"/>
                <a:ea typeface="+mn-ea"/>
                <a:cs typeface="+mn-cs"/>
              </a:rPr>
              <a:t>。给模型看的是完整的文章、代码库或长篇教材。比如：“第一章：线性代数基础</a:t>
            </a:r>
            <a:r>
              <a:rPr lang="en-US" altLang="zh-CN" sz="1200" b="0" i="0" u="none" strike="noStrike"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目的</a:t>
            </a:r>
            <a:r>
              <a:rPr lang="zh-CN" altLang="en-US" dirty="0"/>
              <a:t>：</a:t>
            </a:r>
            <a:r>
              <a:rPr lang="zh-CN" altLang="en-US" sz="1200" b="0" i="0" u="none" strike="noStrike" kern="1200" dirty="0">
                <a:solidFill>
                  <a:schemeClr val="tx1"/>
                </a:solidFill>
                <a:effectLst/>
                <a:latin typeface="+mn-lt"/>
                <a:ea typeface="+mn-ea"/>
                <a:cs typeface="+mn-cs"/>
              </a:rPr>
              <a:t>让模型真正学会复杂的数学推理和代码逻辑</a:t>
            </a:r>
            <a:r>
              <a:rPr lang="en-US" altLang="zh-CN" sz="1200" b="0" i="0" u="none" strike="noStrike" kern="1200" dirty="0">
                <a:solidFill>
                  <a:schemeClr val="tx1"/>
                </a:solidFill>
                <a:effectLst/>
                <a:latin typeface="+mn-lt"/>
                <a:ea typeface="+mn-ea"/>
                <a:cs typeface="+mn-cs"/>
              </a:rPr>
              <a:t> (</a:t>
            </a:r>
            <a:r>
              <a:rPr lang="zh-CN" altLang="en-US" sz="1200" b="1" i="0" u="none" strike="noStrike" kern="1200" dirty="0">
                <a:solidFill>
                  <a:schemeClr val="tx1"/>
                </a:solidFill>
                <a:effectLst/>
                <a:latin typeface="+mn-lt"/>
                <a:ea typeface="+mn-ea"/>
                <a:cs typeface="+mn-cs"/>
              </a:rPr>
              <a:t>暴力拉升模型的逻辑推理（</a:t>
            </a:r>
            <a:r>
              <a:rPr lang="en-US" altLang="zh-CN" sz="1200" b="1" i="0" u="none" strike="noStrike" kern="1200" dirty="0">
                <a:solidFill>
                  <a:schemeClr val="tx1"/>
                </a:solidFill>
                <a:effectLst/>
                <a:latin typeface="+mn-lt"/>
                <a:ea typeface="+mn-ea"/>
                <a:cs typeface="+mn-cs"/>
              </a:rPr>
              <a:t>Reasoning</a:t>
            </a:r>
            <a:r>
              <a:rPr lang="zh-CN" altLang="en-US" sz="1200" b="1" i="0" u="none" strike="noStrike" kern="1200" dirty="0">
                <a:solidFill>
                  <a:schemeClr val="tx1"/>
                </a:solidFill>
                <a:effectLst/>
                <a:latin typeface="+mn-lt"/>
                <a:ea typeface="+mn-ea"/>
                <a:cs typeface="+mn-cs"/>
              </a:rPr>
              <a:t>）、数学计算和代码编写能力</a:t>
            </a:r>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a:t>
            </a:r>
            <a:r>
              <a:rPr lang="zh-CN" altLang="en-US" dirty="0"/>
              <a:t>增强模型的泛化能力</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9</a:t>
            </a:fld>
            <a:endParaRPr kumimoji="1" lang="zh-CN" altLang="en-US"/>
          </a:p>
        </p:txBody>
      </p:sp>
    </p:spTree>
    <p:extLst>
      <p:ext uri="{BB962C8B-B14F-4D97-AF65-F5344CB8AC3E}">
        <p14:creationId xmlns:p14="http://schemas.microsoft.com/office/powerpoint/2010/main" val="14930115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b="1" dirty="0"/>
              <a:t>DeepSeek-R1</a:t>
            </a:r>
            <a:r>
              <a:rPr kumimoji="1" lang="en-US" altLang="zh-CN" dirty="0"/>
              <a:t>:</a:t>
            </a:r>
            <a:r>
              <a:rPr kumimoji="1" lang="zh-CN" altLang="en-US" dirty="0"/>
              <a:t> 客观验证器 </a:t>
            </a:r>
            <a:r>
              <a:rPr lang="en-US" altLang="zh-CN" sz="1200" b="0" i="0" u="none" strike="noStrike" kern="1200" dirty="0">
                <a:solidFill>
                  <a:schemeClr val="tx1"/>
                </a:solidFill>
                <a:effectLst/>
                <a:latin typeface="+mn-lt"/>
                <a:ea typeface="+mn-ea"/>
                <a:cs typeface="+mn-cs"/>
              </a:rPr>
              <a:t>Objective verifier</a:t>
            </a:r>
          </a:p>
          <a:p>
            <a:r>
              <a:rPr lang="en-US" altLang="zh-CN" sz="1200" b="0" i="0" u="none" strike="noStrike" kern="1200" dirty="0">
                <a:solidFill>
                  <a:schemeClr val="tx1"/>
                </a:solidFill>
                <a:effectLst/>
                <a:latin typeface="+mn-lt"/>
                <a:ea typeface="+mn-ea"/>
                <a:cs typeface="+mn-cs"/>
              </a:rPr>
              <a:t>1.</a:t>
            </a:r>
            <a:r>
              <a:rPr lang="zh-CN" altLang="en-US" sz="1200" b="0" i="0" u="none" strike="noStrike" kern="1200" dirty="0">
                <a:solidFill>
                  <a:schemeClr val="tx1"/>
                </a:solidFill>
                <a:effectLst/>
                <a:latin typeface="+mn-lt"/>
                <a:ea typeface="+mn-ea"/>
                <a:cs typeface="+mn-cs"/>
              </a:rPr>
              <a:t> 过渡期的语言模型 </a:t>
            </a:r>
            <a:r>
              <a:rPr lang="en-US" altLang="zh-CN" sz="1200" b="0" i="0" u="none" strike="noStrike" kern="1200" dirty="0">
                <a:solidFill>
                  <a:schemeClr val="tx1"/>
                </a:solidFill>
                <a:effectLst/>
                <a:latin typeface="+mn-lt"/>
                <a:ea typeface="+mn-ea"/>
                <a:cs typeface="+mn-cs"/>
              </a:rPr>
              <a:t>(Temporary LLM) </a:t>
            </a:r>
            <a:r>
              <a:rPr lang="zh-CN" altLang="en-US" sz="1200" b="0" i="0" u="none" strike="noStrike" kern="1200" dirty="0">
                <a:solidFill>
                  <a:schemeClr val="tx1"/>
                </a:solidFill>
                <a:effectLst/>
                <a:latin typeface="+mn-lt"/>
                <a:ea typeface="+mn-ea"/>
                <a:cs typeface="+mn-cs"/>
              </a:rPr>
              <a:t>对着问题生成海量的解答路径</a:t>
            </a:r>
            <a:r>
              <a:rPr lang="en-US" altLang="zh-CN" sz="1200" b="0" i="0" u="none" strike="noStrike" kern="1200" dirty="0">
                <a:solidFill>
                  <a:schemeClr val="tx1"/>
                </a:solidFill>
                <a:effectLst/>
                <a:latin typeface="+mn-lt"/>
                <a:ea typeface="+mn-ea"/>
                <a:cs typeface="+mn-cs"/>
              </a:rPr>
              <a:t>【3</a:t>
            </a:r>
            <a:r>
              <a:rPr lang="zh-CN" altLang="en-US" sz="1200" b="0" i="0" u="none" strike="noStrike" kern="1200" dirty="0">
                <a:solidFill>
                  <a:schemeClr val="tx1"/>
                </a:solidFill>
                <a:effectLst/>
                <a:latin typeface="+mn-lt"/>
                <a:ea typeface="+mn-ea"/>
                <a:cs typeface="+mn-cs"/>
              </a:rPr>
              <a:t> </a:t>
            </a:r>
            <a:r>
              <a:rPr lang="en-US" altLang="zh-CN" sz="1200" b="0" i="0" u="none" strike="noStrike" kern="1200" dirty="0">
                <a:solidFill>
                  <a:schemeClr val="tx1"/>
                </a:solidFill>
                <a:effectLst/>
                <a:latin typeface="+mn-lt"/>
                <a:ea typeface="+mn-ea"/>
                <a:cs typeface="+mn-cs"/>
              </a:rPr>
              <a:t>million</a:t>
            </a:r>
            <a:r>
              <a:rPr lang="zh-CN" altLang="en-US" sz="1200" b="0" i="0" u="none" strike="noStrike" kern="1200" dirty="0">
                <a:solidFill>
                  <a:schemeClr val="tx1"/>
                </a:solidFill>
                <a:effectLst/>
                <a:latin typeface="+mn-lt"/>
                <a:ea typeface="+mn-ea"/>
                <a:cs typeface="+mn-cs"/>
              </a:rPr>
              <a:t> </a:t>
            </a:r>
            <a:r>
              <a:rPr lang="en-US" altLang="zh-CN" sz="1200" b="0" i="0" u="none" strike="noStrike" kern="1200" dirty="0">
                <a:solidFill>
                  <a:schemeClr val="tx1"/>
                </a:solidFill>
                <a:effectLst/>
                <a:latin typeface="+mn-lt"/>
                <a:ea typeface="+mn-ea"/>
                <a:cs typeface="+mn-cs"/>
              </a:rPr>
              <a:t>cases】</a:t>
            </a:r>
          </a:p>
          <a:p>
            <a:r>
              <a:rPr kumimoji="1" lang="en-US" altLang="zh-CN" sz="1200" b="0" i="0" u="none" strike="noStrike" kern="1200" dirty="0">
                <a:solidFill>
                  <a:schemeClr val="tx1"/>
                </a:solidFill>
                <a:effectLst/>
                <a:latin typeface="+mn-lt"/>
                <a:ea typeface="+mn-ea"/>
                <a:cs typeface="+mn-cs"/>
              </a:rPr>
              <a:t>2.</a:t>
            </a:r>
            <a:r>
              <a:rPr lang="zh-CN" altLang="en-US" sz="1200" b="0" i="0" u="none" strike="noStrike" kern="1200" dirty="0">
                <a:solidFill>
                  <a:schemeClr val="tx1"/>
                </a:solidFill>
                <a:effectLst/>
                <a:latin typeface="+mn-lt"/>
                <a:ea typeface="+mn-ea"/>
                <a:cs typeface="+mn-cs"/>
              </a:rPr>
              <a:t>随后，这些答案会被送入校验器。如果答案是正确的（比如通过了测试用例），或者在对比中显著优于其他答案，它就会被保留下来 </a:t>
            </a:r>
            <a:endParaRPr kumimoji="1" lang="en-US" altLang="zh-CN" sz="1200" b="0" i="0" u="none" strike="noStrike" kern="1200" dirty="0">
              <a:solidFill>
                <a:schemeClr val="tx1"/>
              </a:solidFill>
              <a:effectLst/>
              <a:latin typeface="+mn-lt"/>
              <a:ea typeface="+mn-ea"/>
              <a:cs typeface="+mn-cs"/>
            </a:endParaRPr>
          </a:p>
          <a:p>
            <a:r>
              <a:rPr kumimoji="1" lang="en-US" altLang="zh-CN" sz="1200" b="0" i="0" u="none" strike="noStrike" kern="1200" dirty="0">
                <a:solidFill>
                  <a:schemeClr val="tx1"/>
                </a:solidFill>
                <a:effectLst/>
                <a:latin typeface="+mn-lt"/>
                <a:ea typeface="+mn-ea"/>
                <a:cs typeface="+mn-cs"/>
              </a:rPr>
              <a:t>3.</a:t>
            </a:r>
            <a:r>
              <a:rPr kumimoji="1" lang="zh-CN" altLang="en-US" sz="1200" b="0" i="0" u="none" strike="noStrike" kern="1200" dirty="0">
                <a:solidFill>
                  <a:schemeClr val="tx1"/>
                </a:solidFill>
                <a:effectLst/>
                <a:latin typeface="+mn-lt"/>
                <a:ea typeface="+mn-ea"/>
                <a:cs typeface="+mn-cs"/>
              </a:rPr>
              <a:t> </a:t>
            </a:r>
            <a:r>
              <a:rPr lang="en-US" altLang="zh-CN" sz="1200" b="1" i="0" u="none" strike="noStrike" kern="1200" dirty="0">
                <a:solidFill>
                  <a:schemeClr val="tx1"/>
                </a:solidFill>
                <a:effectLst/>
                <a:latin typeface="+mn-lt"/>
                <a:ea typeface="+mn-ea"/>
                <a:cs typeface="+mn-cs"/>
              </a:rPr>
              <a:t>60 </a:t>
            </a:r>
            <a:r>
              <a:rPr lang="zh-CN" altLang="en-US" sz="1200" b="1" i="0" u="none" strike="noStrike" kern="1200" dirty="0">
                <a:solidFill>
                  <a:schemeClr val="tx1"/>
                </a:solidFill>
                <a:effectLst/>
                <a:latin typeface="+mn-lt"/>
                <a:ea typeface="+mn-ea"/>
                <a:cs typeface="+mn-cs"/>
              </a:rPr>
              <a:t>万条</a:t>
            </a:r>
            <a:r>
              <a:rPr lang="zh-CN" altLang="en-US" sz="1200" b="0" i="0" u="none" strike="noStrike" kern="1200" dirty="0">
                <a:solidFill>
                  <a:schemeClr val="tx1"/>
                </a:solidFill>
                <a:effectLst/>
                <a:latin typeface="+mn-lt"/>
                <a:ea typeface="+mn-ea"/>
                <a:cs typeface="+mn-cs"/>
              </a:rPr>
              <a:t>极其高质量的推理数据 </a:t>
            </a:r>
            <a:r>
              <a:rPr lang="en-US" altLang="zh-CN" sz="1200" b="0" i="0" u="none" strike="noStrike" kern="1200" dirty="0">
                <a:solidFill>
                  <a:schemeClr val="tx1"/>
                </a:solidFill>
                <a:effectLst/>
                <a:latin typeface="+mn-lt"/>
                <a:ea typeface="+mn-ea"/>
                <a:cs typeface="+mn-cs"/>
              </a:rPr>
              <a:t>(Filtered reasoning data)</a:t>
            </a:r>
            <a:endParaRPr kumimoji="1" lang="en-US" altLang="zh-CN" sz="1200" b="0" i="0" u="none" strike="noStrike" kern="1200" dirty="0">
              <a:solidFill>
                <a:schemeClr val="tx1"/>
              </a:solidFill>
              <a:effectLst/>
              <a:latin typeface="+mn-lt"/>
              <a:ea typeface="+mn-ea"/>
              <a:cs typeface="+mn-cs"/>
            </a:endParaRPr>
          </a:p>
          <a:p>
            <a:endParaRPr kumimoji="1" lang="en-US" altLang="zh-CN" sz="1200" b="0" i="0" u="none" strike="noStrike" kern="1200" dirty="0">
              <a:solidFill>
                <a:schemeClr val="tx1"/>
              </a:solidFill>
              <a:effectLst/>
              <a:latin typeface="+mn-lt"/>
              <a:ea typeface="+mn-ea"/>
              <a:cs typeface="+mn-cs"/>
            </a:endParaRPr>
          </a:p>
          <a:p>
            <a:r>
              <a:rPr kumimoji="1" lang="en-US" altLang="zh-CN" sz="1200" b="1" i="0" u="none" strike="noStrike" kern="1200" dirty="0">
                <a:solidFill>
                  <a:schemeClr val="tx1"/>
                </a:solidFill>
                <a:effectLst/>
                <a:latin typeface="+mn-lt"/>
                <a:ea typeface="+mn-ea"/>
                <a:cs typeface="+mn-cs"/>
              </a:rPr>
              <a:t>Kimi-K2</a:t>
            </a:r>
            <a:r>
              <a:rPr kumimoji="1" lang="en-US" altLang="zh-CN" sz="1200" b="0" i="0" u="none" strike="noStrike" kern="1200" dirty="0">
                <a:solidFill>
                  <a:schemeClr val="tx1"/>
                </a:solidFill>
                <a:effectLst/>
                <a:latin typeface="+mn-lt"/>
                <a:ea typeface="+mn-ea"/>
                <a:cs typeface="+mn-cs"/>
              </a:rPr>
              <a:t>:</a:t>
            </a:r>
            <a:r>
              <a:rPr kumimoji="1" lang="zh-CN" altLang="en-US" sz="1200" b="0" i="0" u="none" strike="noStrike" kern="1200" dirty="0">
                <a:solidFill>
                  <a:schemeClr val="tx1"/>
                </a:solidFill>
                <a:effectLst/>
                <a:latin typeface="+mn-lt"/>
                <a:ea typeface="+mn-ea"/>
                <a:cs typeface="+mn-cs"/>
              </a:rPr>
              <a:t> </a:t>
            </a:r>
            <a:r>
              <a:rPr lang="zh-CN" altLang="en-US" sz="1200" b="0" i="0" u="none" strike="noStrike" kern="1200" dirty="0">
                <a:solidFill>
                  <a:schemeClr val="tx1"/>
                </a:solidFill>
                <a:effectLst/>
                <a:latin typeface="+mn-lt"/>
                <a:ea typeface="+mn-ea"/>
                <a:cs typeface="+mn-cs"/>
              </a:rPr>
              <a:t>训练模型</a:t>
            </a:r>
            <a:r>
              <a:rPr lang="zh-CN" altLang="en-US" sz="1200" b="1" i="0" u="none" strike="noStrike" kern="1200" dirty="0">
                <a:solidFill>
                  <a:schemeClr val="tx1"/>
                </a:solidFill>
                <a:effectLst/>
                <a:latin typeface="+mn-lt"/>
                <a:ea typeface="+mn-ea"/>
                <a:cs typeface="+mn-cs"/>
              </a:rPr>
              <a:t>使用工具 </a:t>
            </a:r>
            <a:r>
              <a:rPr lang="en-US" altLang="zh-CN" sz="1200" b="1" i="0" u="none" strike="noStrike" kern="1200" dirty="0">
                <a:solidFill>
                  <a:schemeClr val="tx1"/>
                </a:solidFill>
                <a:effectLst/>
                <a:latin typeface="+mn-lt"/>
                <a:ea typeface="+mn-ea"/>
                <a:cs typeface="+mn-cs"/>
              </a:rPr>
              <a:t>(build data for agentic tool use)</a:t>
            </a:r>
            <a:r>
              <a:rPr lang="zh-CN" altLang="en-US" sz="1200" b="0" i="0" u="none" strike="noStrike" kern="1200" dirty="0">
                <a:solidFill>
                  <a:schemeClr val="tx1"/>
                </a:solidFill>
                <a:effectLst/>
                <a:latin typeface="+mn-lt"/>
                <a:ea typeface="+mn-ea"/>
                <a:cs typeface="+mn-cs"/>
              </a:rPr>
              <a:t>。</a:t>
            </a:r>
            <a:endParaRPr kumimoji="1" lang="en-US" altLang="zh-CN" sz="1200" b="0" i="0" u="none" strike="noStrike" kern="1200" dirty="0">
              <a:solidFill>
                <a:schemeClr val="tx1"/>
              </a:solidFill>
              <a:effectLst/>
              <a:latin typeface="+mn-lt"/>
              <a:ea typeface="+mn-ea"/>
              <a:cs typeface="+mn-cs"/>
            </a:endParaRPr>
          </a:p>
          <a:p>
            <a:pPr marL="228600" indent="-228600">
              <a:buAutoNum type="arabicPeriod"/>
            </a:pPr>
            <a:r>
              <a:rPr lang="en-US" altLang="zh-CN" sz="1200" b="0" i="0" u="none" strike="noStrike" kern="1200" dirty="0">
                <a:solidFill>
                  <a:schemeClr val="tx1"/>
                </a:solidFill>
                <a:effectLst/>
                <a:latin typeface="+mn-lt"/>
                <a:ea typeface="+mn-ea"/>
                <a:cs typeface="+mn-cs"/>
              </a:rPr>
              <a:t>Kimi </a:t>
            </a:r>
            <a:r>
              <a:rPr lang="zh-CN" altLang="en-US" sz="1200" b="0" i="0" u="none" strike="noStrike" kern="1200" dirty="0">
                <a:solidFill>
                  <a:schemeClr val="tx1"/>
                </a:solidFill>
                <a:effectLst/>
                <a:latin typeface="+mn-lt"/>
                <a:ea typeface="+mn-ea"/>
                <a:cs typeface="+mn-cs"/>
              </a:rPr>
              <a:t>首先构建了一个庞大的工具库 </a:t>
            </a:r>
            <a:r>
              <a:rPr lang="en-US" altLang="zh-CN" sz="1200" b="0" i="0" u="none" strike="noStrike" kern="1200" dirty="0">
                <a:solidFill>
                  <a:schemeClr val="tx1"/>
                </a:solidFill>
                <a:effectLst/>
                <a:latin typeface="+mn-lt"/>
                <a:ea typeface="+mn-ea"/>
                <a:cs typeface="+mn-cs"/>
              </a:rPr>
              <a:t>(Tool Repository)</a:t>
            </a:r>
            <a:r>
              <a:rPr lang="zh-CN" altLang="en-US" sz="1200" b="0" i="0" u="none" strike="noStrike" kern="1200" dirty="0">
                <a:solidFill>
                  <a:schemeClr val="tx1"/>
                </a:solidFill>
                <a:effectLst/>
                <a:latin typeface="+mn-lt"/>
                <a:ea typeface="+mn-ea"/>
                <a:cs typeface="+mn-cs"/>
              </a:rPr>
              <a:t>，里面既有真实世界的工具配置 </a:t>
            </a:r>
            <a:r>
              <a:rPr lang="en-US" altLang="zh-CN" sz="1200" b="0" i="0" u="none" strike="noStrike" kern="1200" dirty="0">
                <a:solidFill>
                  <a:schemeClr val="tx1"/>
                </a:solidFill>
                <a:effectLst/>
                <a:latin typeface="+mn-lt"/>
                <a:ea typeface="+mn-ea"/>
                <a:cs typeface="+mn-cs"/>
              </a:rPr>
              <a:t>(real-world tool specs)</a:t>
            </a:r>
            <a:r>
              <a:rPr lang="zh-CN" altLang="en-US" sz="1200" b="0" i="0" u="none" strike="noStrike" kern="1200" dirty="0">
                <a:solidFill>
                  <a:schemeClr val="tx1"/>
                </a:solidFill>
                <a:effectLst/>
                <a:latin typeface="+mn-lt"/>
                <a:ea typeface="+mn-ea"/>
                <a:cs typeface="+mn-cs"/>
              </a:rPr>
              <a:t>，也有合成的工具配置 </a:t>
            </a:r>
            <a:r>
              <a:rPr lang="en-US" altLang="zh-CN" sz="1200" b="0" i="0" u="none" strike="noStrike" kern="1200" dirty="0">
                <a:solidFill>
                  <a:schemeClr val="tx1"/>
                </a:solidFill>
                <a:effectLst/>
                <a:latin typeface="+mn-lt"/>
                <a:ea typeface="+mn-ea"/>
                <a:cs typeface="+mn-cs"/>
              </a:rPr>
              <a:t>(synthesized tool specs)</a:t>
            </a:r>
            <a:r>
              <a:rPr lang="zh-CN" altLang="en-US" sz="1200" b="0" i="0" u="none" strike="noStrike" kern="1200" dirty="0">
                <a:solidFill>
                  <a:schemeClr val="tx1"/>
                </a:solidFill>
                <a:effectLst/>
                <a:latin typeface="+mn-lt"/>
                <a:ea typeface="+mn-ea"/>
                <a:cs typeface="+mn-cs"/>
              </a:rPr>
              <a:t>。同时，系统会合成各种各样的任务 </a:t>
            </a:r>
            <a:r>
              <a:rPr lang="en-US" altLang="zh-CN" sz="1200" b="0" i="0" u="none" strike="noStrike" kern="1200" dirty="0">
                <a:solidFill>
                  <a:schemeClr val="tx1"/>
                </a:solidFill>
                <a:effectLst/>
                <a:latin typeface="+mn-lt"/>
                <a:ea typeface="+mn-ea"/>
                <a:cs typeface="+mn-cs"/>
              </a:rPr>
              <a:t>(Tasks with rubrics) </a:t>
            </a:r>
            <a:r>
              <a:rPr lang="zh-CN" altLang="en-US" sz="1200" b="0" i="0" u="none" strike="noStrike" kern="1200" dirty="0">
                <a:solidFill>
                  <a:schemeClr val="tx1"/>
                </a:solidFill>
                <a:effectLst/>
                <a:latin typeface="+mn-lt"/>
                <a:ea typeface="+mn-ea"/>
                <a:cs typeface="+mn-cs"/>
              </a:rPr>
              <a:t>和对应的智能体 </a:t>
            </a:r>
            <a:r>
              <a:rPr lang="en-US" altLang="zh-CN" sz="1200" b="0" i="0" u="none" strike="noStrike" kern="1200" dirty="0">
                <a:solidFill>
                  <a:schemeClr val="tx1"/>
                </a:solidFill>
                <a:effectLst/>
                <a:latin typeface="+mn-lt"/>
                <a:ea typeface="+mn-ea"/>
                <a:cs typeface="+mn-cs"/>
              </a:rPr>
              <a:t>(Agents)</a:t>
            </a:r>
            <a:r>
              <a:rPr lang="zh-CN" altLang="en-US" sz="1200" b="0" i="0" u="none" strike="noStrike" kern="1200" dirty="0">
                <a:solidFill>
                  <a:schemeClr val="tx1"/>
                </a:solidFill>
                <a:effectLst/>
                <a:latin typeface="+mn-lt"/>
                <a:ea typeface="+mn-ea"/>
                <a:cs typeface="+mn-cs"/>
              </a:rPr>
              <a:t>。</a:t>
            </a:r>
            <a:endParaRPr lang="en-US" altLang="zh-CN" sz="1200" b="0" i="0" u="none" strike="noStrike" kern="1200" dirty="0">
              <a:solidFill>
                <a:schemeClr val="tx1"/>
              </a:solidFill>
              <a:effectLst/>
              <a:latin typeface="+mn-lt"/>
              <a:ea typeface="+mn-ea"/>
              <a:cs typeface="+mn-cs"/>
            </a:endParaRPr>
          </a:p>
          <a:p>
            <a:pPr marL="228600" indent="-228600">
              <a:buAutoNum type="arabicPeriod"/>
            </a:pPr>
            <a:r>
              <a:rPr kumimoji="1" lang="en-US" altLang="zh-CN" sz="1200" b="1" i="0" u="none" strike="noStrike" kern="1200" dirty="0">
                <a:solidFill>
                  <a:schemeClr val="tx1"/>
                </a:solidFill>
                <a:effectLst/>
                <a:latin typeface="+mn-lt"/>
                <a:ea typeface="+mn-ea"/>
                <a:cs typeface="+mn-cs"/>
              </a:rPr>
              <a:t>User</a:t>
            </a:r>
            <a:r>
              <a:rPr kumimoji="1" lang="zh-CN" altLang="en-US" sz="1200" b="1" i="0" u="none" strike="noStrike" kern="1200" dirty="0">
                <a:solidFill>
                  <a:schemeClr val="tx1"/>
                </a:solidFill>
                <a:effectLst/>
                <a:latin typeface="+mn-lt"/>
                <a:ea typeface="+mn-ea"/>
                <a:cs typeface="+mn-cs"/>
              </a:rPr>
              <a:t> </a:t>
            </a:r>
            <a:r>
              <a:rPr kumimoji="1" lang="en-US" altLang="zh-CN" sz="1200" b="1" i="0" u="none" strike="noStrike" kern="1200" dirty="0">
                <a:solidFill>
                  <a:schemeClr val="tx1"/>
                </a:solidFill>
                <a:effectLst/>
                <a:latin typeface="+mn-lt"/>
                <a:ea typeface="+mn-ea"/>
                <a:cs typeface="+mn-cs"/>
              </a:rPr>
              <a:t>Agent</a:t>
            </a:r>
            <a:r>
              <a:rPr kumimoji="1" lang="zh-CN" altLang="en-US"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系统让一个由 </a:t>
            </a:r>
            <a:r>
              <a:rPr lang="en-US" altLang="zh-CN" sz="1200" b="0" i="0" u="none" strike="noStrike" kern="1200" dirty="0">
                <a:solidFill>
                  <a:schemeClr val="tx1"/>
                </a:solidFill>
                <a:effectLst/>
                <a:latin typeface="+mn-lt"/>
                <a:ea typeface="+mn-ea"/>
                <a:cs typeface="+mn-cs"/>
              </a:rPr>
              <a:t>LLM </a:t>
            </a:r>
            <a:r>
              <a:rPr lang="zh-CN" altLang="en-US" sz="1200" b="0" i="0" u="none" strike="noStrike" kern="1200" dirty="0">
                <a:solidFill>
                  <a:schemeClr val="tx1"/>
                </a:solidFill>
                <a:effectLst/>
                <a:latin typeface="+mn-lt"/>
                <a:ea typeface="+mn-ea"/>
                <a:cs typeface="+mn-cs"/>
              </a:rPr>
              <a:t>扮演的“用户 </a:t>
            </a:r>
            <a:r>
              <a:rPr lang="en-US" altLang="zh-CN" sz="1200" b="0" i="0" u="none" strike="noStrike" kern="1200" dirty="0">
                <a:solidFill>
                  <a:schemeClr val="tx1"/>
                </a:solidFill>
                <a:effectLst/>
                <a:latin typeface="+mn-lt"/>
                <a:ea typeface="+mn-ea"/>
                <a:cs typeface="+mn-cs"/>
              </a:rPr>
              <a:t>(User Agent)”</a:t>
            </a:r>
            <a:r>
              <a:rPr lang="zh-CN" altLang="en-US" sz="1200" b="0" i="0" u="none" strike="noStrike" kern="1200" dirty="0">
                <a:solidFill>
                  <a:schemeClr val="tx1"/>
                </a:solidFill>
                <a:effectLst/>
                <a:latin typeface="+mn-lt"/>
                <a:ea typeface="+mn-ea"/>
                <a:cs typeface="+mn-cs"/>
              </a:rPr>
              <a:t>向被训练的“智能体 </a:t>
            </a:r>
            <a:r>
              <a:rPr lang="en-US" altLang="zh-CN" sz="1200" b="0" i="0" u="none" strike="noStrike" kern="1200" dirty="0">
                <a:solidFill>
                  <a:schemeClr val="tx1"/>
                </a:solidFill>
                <a:effectLst/>
                <a:latin typeface="+mn-lt"/>
                <a:ea typeface="+mn-ea"/>
                <a:cs typeface="+mn-cs"/>
              </a:rPr>
              <a:t>(Agent)”</a:t>
            </a:r>
            <a:r>
              <a:rPr lang="zh-CN" altLang="en-US" sz="1200" b="0" i="0" u="none" strike="noStrike" kern="1200" dirty="0">
                <a:solidFill>
                  <a:schemeClr val="tx1"/>
                </a:solidFill>
                <a:effectLst/>
                <a:latin typeface="+mn-lt"/>
                <a:ea typeface="+mn-ea"/>
                <a:cs typeface="+mn-cs"/>
              </a:rPr>
              <a:t>下达指令。该 </a:t>
            </a:r>
            <a:r>
              <a:rPr lang="en-US" altLang="zh-CN" sz="1200" b="0" i="0" u="none" strike="noStrike" kern="1200" dirty="0">
                <a:solidFill>
                  <a:schemeClr val="tx1"/>
                </a:solidFill>
                <a:effectLst/>
                <a:latin typeface="+mn-lt"/>
                <a:ea typeface="+mn-ea"/>
                <a:cs typeface="+mn-cs"/>
              </a:rPr>
              <a:t>Agent </a:t>
            </a:r>
            <a:r>
              <a:rPr lang="zh-CN" altLang="en-US" sz="1200" b="0" i="0" u="none" strike="noStrike" kern="1200" dirty="0">
                <a:solidFill>
                  <a:schemeClr val="tx1"/>
                </a:solidFill>
                <a:effectLst/>
                <a:latin typeface="+mn-lt"/>
                <a:ea typeface="+mn-ea"/>
                <a:cs typeface="+mn-cs"/>
              </a:rPr>
              <a:t>在一个“工具模拟器 </a:t>
            </a:r>
            <a:r>
              <a:rPr lang="en-US" altLang="zh-CN" sz="1200" b="0" i="0" u="none" strike="noStrike" kern="1200" dirty="0">
                <a:solidFill>
                  <a:schemeClr val="tx1"/>
                </a:solidFill>
                <a:effectLst/>
                <a:latin typeface="+mn-lt"/>
                <a:ea typeface="+mn-ea"/>
                <a:cs typeface="+mn-cs"/>
              </a:rPr>
              <a:t>(Tool Simulator)”</a:t>
            </a:r>
            <a:r>
              <a:rPr lang="zh-CN" altLang="en-US" sz="1200" b="0" i="0" u="none" strike="noStrike" kern="1200" dirty="0">
                <a:solidFill>
                  <a:schemeClr val="tx1"/>
                </a:solidFill>
                <a:effectLst/>
                <a:latin typeface="+mn-lt"/>
                <a:ea typeface="+mn-ea"/>
                <a:cs typeface="+mn-cs"/>
              </a:rPr>
              <a:t>中不断尝试调用工具、观察结果。这个过程会产生大量完整的行为轨迹 </a:t>
            </a:r>
            <a:r>
              <a:rPr lang="en-US" altLang="zh-CN" sz="1200" b="0" i="0" u="none" strike="noStrike" kern="1200" dirty="0">
                <a:solidFill>
                  <a:schemeClr val="tx1"/>
                </a:solidFill>
                <a:effectLst/>
                <a:latin typeface="+mn-lt"/>
                <a:ea typeface="+mn-ea"/>
                <a:cs typeface="+mn-cs"/>
              </a:rPr>
              <a:t>(trajectories)</a:t>
            </a:r>
            <a:r>
              <a:rPr lang="zh-CN" altLang="en-US" sz="1200" b="0" i="0" u="none" strike="noStrike" kern="1200" dirty="0">
                <a:solidFill>
                  <a:schemeClr val="tx1"/>
                </a:solidFill>
                <a:effectLst/>
                <a:latin typeface="+mn-lt"/>
                <a:ea typeface="+mn-ea"/>
                <a:cs typeface="+mn-cs"/>
              </a:rPr>
              <a:t>。</a:t>
            </a:r>
            <a:endParaRPr kumimoji="1" lang="en-US" altLang="zh-CN" sz="1200" b="0" i="0" u="none" strike="noStrike" kern="1200" dirty="0">
              <a:solidFill>
                <a:schemeClr val="tx1"/>
              </a:solidFill>
              <a:effectLst/>
              <a:latin typeface="+mn-lt"/>
              <a:ea typeface="+mn-ea"/>
              <a:cs typeface="+mn-cs"/>
            </a:endParaRPr>
          </a:p>
          <a:p>
            <a:r>
              <a:rPr kumimoji="1" lang="en-US" altLang="zh-CN" sz="1200" b="0" i="0" u="none" strike="noStrike" kern="1200" dirty="0">
                <a:solidFill>
                  <a:schemeClr val="tx1"/>
                </a:solidFill>
                <a:effectLst/>
                <a:latin typeface="+mn-lt"/>
                <a:ea typeface="+mn-ea"/>
                <a:cs typeface="+mn-cs"/>
              </a:rPr>
              <a:t>3.</a:t>
            </a:r>
            <a:r>
              <a:rPr lang="zh-CN" altLang="en-US" sz="1200" b="0" i="0" u="none" strike="noStrike" kern="1200" dirty="0">
                <a:solidFill>
                  <a:schemeClr val="tx1"/>
                </a:solidFill>
                <a:effectLst/>
                <a:latin typeface="+mn-lt"/>
                <a:ea typeface="+mn-ea"/>
                <a:cs typeface="+mn-cs"/>
              </a:rPr>
              <a:t>一个专门负责当裁判的模型 </a:t>
            </a:r>
            <a:r>
              <a:rPr lang="en-US" altLang="zh-CN" sz="1200" b="0" i="0" u="none" strike="noStrike" kern="1200" dirty="0">
                <a:solidFill>
                  <a:schemeClr val="tx1"/>
                </a:solidFill>
                <a:effectLst/>
                <a:latin typeface="+mn-lt"/>
                <a:ea typeface="+mn-ea"/>
                <a:cs typeface="+mn-cs"/>
              </a:rPr>
              <a:t>(Judge Agent) </a:t>
            </a:r>
            <a:r>
              <a:rPr lang="zh-CN" altLang="en-US" sz="1200" b="0" i="0" u="none" strike="noStrike" kern="1200" dirty="0">
                <a:solidFill>
                  <a:schemeClr val="tx1"/>
                </a:solidFill>
                <a:effectLst/>
                <a:latin typeface="+mn-lt"/>
                <a:ea typeface="+mn-ea"/>
                <a:cs typeface="+mn-cs"/>
              </a:rPr>
              <a:t>会拿着评分标准 </a:t>
            </a:r>
            <a:r>
              <a:rPr lang="en-US" altLang="zh-CN" sz="1200" b="0" i="0" u="none" strike="noStrike" kern="1200" dirty="0">
                <a:solidFill>
                  <a:schemeClr val="tx1"/>
                </a:solidFill>
                <a:effectLst/>
                <a:latin typeface="+mn-lt"/>
                <a:ea typeface="+mn-ea"/>
                <a:cs typeface="+mn-cs"/>
              </a:rPr>
              <a:t>(Rubrics) </a:t>
            </a:r>
            <a:r>
              <a:rPr lang="zh-CN" altLang="en-US" sz="1200" b="0" i="0" u="none" strike="noStrike" kern="1200" dirty="0">
                <a:solidFill>
                  <a:schemeClr val="tx1"/>
                </a:solidFill>
                <a:effectLst/>
                <a:latin typeface="+mn-lt"/>
                <a:ea typeface="+mn-ea"/>
                <a:cs typeface="+mn-cs"/>
              </a:rPr>
              <a:t>对这些行为轨迹进行审核。</a:t>
            </a:r>
            <a:endParaRPr kumimoji="1" lang="en-US" altLang="zh-CN" sz="1200" b="0" i="0" u="none" strike="noStrike" kern="1200" dirty="0">
              <a:solidFill>
                <a:schemeClr val="tx1"/>
              </a:solidFill>
              <a:effectLst/>
              <a:latin typeface="+mn-lt"/>
              <a:ea typeface="+mn-ea"/>
              <a:cs typeface="+mn-cs"/>
            </a:endParaRPr>
          </a:p>
          <a:p>
            <a:endParaRPr kumimoji="1" lang="en-US" altLang="zh-CN" sz="1200" b="0" i="0" u="none" strike="noStrike" kern="1200" dirty="0">
              <a:solidFill>
                <a:schemeClr val="tx1"/>
              </a:solidFill>
              <a:effectLst/>
              <a:latin typeface="+mn-lt"/>
              <a:ea typeface="+mn-ea"/>
              <a:cs typeface="+mn-cs"/>
            </a:endParaRPr>
          </a:p>
          <a:p>
            <a:r>
              <a:rPr lang="en-US" altLang="zh-CN" sz="1200" b="0" i="0" u="none" strike="noStrike" kern="1200" dirty="0">
                <a:solidFill>
                  <a:schemeClr val="tx1"/>
                </a:solidFill>
                <a:effectLst/>
                <a:latin typeface="+mn-lt"/>
                <a:ea typeface="+mn-ea"/>
                <a:cs typeface="+mn-cs"/>
              </a:rPr>
              <a:t>Rubrics</a:t>
            </a:r>
            <a:r>
              <a:rPr lang="zh-CN" altLang="en-US" sz="1200" b="0" i="0" u="none" strike="noStrike" kern="1200" dirty="0">
                <a:solidFill>
                  <a:schemeClr val="tx1"/>
                </a:solidFill>
                <a:effectLst/>
                <a:latin typeface="+mn-lt"/>
                <a:ea typeface="+mn-ea"/>
                <a:cs typeface="+mn-cs"/>
              </a:rPr>
              <a:t>：</a:t>
            </a:r>
            <a:endParaRPr lang="en-US" altLang="zh-CN" sz="1200" b="0" i="0" u="none" strike="noStrike" kern="1200" dirty="0">
              <a:solidFill>
                <a:schemeClr val="tx1"/>
              </a:solidFill>
              <a:effectLst/>
              <a:latin typeface="+mn-lt"/>
              <a:ea typeface="+mn-ea"/>
              <a:cs typeface="+mn-cs"/>
            </a:endParaRPr>
          </a:p>
          <a:p>
            <a:r>
              <a:rPr kumimoji="1" lang="en-US" altLang="zh-CN" dirty="0"/>
              <a:t>Rubrics</a:t>
            </a:r>
            <a:r>
              <a:rPr kumimoji="1" lang="zh-CN" altLang="en-US" dirty="0"/>
              <a:t>说明什么是好的，</a:t>
            </a:r>
            <a:r>
              <a:rPr kumimoji="1" lang="en-US" altLang="zh-CN" dirty="0"/>
              <a:t>Data</a:t>
            </a:r>
            <a:r>
              <a:rPr kumimoji="1" lang="zh-CN" altLang="en-US" dirty="0"/>
              <a:t> </a:t>
            </a:r>
            <a:r>
              <a:rPr kumimoji="1" lang="en-US" altLang="zh-CN" dirty="0"/>
              <a:t>Synthesis</a:t>
            </a:r>
            <a:r>
              <a:rPr kumimoji="1" lang="zh-CN" altLang="en-US" dirty="0"/>
              <a:t>生成好数据</a:t>
            </a:r>
            <a:endParaRPr kumimoji="1" lang="en-US" altLang="zh-CN" dirty="0"/>
          </a:p>
          <a:p>
            <a:endParaRPr kumimoji="1" lang="en-US" altLang="zh-CN" dirty="0"/>
          </a:p>
          <a:p>
            <a:r>
              <a:rPr lang="en-US" altLang="zh-CN" sz="1200" kern="1200" dirty="0">
                <a:solidFill>
                  <a:schemeClr val="tx1"/>
                </a:solidFill>
                <a:effectLst/>
                <a:latin typeface="+mn-lt"/>
                <a:ea typeface="+mn-ea"/>
                <a:cs typeface="+mn-cs"/>
              </a:rPr>
              <a:t>Rubrics are design to be </a:t>
            </a:r>
            <a:endParaRPr lang="en-US" altLang="zh-CN" dirty="0"/>
          </a:p>
          <a:p>
            <a:r>
              <a:rPr lang="en-US" altLang="zh-CN" sz="1200" kern="1200" dirty="0">
                <a:solidFill>
                  <a:schemeClr val="tx1"/>
                </a:solidFill>
                <a:effectLst/>
                <a:latin typeface="+mn-lt"/>
                <a:ea typeface="+mn-ea"/>
                <a:cs typeface="+mn-cs"/>
              </a:rPr>
              <a:t>• highly detailed and interpretable, </a:t>
            </a:r>
            <a:endParaRPr lang="en-US" altLang="zh-CN" dirty="0"/>
          </a:p>
          <a:p>
            <a:r>
              <a:rPr lang="en-US" altLang="zh-CN" sz="1200" kern="1200" dirty="0">
                <a:solidFill>
                  <a:schemeClr val="tx1"/>
                </a:solidFill>
                <a:effectLst/>
                <a:latin typeface="+mn-lt"/>
                <a:ea typeface="+mn-ea"/>
                <a:cs typeface="+mn-cs"/>
              </a:rPr>
              <a:t>• Structured and enable precise grading</a:t>
            </a:r>
            <a:endParaRPr lang="en-US" altLang="zh-CN" dirty="0"/>
          </a:p>
          <a:p>
            <a:endParaRPr kumimoji="1" lang="en-US" altLang="zh-CN" dirty="0"/>
          </a:p>
          <a:p>
            <a:r>
              <a:rPr lang="en-US" altLang="zh-CN" sz="1200" kern="1200" dirty="0">
                <a:solidFill>
                  <a:schemeClr val="tx1"/>
                </a:solidFill>
                <a:effectLst/>
                <a:latin typeface="+mn-lt"/>
                <a:ea typeface="+mn-ea"/>
                <a:cs typeface="+mn-cs"/>
              </a:rPr>
              <a:t>Tackling open-domain and complex tasks </a:t>
            </a:r>
            <a:endParaRPr lang="en-US" altLang="zh-CN" dirty="0"/>
          </a:p>
          <a:p>
            <a:r>
              <a:rPr lang="en-US" altLang="zh-CN" sz="1200" kern="1200" dirty="0">
                <a:solidFill>
                  <a:schemeClr val="tx1"/>
                </a:solidFill>
                <a:effectLst/>
                <a:latin typeface="+mn-lt"/>
                <a:ea typeface="+mn-ea"/>
                <a:cs typeface="+mn-cs"/>
              </a:rPr>
              <a:t>• Spanning hours, days, or even months</a:t>
            </a:r>
          </a:p>
          <a:p>
            <a:endParaRPr lang="en-US" altLang="zh-CN" sz="1200" b="0" i="0" u="none" strike="noStrike"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12</a:t>
            </a:fld>
            <a:endParaRPr kumimoji="1" lang="zh-CN" altLang="en-US"/>
          </a:p>
        </p:txBody>
      </p:sp>
    </p:spTree>
    <p:extLst>
      <p:ext uri="{BB962C8B-B14F-4D97-AF65-F5344CB8AC3E}">
        <p14:creationId xmlns:p14="http://schemas.microsoft.com/office/powerpoint/2010/main" val="2244202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13</a:t>
            </a:fld>
            <a:endParaRPr kumimoji="1" lang="zh-CN" altLang="en-US"/>
          </a:p>
        </p:txBody>
      </p:sp>
    </p:spTree>
    <p:extLst>
      <p:ext uri="{BB962C8B-B14F-4D97-AF65-F5344CB8AC3E}">
        <p14:creationId xmlns:p14="http://schemas.microsoft.com/office/powerpoint/2010/main" val="2288459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kumimoji="1" lang="en-US" altLang="zh-CN" dirty="0"/>
          </a:p>
          <a:p>
            <a:pPr marL="228600" indent="-228600">
              <a:buAutoNum type="arabicPeriod"/>
            </a:pPr>
            <a:r>
              <a:rPr lang="en-US" altLang="zh-CN" sz="1200" b="1" i="0" u="none" strike="noStrike" kern="1200" dirty="0">
                <a:solidFill>
                  <a:schemeClr val="tx1"/>
                </a:solidFill>
                <a:effectLst/>
                <a:latin typeface="+mn-lt"/>
                <a:ea typeface="+mn-ea"/>
                <a:cs typeface="+mn-cs"/>
              </a:rPr>
              <a:t>Grading:</a:t>
            </a:r>
          </a:p>
          <a:p>
            <a:pPr marL="685800" lvl="1" indent="-228600">
              <a:buAutoNum type="arabicPeriod"/>
            </a:pPr>
            <a:r>
              <a:rPr lang="en-US" altLang="zh-CN" sz="1200" b="0" i="0" u="none" strike="noStrike" kern="1200" dirty="0">
                <a:solidFill>
                  <a:schemeClr val="tx1"/>
                </a:solidFill>
                <a:effectLst/>
                <a:latin typeface="+mn-lt"/>
                <a:ea typeface="+mn-ea"/>
                <a:cs typeface="+mn-cs"/>
              </a:rPr>
              <a:t>New grader: </a:t>
            </a:r>
            <a:r>
              <a:rPr lang="zh-CN" altLang="en-US" sz="1200" b="0" i="0" u="none" strike="noStrike" kern="1200" dirty="0">
                <a:solidFill>
                  <a:schemeClr val="tx1"/>
                </a:solidFill>
                <a:effectLst/>
                <a:latin typeface="+mn-lt"/>
                <a:ea typeface="+mn-ea"/>
                <a:cs typeface="+mn-cs"/>
              </a:rPr>
              <a:t>随着 </a:t>
            </a:r>
            <a:r>
              <a:rPr lang="en-US" altLang="zh-CN" sz="1200" b="0" i="0" u="none" strike="noStrike" kern="1200" dirty="0">
                <a:solidFill>
                  <a:schemeClr val="tx1"/>
                </a:solidFill>
                <a:effectLst/>
                <a:latin typeface="+mn-lt"/>
                <a:ea typeface="+mn-ea"/>
                <a:cs typeface="+mn-cs"/>
              </a:rPr>
              <a:t>Agent </a:t>
            </a:r>
            <a:r>
              <a:rPr lang="zh-CN" altLang="en-US" sz="1200" b="0" i="0" u="none" strike="noStrike" kern="1200" dirty="0">
                <a:solidFill>
                  <a:schemeClr val="tx1"/>
                </a:solidFill>
                <a:effectLst/>
                <a:latin typeface="+mn-lt"/>
                <a:ea typeface="+mn-ea"/>
                <a:cs typeface="+mn-cs"/>
              </a:rPr>
              <a:t>能力的提升，老的裁判可能不够用了，你需要不断开发新的裁判，并和老裁判组合起来使用。</a:t>
            </a:r>
            <a:endParaRPr lang="en-US" altLang="zh-CN" sz="1200" b="0" i="0" u="none" strike="noStrike" kern="1200" dirty="0">
              <a:solidFill>
                <a:schemeClr val="tx1"/>
              </a:solidFill>
              <a:effectLst/>
              <a:latin typeface="+mn-lt"/>
              <a:ea typeface="+mn-ea"/>
              <a:cs typeface="+mn-cs"/>
            </a:endParaRPr>
          </a:p>
          <a:p>
            <a:pPr marL="685800" lvl="1" indent="-228600">
              <a:buAutoNum type="arabicPeriod"/>
            </a:pPr>
            <a:endParaRPr kumimoji="1" lang="en-US" altLang="zh-CN" dirty="0"/>
          </a:p>
          <a:p>
            <a:pPr marL="228600" indent="-228600">
              <a:buAutoNum type="arabicPeriod"/>
            </a:pPr>
            <a:endParaRPr kumimoji="1" lang="en-US" altLang="zh-CN" dirty="0"/>
          </a:p>
          <a:p>
            <a:pPr marL="228600" indent="-228600">
              <a:buAutoNum type="arabicPeriod"/>
            </a:pPr>
            <a:r>
              <a:rPr kumimoji="1" lang="en-US" altLang="zh-CN" b="1" dirty="0"/>
              <a:t>Other things: </a:t>
            </a:r>
          </a:p>
          <a:p>
            <a:endParaRPr lang="en-US"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High</a:t>
            </a:r>
            <a:r>
              <a:rPr lang="zh-CN" altLang="en-US" sz="1200" b="1" kern="1200" dirty="0">
                <a:solidFill>
                  <a:schemeClr val="tx1"/>
                </a:solidFill>
                <a:effectLst/>
                <a:latin typeface="+mn-lt"/>
                <a:ea typeface="+mn-ea"/>
                <a:cs typeface="+mn-cs"/>
              </a:rPr>
              <a:t> </a:t>
            </a:r>
            <a:r>
              <a:rPr lang="en-US" altLang="zh-CN" sz="1200" b="1" kern="1200" dirty="0">
                <a:solidFill>
                  <a:schemeClr val="tx1"/>
                </a:solidFill>
                <a:effectLst/>
                <a:latin typeface="+mn-lt"/>
                <a:ea typeface="+mn-ea"/>
                <a:cs typeface="+mn-cs"/>
              </a:rPr>
              <a:t>Entropy</a:t>
            </a:r>
            <a:r>
              <a:rPr lang="zh-CN" altLang="en-US" sz="1200" b="1" kern="1200" dirty="0">
                <a:solidFill>
                  <a:schemeClr val="tx1"/>
                </a:solidFill>
                <a:effectLst/>
                <a:latin typeface="+mn-lt"/>
                <a:ea typeface="+mn-ea"/>
                <a:cs typeface="+mn-cs"/>
              </a:rPr>
              <a:t>：</a:t>
            </a:r>
            <a:endParaRPr lang="en-US" altLang="zh-CN" sz="1200" b="1" kern="1200" dirty="0">
              <a:solidFill>
                <a:schemeClr val="tx1"/>
              </a:solidFill>
              <a:effectLst/>
              <a:latin typeface="+mn-lt"/>
              <a:ea typeface="+mn-ea"/>
              <a:cs typeface="+mn-cs"/>
            </a:endParaRPr>
          </a:p>
          <a:p>
            <a:pPr rtl="0" fontAlgn="base"/>
            <a:r>
              <a:rPr lang="zh-CN" altLang="en-US" sz="1200" b="1" i="0" u="none" strike="noStrike" kern="1200" dirty="0">
                <a:solidFill>
                  <a:schemeClr val="tx1"/>
                </a:solidFill>
                <a:effectLst/>
                <a:latin typeface="+mn-lt"/>
                <a:ea typeface="+mn-ea"/>
                <a:cs typeface="+mn-cs"/>
              </a:rPr>
              <a:t>空转（</a:t>
            </a:r>
            <a:r>
              <a:rPr lang="en-US" altLang="zh-CN" sz="1200" b="1" i="0" u="none" strike="noStrike" kern="1200" dirty="0">
                <a:solidFill>
                  <a:schemeClr val="tx1"/>
                </a:solidFill>
                <a:effectLst/>
                <a:latin typeface="+mn-lt"/>
                <a:ea typeface="+mn-ea"/>
                <a:cs typeface="+mn-cs"/>
              </a:rPr>
              <a:t>void turns</a:t>
            </a:r>
            <a:r>
              <a:rPr lang="zh-CN" altLang="en-US" sz="1200" b="1" i="0" u="none" strike="noStrike" kern="1200" dirty="0">
                <a:solidFill>
                  <a:schemeClr val="tx1"/>
                </a:solidFill>
                <a:effectLst/>
                <a:latin typeface="+mn-lt"/>
                <a:ea typeface="+mn-ea"/>
                <a:cs typeface="+mn-cs"/>
              </a:rPr>
              <a:t>）</a:t>
            </a:r>
            <a:r>
              <a:rPr lang="en-US" altLang="zh-CN" sz="1200" b="1" i="0" u="none" strike="noStrike" kern="1200" dirty="0">
                <a:solidFill>
                  <a:schemeClr val="tx1"/>
                </a:solidFill>
                <a:effectLst/>
                <a:latin typeface="+mn-lt"/>
                <a:ea typeface="+mn-ea"/>
                <a:cs typeface="+mn-cs"/>
              </a:rPr>
              <a:t>: </a:t>
            </a:r>
            <a:r>
              <a:rPr lang="zh-CN" altLang="en-US" sz="1200" b="0" i="0" u="none" strike="noStrike" kern="1200" dirty="0">
                <a:solidFill>
                  <a:schemeClr val="tx1"/>
                </a:solidFill>
                <a:effectLst/>
                <a:latin typeface="+mn-lt"/>
                <a:ea typeface="+mn-ea"/>
                <a:cs typeface="+mn-cs"/>
              </a:rPr>
              <a:t>不推动任务进展的反应，如文本碎片化、内容重复或提前终止</a:t>
            </a:r>
            <a:r>
              <a:rPr lang="en-US" altLang="zh-CN" sz="1200" b="0" i="0" u="none" strike="noStrike" kern="1200" dirty="0">
                <a:solidFill>
                  <a:schemeClr val="tx1"/>
                </a:solidFill>
                <a:effectLst/>
                <a:latin typeface="+mn-lt"/>
                <a:ea typeface="+mn-ea"/>
                <a:cs typeface="+mn-cs"/>
              </a:rPr>
              <a:t>;  </a:t>
            </a:r>
            <a:r>
              <a:rPr lang="zh-CN" altLang="en-US" sz="1200" b="0" i="0" u="none" strike="noStrike" kern="1200" dirty="0">
                <a:solidFill>
                  <a:schemeClr val="tx1"/>
                </a:solidFill>
                <a:effectLst/>
                <a:latin typeface="+mn-lt"/>
                <a:ea typeface="+mn-ea"/>
                <a:cs typeface="+mn-cs"/>
              </a:rPr>
              <a:t>一旦产生，它们会在后续回合中传播，形成有害的反馈循环。这些误差主要源于</a:t>
            </a:r>
            <a:r>
              <a:rPr lang="zh-CN" altLang="en-US" sz="1200" b="0" i="0" u="sng" strike="noStrike" kern="1200" dirty="0">
                <a:solidFill>
                  <a:schemeClr val="tx1"/>
                </a:solidFill>
                <a:effectLst/>
                <a:latin typeface="+mn-lt"/>
                <a:ea typeface="+mn-ea"/>
                <a:cs typeface="+mn-cs"/>
              </a:rPr>
              <a:t>预训练推断与多回合推断之间的分布偏移，模型必须处理预训练期间未存在的外部工具输出或中间信号，增加了生成畸形的（</a:t>
            </a:r>
            <a:r>
              <a:rPr lang="en-US" altLang="zh-CN" sz="1200" b="0" i="0" u="sng" strike="noStrike" kern="1200" dirty="0">
                <a:solidFill>
                  <a:schemeClr val="tx1"/>
                </a:solidFill>
                <a:effectLst/>
                <a:latin typeface="+mn-lt"/>
                <a:ea typeface="+mn-ea"/>
                <a:cs typeface="+mn-cs"/>
              </a:rPr>
              <a:t>malformed</a:t>
            </a:r>
            <a:r>
              <a:rPr lang="zh-CN" altLang="en-US" sz="1200" b="0" i="0" u="sng" strike="noStrike" kern="1200" dirty="0">
                <a:solidFill>
                  <a:schemeClr val="tx1"/>
                </a:solidFill>
                <a:effectLst/>
                <a:latin typeface="+mn-lt"/>
                <a:ea typeface="+mn-ea"/>
                <a:cs typeface="+mn-cs"/>
              </a:rPr>
              <a:t>） </a:t>
            </a:r>
            <a:r>
              <a:rPr lang="en-US" altLang="zh-CN" sz="1200" b="0" i="0" u="sng" strike="noStrike" kern="1200" dirty="0">
                <a:solidFill>
                  <a:schemeClr val="tx1"/>
                </a:solidFill>
                <a:effectLst/>
                <a:latin typeface="+mn-lt"/>
                <a:ea typeface="+mn-ea"/>
                <a:cs typeface="+mn-cs"/>
              </a:rPr>
              <a:t>generation</a:t>
            </a:r>
            <a:r>
              <a:rPr lang="zh-CN" altLang="en-US" sz="1200" b="0" i="0" u="sng" strike="noStrike" kern="1200" dirty="0">
                <a:solidFill>
                  <a:schemeClr val="tx1"/>
                </a:solidFill>
                <a:effectLst/>
                <a:latin typeface="+mn-lt"/>
                <a:ea typeface="+mn-ea"/>
                <a:cs typeface="+mn-cs"/>
              </a:rPr>
              <a:t>的可能性</a:t>
            </a:r>
            <a:endParaRPr lang="zh-CN" altLang="en-US" sz="1200" b="0" i="0" u="none" strike="noStrike" kern="1200" dirty="0">
              <a:solidFill>
                <a:schemeClr val="tx1"/>
              </a:solidFill>
              <a:effectLst/>
              <a:latin typeface="+mn-lt"/>
              <a:ea typeface="+mn-ea"/>
              <a:cs typeface="+mn-cs"/>
            </a:endParaRPr>
          </a:p>
          <a:p>
            <a:pPr rtl="0" fontAlgn="base"/>
            <a:endParaRPr lang="en-US" altLang="zh-CN" sz="1200" b="0" i="0" u="none" strike="noStrike" kern="1200" dirty="0">
              <a:solidFill>
                <a:schemeClr val="tx1"/>
              </a:solidFill>
              <a:effectLst/>
              <a:latin typeface="+mn-lt"/>
              <a:ea typeface="+mn-ea"/>
              <a:cs typeface="+mn-cs"/>
            </a:endParaRPr>
          </a:p>
          <a:p>
            <a:pPr rtl="0" fontAlgn="base"/>
            <a:r>
              <a:rPr lang="en-US" altLang="zh-CN" sz="1200" b="1" i="0" u="none" strike="noStrike" kern="1200" dirty="0">
                <a:solidFill>
                  <a:schemeClr val="tx1"/>
                </a:solidFill>
                <a:effectLst/>
                <a:latin typeface="+mn-lt"/>
                <a:ea typeface="+mn-ea"/>
                <a:cs typeface="+mn-cs"/>
              </a:rPr>
              <a:t>echo trap </a:t>
            </a:r>
            <a:r>
              <a:rPr lang="zh-CN" altLang="en-US" sz="1200" b="0" i="0" u="none" strike="noStrike" kern="1200" dirty="0">
                <a:solidFill>
                  <a:schemeClr val="tx1"/>
                </a:solidFill>
                <a:effectLst/>
                <a:latin typeface="+mn-lt"/>
                <a:ea typeface="+mn-ea"/>
                <a:cs typeface="+mn-cs"/>
              </a:rPr>
              <a:t>多匝强化学习</a:t>
            </a:r>
            <a:r>
              <a:rPr lang="en-US" altLang="zh-CN" sz="1200" b="0" i="0" u="none" strike="noStrike" kern="1200" dirty="0">
                <a:solidFill>
                  <a:schemeClr val="tx1"/>
                </a:solidFill>
                <a:effectLst/>
                <a:latin typeface="+mn-lt"/>
                <a:ea typeface="+mn-ea"/>
                <a:cs typeface="+mn-cs"/>
              </a:rPr>
              <a:t>: </a:t>
            </a:r>
            <a:r>
              <a:rPr lang="zh-CN" altLang="en-US" sz="1200" b="0" i="0" u="sng" strike="noStrike" kern="1200" dirty="0">
                <a:solidFill>
                  <a:schemeClr val="tx1"/>
                </a:solidFill>
                <a:effectLst/>
                <a:latin typeface="+mn-lt"/>
                <a:ea typeface="+mn-ea"/>
                <a:cs typeface="+mn-cs"/>
              </a:rPr>
              <a:t>原因是系数的二元奖励和高指令推理之间不</a:t>
            </a:r>
            <a:r>
              <a:rPr lang="en-US" altLang="zh-CN" sz="1200" b="0" i="0" u="sng" strike="noStrike" kern="1200" dirty="0">
                <a:solidFill>
                  <a:schemeClr val="tx1"/>
                </a:solidFill>
                <a:effectLst/>
                <a:latin typeface="+mn-lt"/>
                <a:ea typeface="+mn-ea"/>
                <a:cs typeface="+mn-cs"/>
              </a:rPr>
              <a:t>match -&gt; reward hacking -&gt; </a:t>
            </a:r>
            <a:r>
              <a:rPr lang="zh-CN" altLang="en-US" sz="1200" b="0" i="0" u="sng" strike="noStrike" kern="1200" dirty="0">
                <a:solidFill>
                  <a:schemeClr val="tx1"/>
                </a:solidFill>
                <a:effectLst/>
                <a:latin typeface="+mn-lt"/>
                <a:ea typeface="+mn-ea"/>
                <a:cs typeface="+mn-cs"/>
              </a:rPr>
              <a:t>幻觉 </a:t>
            </a:r>
            <a:r>
              <a:rPr lang="en-US" altLang="zh-CN" sz="1200" b="0" i="0" u="sng" strike="noStrike" kern="1200" dirty="0">
                <a:solidFill>
                  <a:schemeClr val="tx1"/>
                </a:solidFill>
                <a:effectLst/>
                <a:latin typeface="+mn-lt"/>
                <a:ea typeface="+mn-ea"/>
                <a:cs typeface="+mn-cs"/>
              </a:rPr>
              <a:t>or </a:t>
            </a:r>
            <a:r>
              <a:rPr lang="zh-CN" altLang="en-US" sz="1200" b="0" i="0" u="sng" strike="noStrike" kern="1200" dirty="0">
                <a:solidFill>
                  <a:schemeClr val="tx1"/>
                </a:solidFill>
                <a:effectLst/>
                <a:latin typeface="+mn-lt"/>
                <a:ea typeface="+mn-ea"/>
                <a:cs typeface="+mn-cs"/>
              </a:rPr>
              <a:t>跳过关键推理步骤</a:t>
            </a:r>
            <a:endParaRPr lang="zh-CN" altLang="en-US" sz="1200" b="0" i="0" u="none" strike="noStrike" kern="1200" dirty="0">
              <a:solidFill>
                <a:schemeClr val="tx1"/>
              </a:solidFill>
              <a:effectLst/>
              <a:latin typeface="+mn-lt"/>
              <a:ea typeface="+mn-ea"/>
              <a:cs typeface="+mn-cs"/>
            </a:endParaRPr>
          </a:p>
          <a:p>
            <a:pPr marL="228600" indent="-228600">
              <a:buAutoNum type="arabicPeriod"/>
            </a:pPr>
            <a:endParaRPr kumimoji="1" lang="en-US" altLang="zh-CN" dirty="0"/>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14</a:t>
            </a:fld>
            <a:endParaRPr kumimoji="1" lang="zh-CN" altLang="en-US"/>
          </a:p>
        </p:txBody>
      </p:sp>
    </p:spTree>
    <p:extLst>
      <p:ext uri="{BB962C8B-B14F-4D97-AF65-F5344CB8AC3E}">
        <p14:creationId xmlns:p14="http://schemas.microsoft.com/office/powerpoint/2010/main" val="25985998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r>
              <a:rPr lang="zh-CN" altLang="en-US" dirty="0"/>
              <a:t>当</a:t>
            </a:r>
            <a:r>
              <a:rPr lang="en-US" altLang="zh-CN" dirty="0"/>
              <a:t>LLM</a:t>
            </a:r>
            <a:r>
              <a:rPr lang="zh-CN" altLang="en-US" dirty="0"/>
              <a:t>处理推理时，代理的“手”涉及外部环境、</a:t>
            </a:r>
            <a:r>
              <a:rPr lang="en-US" altLang="zh-CN" dirty="0"/>
              <a:t>API</a:t>
            </a:r>
            <a:r>
              <a:rPr lang="zh-CN" altLang="en-US" dirty="0"/>
              <a:t>或计算资源。每个环境都可能</a:t>
            </a:r>
            <a:r>
              <a:rPr lang="zh-CN" altLang="en-US" b="1" dirty="0"/>
              <a:t>强加繁重和异质</a:t>
            </a:r>
            <a:r>
              <a:rPr lang="zh-CN" altLang="en-US" dirty="0"/>
              <a:t>的要求：</a:t>
            </a:r>
          </a:p>
          <a:p>
            <a:r>
              <a:rPr lang="en-US" altLang="zh-CN" dirty="0"/>
              <a:t>- </a:t>
            </a:r>
            <a:r>
              <a:rPr lang="zh-CN" altLang="en-US" dirty="0"/>
              <a:t>编码代理需要一个</a:t>
            </a:r>
            <a:r>
              <a:rPr lang="zh-CN" altLang="en-US" b="1" dirty="0"/>
              <a:t>带有特定文件系统和依赖项</a:t>
            </a:r>
            <a:r>
              <a:rPr lang="zh-CN" altLang="en-US" dirty="0"/>
              <a:t>的</a:t>
            </a:r>
            <a:r>
              <a:rPr lang="en-US" altLang="zh-CN" b="1" dirty="0"/>
              <a:t>Isolated Docker container</a:t>
            </a:r>
            <a:r>
              <a:rPr lang="zh-CN" altLang="en-US" dirty="0"/>
              <a:t>来安全地执行代码。</a:t>
            </a:r>
          </a:p>
          <a:p>
            <a:r>
              <a:rPr lang="en-US" altLang="zh-CN" dirty="0"/>
              <a:t>- ML</a:t>
            </a:r>
            <a:r>
              <a:rPr lang="zh-CN" altLang="en-US" dirty="0"/>
              <a:t>工程代理可能需要</a:t>
            </a:r>
            <a:r>
              <a:rPr lang="zh-CN" altLang="en-US" b="1" dirty="0"/>
              <a:t>专用的</a:t>
            </a:r>
            <a:r>
              <a:rPr lang="en-US" altLang="zh-CN" b="1" dirty="0"/>
              <a:t>GPU</a:t>
            </a:r>
            <a:r>
              <a:rPr lang="zh-CN" altLang="en-US" b="1" dirty="0"/>
              <a:t>访问并运行长期运行的实验</a:t>
            </a:r>
            <a:r>
              <a:rPr lang="zh-CN" altLang="en-US" dirty="0"/>
              <a:t>。</a:t>
            </a:r>
          </a:p>
          <a:p>
            <a:r>
              <a:rPr lang="en-US" altLang="zh-CN" dirty="0"/>
              <a:t>- </a:t>
            </a:r>
            <a:r>
              <a:rPr lang="zh-CN" altLang="en-US" dirty="0"/>
              <a:t>网络搜索代理 </a:t>
            </a:r>
            <a:r>
              <a:rPr lang="en-US" altLang="zh-CN" dirty="0"/>
              <a:t>...</a:t>
            </a:r>
          </a:p>
          <a:p>
            <a:endParaRPr kumimoji="1" lang="en-US" altLang="zh-CN" dirty="0"/>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有些任务很快就能完成，而另一些则需要</a:t>
            </a:r>
            <a:r>
              <a:rPr lang="zh-CN" altLang="en-US" b="1" dirty="0"/>
              <a:t>数十个步骤</a:t>
            </a:r>
            <a:r>
              <a:rPr lang="zh-CN" altLang="en-US" dirty="0"/>
              <a:t>和</a:t>
            </a:r>
            <a:r>
              <a:rPr lang="zh-CN" altLang="en-US" b="1" dirty="0"/>
              <a:t>大量的交互</a:t>
            </a:r>
            <a:r>
              <a:rPr lang="zh-CN" altLang="en-US" dirty="0"/>
              <a:t>。这种差异性造成了“长尾”问题，即少数耗时极长的任务可能会阻塞整个训练过程，导致昂贵的</a:t>
            </a:r>
            <a:r>
              <a:rPr lang="en-US" altLang="zh-CN" dirty="0"/>
              <a:t>GPU</a:t>
            </a:r>
            <a:r>
              <a:rPr lang="zh-CN" altLang="en-US" dirty="0"/>
              <a:t>闲置，等待最慢的任务完成。</a:t>
            </a:r>
          </a:p>
          <a:p>
            <a:endParaRPr kumimoji="1" lang="zh-CN" altLang="en-US" dirty="0"/>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15</a:t>
            </a:fld>
            <a:endParaRPr kumimoji="1" lang="zh-CN" altLang="en-US"/>
          </a:p>
        </p:txBody>
      </p:sp>
    </p:spTree>
    <p:extLst>
      <p:ext uri="{BB962C8B-B14F-4D97-AF65-F5344CB8AC3E}">
        <p14:creationId xmlns:p14="http://schemas.microsoft.com/office/powerpoint/2010/main" val="27516535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A2F6E-A8A5-9720-C519-9A1EF635BB8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2C8A40-D72F-E602-F232-DA2D33D101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72BC9C6-162F-F706-B2F5-713AC30AF0FC}"/>
              </a:ext>
            </a:extLst>
          </p:cNvPr>
          <p:cNvSpPr>
            <a:spLocks noGrp="1"/>
          </p:cNvSpPr>
          <p:nvPr>
            <p:ph type="body" idx="1"/>
          </p:nvPr>
        </p:nvSpPr>
        <p:spPr/>
        <p:txBody>
          <a:bodyPr/>
          <a:lstStyle/>
          <a:p>
            <a:r>
              <a:rPr kumimoji="1" lang="zh-CN" altLang="en-US" dirty="0"/>
              <a:t>之前的重点都在</a:t>
            </a:r>
            <a:r>
              <a:rPr kumimoji="1" lang="en-US" altLang="zh-CN" dirty="0"/>
              <a:t>Data</a:t>
            </a:r>
            <a:r>
              <a:rPr kumimoji="1" lang="zh-CN" altLang="en-US" dirty="0"/>
              <a:t> </a:t>
            </a:r>
            <a:r>
              <a:rPr kumimoji="1" lang="en-US" altLang="zh-CN" dirty="0"/>
              <a:t>-&gt; Self-evolving</a:t>
            </a:r>
            <a:r>
              <a:rPr kumimoji="1" lang="zh-CN" altLang="en-US" dirty="0"/>
              <a:t> 更多的也是</a:t>
            </a:r>
            <a:r>
              <a:rPr kumimoji="1" lang="en-US" altLang="zh-CN" dirty="0"/>
              <a:t>data</a:t>
            </a:r>
            <a:r>
              <a:rPr kumimoji="1" lang="zh-CN" altLang="en-US" dirty="0"/>
              <a:t>层面的（</a:t>
            </a:r>
            <a:r>
              <a:rPr kumimoji="1" lang="en-US" altLang="zh-CN" dirty="0"/>
              <a:t>weight-level</a:t>
            </a:r>
            <a:r>
              <a:rPr kumimoji="1" lang="zh-CN" altLang="en-US" dirty="0"/>
              <a:t> </a:t>
            </a:r>
            <a:r>
              <a:rPr kumimoji="1" lang="en-US" altLang="zh-CN" dirty="0"/>
              <a:t>self-improving</a:t>
            </a:r>
            <a:r>
              <a:rPr kumimoji="1" lang="zh-CN" altLang="en-US" dirty="0"/>
              <a:t>）</a:t>
            </a:r>
            <a:r>
              <a:rPr kumimoji="1" lang="en-US" altLang="zh-CN" dirty="0"/>
              <a:t>-- </a:t>
            </a:r>
            <a:r>
              <a:rPr kumimoji="1" lang="en-US" altLang="zh-CN" b="1" dirty="0"/>
              <a:t>data matters most</a:t>
            </a:r>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Self-evolve: Get rid of human bias</a:t>
            </a:r>
            <a:endParaRPr kumimoji="1" lang="zh-CN" altLang="en-US" dirty="0"/>
          </a:p>
          <a:p>
            <a:endParaRPr kumimoji="1" lang="zh-CN" altLang="en-US" b="1" dirty="0"/>
          </a:p>
        </p:txBody>
      </p:sp>
      <p:sp>
        <p:nvSpPr>
          <p:cNvPr id="4" name="灯片编号占位符 3">
            <a:extLst>
              <a:ext uri="{FF2B5EF4-FFF2-40B4-BE49-F238E27FC236}">
                <a16:creationId xmlns:a16="http://schemas.microsoft.com/office/drawing/2014/main" id="{61D2E16F-6C89-756B-AA9F-91C2C7C13439}"/>
              </a:ext>
            </a:extLst>
          </p:cNvPr>
          <p:cNvSpPr>
            <a:spLocks noGrp="1"/>
          </p:cNvSpPr>
          <p:nvPr>
            <p:ph type="sldNum" sz="quarter" idx="5"/>
          </p:nvPr>
        </p:nvSpPr>
        <p:spPr/>
        <p:txBody>
          <a:bodyPr/>
          <a:lstStyle/>
          <a:p>
            <a:fld id="{04005BC0-016E-1C46-B64E-FF4E2F4D80A0}" type="slidenum">
              <a:rPr kumimoji="1" lang="zh-CN" altLang="en-US" smtClean="0"/>
              <a:t>16</a:t>
            </a:fld>
            <a:endParaRPr kumimoji="1" lang="zh-CN" altLang="en-US"/>
          </a:p>
        </p:txBody>
      </p:sp>
    </p:spTree>
    <p:extLst>
      <p:ext uri="{BB962C8B-B14F-4D97-AF65-F5344CB8AC3E}">
        <p14:creationId xmlns:p14="http://schemas.microsoft.com/office/powerpoint/2010/main" val="36929949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en-US" altLang="zh-CN" dirty="0"/>
              <a:t>Epoch AI </a:t>
            </a:r>
            <a:r>
              <a:rPr lang="zh-CN" altLang="en-US" dirty="0"/>
              <a:t>的预测：随着时间的推移，前沿语言模型所使用的 </a:t>
            </a:r>
            <a:r>
              <a:rPr lang="en-US" altLang="zh-CN" dirty="0"/>
              <a:t>token </a:t>
            </a:r>
            <a:r>
              <a:rPr lang="zh-CN" altLang="en-US" dirty="0"/>
              <a:t>数量正迅速逼近互联网上公开可用的 </a:t>
            </a:r>
            <a:r>
              <a:rPr lang="en-US" altLang="zh-CN" dirty="0"/>
              <a:t>token </a:t>
            </a:r>
            <a:r>
              <a:rPr lang="zh-CN" altLang="en-US" dirty="0"/>
              <a:t>总量。</a:t>
            </a:r>
            <a:endParaRPr lang="en-US" altLang="zh-CN" dirty="0"/>
          </a:p>
          <a:p>
            <a:pPr marL="228600" indent="-228600">
              <a:buAutoNum type="arabicPeriod"/>
            </a:pPr>
            <a:endParaRPr kumimoji="1"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1" lang="zh-CN" altLang="en-US" dirty="0"/>
              <a:t>纵轴：</a:t>
            </a:r>
            <a:r>
              <a:rPr kumimoji="1" lang="en-US" altLang="zh-CN" dirty="0"/>
              <a:t>vertical</a:t>
            </a:r>
            <a:r>
              <a:rPr kumimoji="1" lang="zh-CN" altLang="en-US" dirty="0"/>
              <a:t> </a:t>
            </a:r>
            <a:r>
              <a:rPr kumimoji="1" lang="en-US" altLang="zh-CN" dirty="0"/>
              <a:t>axis</a:t>
            </a:r>
            <a:r>
              <a:rPr kumimoji="1" lang="zh-CN" altLang="en-US" dirty="0"/>
              <a:t>：</a:t>
            </a:r>
            <a:r>
              <a:rPr lang="en-US" altLang="zh-CN" sz="1200" b="0" i="0" u="none" strike="noStrike" kern="1200" dirty="0">
                <a:solidFill>
                  <a:schemeClr val="tx1"/>
                </a:solidFill>
                <a:effectLst/>
                <a:latin typeface="+mn-lt"/>
                <a:ea typeface="+mn-ea"/>
                <a:cs typeface="+mn-cs"/>
              </a:rPr>
              <a:t>Dataset sizes used to train notable LLMs</a:t>
            </a:r>
            <a:endParaRPr kumimoji="1" lang="en-US" altLang="zh-CN" dirty="0"/>
          </a:p>
          <a:p>
            <a:pPr marL="228600" indent="-228600">
              <a:buAutoNum type="arabicPeriod"/>
            </a:pPr>
            <a:endParaRPr kumimoji="1" lang="en-US" altLang="zh-CN" dirty="0"/>
          </a:p>
          <a:p>
            <a:pPr marL="228600" indent="-228600">
              <a:buAutoNum type="arabicPeriod"/>
            </a:pPr>
            <a:r>
              <a:rPr kumimoji="1" lang="zh-CN" altLang="en-US" dirty="0"/>
              <a:t>左侧：</a:t>
            </a:r>
            <a:r>
              <a:rPr kumimoji="1" lang="en-US" altLang="zh-CN" dirty="0"/>
              <a:t>Scaling</a:t>
            </a:r>
            <a:r>
              <a:rPr kumimoji="1" lang="zh-CN" altLang="en-US" dirty="0"/>
              <a:t> </a:t>
            </a:r>
            <a:r>
              <a:rPr kumimoji="1" lang="en-US" altLang="zh-CN" dirty="0"/>
              <a:t>Laws (</a:t>
            </a:r>
            <a:r>
              <a:rPr kumimoji="1" lang="zh-CN" altLang="en-US" dirty="0"/>
              <a:t>多数据，大参数</a:t>
            </a:r>
            <a:r>
              <a:rPr kumimoji="1" lang="en-US" altLang="zh-CN" dirty="0"/>
              <a:t> -&gt; better</a:t>
            </a:r>
            <a:r>
              <a:rPr kumimoji="1" lang="zh-CN" altLang="en-US" dirty="0"/>
              <a:t> </a:t>
            </a:r>
            <a:r>
              <a:rPr kumimoji="1" lang="en-US" altLang="zh-CN" dirty="0"/>
              <a:t>performance)</a:t>
            </a:r>
            <a:r>
              <a:rPr kumimoji="1" lang="zh-CN" altLang="en-US" dirty="0"/>
              <a:t> </a:t>
            </a:r>
            <a:r>
              <a:rPr kumimoji="1" lang="en-US" altLang="zh-CN" dirty="0"/>
              <a:t>still work</a:t>
            </a:r>
            <a:r>
              <a:rPr kumimoji="1" lang="zh-CN" altLang="en-US" dirty="0"/>
              <a:t> </a:t>
            </a:r>
            <a:r>
              <a:rPr kumimoji="1" lang="en-US" altLang="zh-CN" dirty="0"/>
              <a:t>-</a:t>
            </a:r>
            <a:r>
              <a:rPr kumimoji="1" lang="zh-CN" altLang="en-US" dirty="0"/>
              <a:t> </a:t>
            </a:r>
            <a:r>
              <a:rPr lang="en-US" altLang="zh-CN" sz="1200" b="0" i="0" u="none" strike="noStrike" kern="1200" dirty="0">
                <a:solidFill>
                  <a:schemeClr val="tx1"/>
                </a:solidFill>
                <a:effectLst/>
                <a:latin typeface="+mn-lt"/>
                <a:ea typeface="+mn-ea"/>
                <a:cs typeface="+mn-cs"/>
              </a:rPr>
              <a:t>Great power creates miracles.</a:t>
            </a:r>
            <a:endParaRPr kumimoji="1" lang="en-US" altLang="zh-CN" dirty="0"/>
          </a:p>
          <a:p>
            <a:pPr marL="228600" indent="-228600">
              <a:buAutoNum type="arabicPeriod"/>
            </a:pPr>
            <a:endParaRPr kumimoji="1" lang="en-US" altLang="zh-CN" dirty="0"/>
          </a:p>
          <a:p>
            <a:pPr marL="228600" indent="-228600">
              <a:buAutoNum type="arabicPeriod"/>
            </a:pPr>
            <a:r>
              <a:rPr kumimoji="1" lang="zh-CN" altLang="en-US" dirty="0"/>
              <a:t>右侧：</a:t>
            </a:r>
            <a:r>
              <a:rPr kumimoji="1" lang="en-US" altLang="zh-CN" dirty="0"/>
              <a:t>slope decreases &amp; green curve and blue curve will intersect</a:t>
            </a:r>
            <a:endParaRPr kumimoji="1" lang="zh-CN" altLang="en-US" dirty="0"/>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17</a:t>
            </a:fld>
            <a:endParaRPr kumimoji="1" lang="zh-CN" altLang="en-US"/>
          </a:p>
        </p:txBody>
      </p:sp>
    </p:spTree>
    <p:extLst>
      <p:ext uri="{BB962C8B-B14F-4D97-AF65-F5344CB8AC3E}">
        <p14:creationId xmlns:p14="http://schemas.microsoft.com/office/powerpoint/2010/main" val="18888904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 </a:t>
            </a:r>
            <a:r>
              <a:rPr lang="zh-CN" altLang="en-US" dirty="0"/>
              <a:t>在与 </a:t>
            </a:r>
            <a:r>
              <a:rPr lang="en-US" altLang="zh-CN" dirty="0"/>
              <a:t>ChatGPT </a:t>
            </a:r>
            <a:r>
              <a:rPr lang="zh-CN" altLang="en-US" dirty="0"/>
              <a:t>或 </a:t>
            </a:r>
            <a:r>
              <a:rPr lang="en-US" altLang="zh-CN" dirty="0"/>
              <a:t>Claude </a:t>
            </a:r>
            <a:r>
              <a:rPr lang="zh-CN" altLang="en-US" dirty="0"/>
              <a:t>的典型对话中，一开始你可能有 </a:t>
            </a:r>
            <a:r>
              <a:rPr lang="en-US" altLang="zh-CN" dirty="0"/>
              <a:t>100 </a:t>
            </a:r>
            <a:r>
              <a:rPr lang="zh-CN" altLang="en-US" dirty="0"/>
              <a:t>轮对话，然后你会经历一个</a:t>
            </a:r>
            <a:r>
              <a:rPr lang="zh-CN" altLang="en-US" b="1" dirty="0"/>
              <a:t>上下文压缩阶段</a:t>
            </a:r>
            <a:r>
              <a:rPr lang="en-US" altLang="zh-CN" b="1" dirty="0"/>
              <a:t> (context </a:t>
            </a:r>
            <a:r>
              <a:rPr lang="en-US" altLang="zh-CN" b="1" dirty="0" err="1"/>
              <a:t>conpactification</a:t>
            </a:r>
            <a:r>
              <a:rPr lang="en-US" altLang="zh-CN" b="1" dirty="0"/>
              <a:t>)</a:t>
            </a:r>
            <a:r>
              <a:rPr lang="zh-CN" altLang="en-US" dirty="0"/>
              <a:t>，试图总结到目前为止的对话。在这之后，如果你试图问 </a:t>
            </a:r>
            <a:r>
              <a:rPr lang="en-US" altLang="zh-CN" dirty="0"/>
              <a:t>AI </a:t>
            </a:r>
            <a:r>
              <a:rPr lang="zh-CN" altLang="en-US" dirty="0"/>
              <a:t>之前发生过什么，它不会有完美的记忆，因为随着上下文变长，</a:t>
            </a:r>
            <a:r>
              <a:rPr lang="zh-CN" altLang="en-US" b="1" dirty="0"/>
              <a:t>压缩是一个非常容易丢失信息的有损过程</a:t>
            </a:r>
            <a:r>
              <a:rPr lang="zh-CN" altLang="en-US" dirty="0"/>
              <a:t>。但对于人类记忆来说，也许你在前 </a:t>
            </a:r>
            <a:r>
              <a:rPr lang="en-US" altLang="zh-CN" dirty="0"/>
              <a:t>100 </a:t>
            </a:r>
            <a:r>
              <a:rPr lang="zh-CN" altLang="en-US" dirty="0"/>
              <a:t>轮对话后睡了一觉，你的记忆转移到了大脑的其他部分，然后你还能隐约记得你之前谈论过的一些事情。</a:t>
            </a:r>
            <a:endParaRPr lang="en-US" altLang="zh-CN" dirty="0"/>
          </a:p>
          <a:p>
            <a:endParaRPr lang="en-US" altLang="zh-CN" dirty="0"/>
          </a:p>
          <a:p>
            <a:r>
              <a:rPr lang="en-US" altLang="zh-CN" dirty="0"/>
              <a:t>3. </a:t>
            </a:r>
            <a:r>
              <a:rPr lang="zh-CN" altLang="en-US" dirty="0"/>
              <a:t>如果我们思考一下人类是如何提出算法的：它经历了一个</a:t>
            </a:r>
            <a:r>
              <a:rPr lang="zh-CN" altLang="en-US" b="1" dirty="0"/>
              <a:t>产生想法的过程</a:t>
            </a:r>
            <a:r>
              <a:rPr lang="zh-CN" altLang="en-US" dirty="0"/>
              <a:t>（例如最大似然估计），然后</a:t>
            </a:r>
            <a:r>
              <a:rPr lang="zh-CN" altLang="en-US" b="1" dirty="0"/>
              <a:t>进行实验</a:t>
            </a:r>
            <a:r>
              <a:rPr lang="zh-CN" altLang="en-US" dirty="0"/>
              <a:t>（这可能是编写代码或进行数学推导），最终你</a:t>
            </a:r>
            <a:r>
              <a:rPr lang="zh-CN" altLang="en-US" b="1" dirty="0"/>
              <a:t>得到一些研究成果</a:t>
            </a:r>
            <a:r>
              <a:rPr lang="zh-CN" altLang="en-US" dirty="0"/>
              <a:t>；随后其他人在此基础上继续研究，这个循环再次开始。这个过程极其依赖人力，并且成本非常高昂。因此，</a:t>
            </a:r>
            <a:r>
              <a:rPr lang="zh-CN" altLang="en-US" b="1" dirty="0"/>
              <a:t>我们发现的仅仅是所有可能算法中的一个子集（</a:t>
            </a:r>
            <a:r>
              <a:rPr lang="en-US" altLang="zh-CN" b="1" dirty="0"/>
              <a:t>subset</a:t>
            </a:r>
            <a:r>
              <a:rPr lang="zh-CN" altLang="en-US" b="1" dirty="0"/>
              <a:t>）</a:t>
            </a:r>
            <a:r>
              <a:rPr lang="zh-CN" altLang="en-US" dirty="0"/>
              <a:t>，而我们希望利用 </a:t>
            </a:r>
            <a:r>
              <a:rPr lang="en-US" altLang="zh-CN" dirty="0"/>
              <a:t>AI </a:t>
            </a:r>
            <a:r>
              <a:rPr lang="zh-CN" altLang="en-US" dirty="0"/>
              <a:t>本身来使这个过程自动化。</a:t>
            </a:r>
            <a:endParaRPr kumimoji="1" lang="zh-CN" altLang="en-US" dirty="0"/>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18</a:t>
            </a:fld>
            <a:endParaRPr kumimoji="1" lang="zh-CN" altLang="en-US"/>
          </a:p>
        </p:txBody>
      </p:sp>
    </p:spTree>
    <p:extLst>
      <p:ext uri="{BB962C8B-B14F-4D97-AF65-F5344CB8AC3E}">
        <p14:creationId xmlns:p14="http://schemas.microsoft.com/office/powerpoint/2010/main" val="4433016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根据这个</a:t>
            </a:r>
            <a:r>
              <a:rPr kumimoji="1" lang="en-US" altLang="zh-CN" dirty="0"/>
              <a:t>knowledge</a:t>
            </a:r>
            <a:r>
              <a:rPr kumimoji="1" lang="zh-CN" altLang="en-US" dirty="0"/>
              <a:t>可以分成两种观点，分别对应不同的训练阶段</a:t>
            </a:r>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20</a:t>
            </a:fld>
            <a:endParaRPr kumimoji="1" lang="zh-CN" altLang="en-US"/>
          </a:p>
        </p:txBody>
      </p:sp>
    </p:spTree>
    <p:extLst>
      <p:ext uri="{BB962C8B-B14F-4D97-AF65-F5344CB8AC3E}">
        <p14:creationId xmlns:p14="http://schemas.microsoft.com/office/powerpoint/2010/main" val="7224472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补充</a:t>
            </a:r>
            <a:r>
              <a:rPr kumimoji="1" lang="en-US" altLang="zh-CN" dirty="0"/>
              <a:t>pre-train</a:t>
            </a:r>
            <a:r>
              <a:rPr kumimoji="1" lang="zh-CN" altLang="en-US" dirty="0"/>
              <a:t>视角和</a:t>
            </a:r>
            <a:r>
              <a:rPr kumimoji="1" lang="en-US" altLang="zh-CN" dirty="0"/>
              <a:t>post-train</a:t>
            </a:r>
            <a:r>
              <a:rPr kumimoji="1" lang="zh-CN" altLang="en-US" dirty="0"/>
              <a:t>视角的不同：</a:t>
            </a:r>
            <a:r>
              <a:rPr kumimoji="1" lang="en-US" altLang="zh-CN" dirty="0"/>
              <a:t>【</a:t>
            </a:r>
            <a:r>
              <a:rPr kumimoji="1" lang="en-US" altLang="zh-CN" b="1" dirty="0"/>
              <a:t>no-conflict, but the key points are different</a:t>
            </a:r>
            <a:r>
              <a:rPr kumimoji="1" lang="en-US" altLang="zh-CN" dirty="0"/>
              <a:t>】</a:t>
            </a:r>
          </a:p>
          <a:p>
            <a:endParaRPr kumimoji="1" lang="en-US" altLang="zh-CN" dirty="0"/>
          </a:p>
          <a:p>
            <a:r>
              <a:rPr kumimoji="1" lang="en-US" altLang="zh-CN" dirty="0"/>
              <a:t>pre-train</a:t>
            </a:r>
            <a:r>
              <a:rPr kumimoji="1" lang="zh-CN" altLang="en-US" dirty="0"/>
              <a:t>：</a:t>
            </a:r>
            <a:endParaRPr kumimoji="1" lang="en-US" altLang="zh-CN"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zh-CN" sz="1200" kern="1200" dirty="0">
                <a:solidFill>
                  <a:schemeClr val="tx1"/>
                </a:solidFill>
                <a:effectLst/>
                <a:latin typeface="+mn-lt"/>
                <a:ea typeface="+mn-ea"/>
                <a:cs typeface="+mn-cs"/>
              </a:rPr>
              <a:t>Supervised finetuning on </a:t>
            </a:r>
            <a:r>
              <a:rPr lang="en-US" altLang="zh-CN" sz="1200" b="1" kern="1200" dirty="0">
                <a:solidFill>
                  <a:schemeClr val="tx1"/>
                </a:solidFill>
                <a:effectLst/>
                <a:latin typeface="+mn-lt"/>
                <a:ea typeface="+mn-ea"/>
                <a:cs typeface="+mn-cs"/>
              </a:rPr>
              <a:t>1,000 </a:t>
            </a:r>
            <a:r>
              <a:rPr lang="en-US" altLang="zh-CN" sz="1200" kern="1200" dirty="0">
                <a:solidFill>
                  <a:schemeClr val="tx1"/>
                </a:solidFill>
                <a:effectLst/>
                <a:latin typeface="+mn-lt"/>
                <a:ea typeface="+mn-ea"/>
                <a:cs typeface="+mn-cs"/>
              </a:rPr>
              <a:t>chains-of-thoughts delivers o1-preview level capability</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t>
            </a:r>
            <a:r>
              <a:rPr lang="en-US" altLang="zh-CN" sz="1200" b="1" i="1" kern="1200" dirty="0">
                <a:solidFill>
                  <a:schemeClr val="tx1"/>
                </a:solidFill>
                <a:effectLst/>
                <a:latin typeface="+mn-lt"/>
                <a:ea typeface="+mn-ea"/>
                <a:cs typeface="+mn-cs"/>
              </a:rPr>
              <a:t>Post-training capabilities are generalizations from pretraining knowledge</a:t>
            </a:r>
            <a:r>
              <a:rPr lang="en-US" altLang="zh-CN" sz="1200" kern="1200" dirty="0">
                <a:solidFill>
                  <a:schemeClr val="tx1"/>
                </a:solidFill>
                <a:effectLst/>
                <a:latin typeface="+mn-lt"/>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zh-CN" sz="1200" kern="1200" dirty="0">
                <a:solidFill>
                  <a:schemeClr val="tx1"/>
                </a:solidFill>
                <a:effectLst/>
                <a:latin typeface="+mn-lt"/>
                <a:ea typeface="+mn-ea"/>
                <a:cs typeface="+mn-cs"/>
              </a:rPr>
              <a:t>S1</a:t>
            </a:r>
            <a:r>
              <a:rPr lang="zh-CN" altLang="en-US" sz="1200" kern="1200" dirty="0">
                <a:solidFill>
                  <a:schemeClr val="tx1"/>
                </a:solidFill>
                <a:effectLst/>
                <a:latin typeface="+mn-lt"/>
                <a:ea typeface="+mn-ea"/>
                <a:cs typeface="+mn-cs"/>
              </a:rPr>
              <a:t>是基于</a:t>
            </a:r>
            <a:r>
              <a:rPr lang="en-US" altLang="zh-CN" sz="1200" kern="1200" dirty="0">
                <a:solidFill>
                  <a:schemeClr val="tx1"/>
                </a:solidFill>
                <a:effectLst/>
                <a:latin typeface="+mn-lt"/>
                <a:ea typeface="+mn-ea"/>
                <a:cs typeface="+mn-cs"/>
              </a:rPr>
              <a:t>Qwen</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2.5-32-Instruct</a:t>
            </a:r>
            <a:r>
              <a:rPr lang="zh-CN" altLang="en-US" sz="1200" kern="1200" dirty="0">
                <a:solidFill>
                  <a:schemeClr val="tx1"/>
                </a:solidFill>
                <a:effectLst/>
                <a:latin typeface="+mn-lt"/>
                <a:ea typeface="+mn-ea"/>
                <a:cs typeface="+mn-cs"/>
              </a:rPr>
              <a:t>来做的</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核心：</a:t>
            </a:r>
            <a:endParaRPr lang="en-US" altLang="zh-CN" sz="1200" b="1" kern="1200" dirty="0">
              <a:solidFill>
                <a:schemeClr val="tx1"/>
              </a:solidFill>
              <a:effectLst/>
              <a:latin typeface="+mn-lt"/>
              <a:ea typeface="+mn-ea"/>
              <a:cs typeface="+mn-cs"/>
            </a:endParaRPr>
          </a:p>
          <a:p>
            <a:r>
              <a:rPr lang="zh-CN" altLang="en-US" b="1" dirty="0"/>
              <a:t>困惑度揭示了模型能力的核心</a:t>
            </a:r>
            <a:r>
              <a:rPr lang="zh-CN" altLang="en-US" dirty="0"/>
              <a:t>，它通常与预训练的数据规模和模型规模有更大的相关性。</a:t>
            </a:r>
            <a:endParaRPr lang="en-US" altLang="zh-CN" dirty="0"/>
          </a:p>
          <a:p>
            <a:r>
              <a:rPr lang="zh-CN" altLang="en-US" dirty="0"/>
              <a:t>因此，为了见证真正的自我改进，</a:t>
            </a:r>
            <a:r>
              <a:rPr lang="zh-CN" altLang="en-US" b="1" dirty="0"/>
              <a:t>你必须看到在训练层面上的自我改进，而不仅仅是我们之前项目中看到的中期训练或后训练层面的改进</a:t>
            </a:r>
            <a:endParaRPr lang="en-US" altLang="zh-CN" sz="1200" b="1" kern="1200" dirty="0">
              <a:solidFill>
                <a:schemeClr val="tx1"/>
              </a:solidFill>
              <a:effectLst/>
              <a:latin typeface="+mn-lt"/>
              <a:ea typeface="+mn-ea"/>
              <a:cs typeface="+mn-cs"/>
            </a:endParaRP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21</a:t>
            </a:fld>
            <a:endParaRPr kumimoji="1" lang="zh-CN" altLang="en-US"/>
          </a:p>
        </p:txBody>
      </p:sp>
    </p:spTree>
    <p:extLst>
      <p:ext uri="{BB962C8B-B14F-4D97-AF65-F5344CB8AC3E}">
        <p14:creationId xmlns:p14="http://schemas.microsoft.com/office/powerpoint/2010/main" val="36044175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目标：在训练后不断获得新知识</a:t>
            </a:r>
            <a:endParaRPr kumimoji="1" lang="en-US" altLang="zh-CN" dirty="0"/>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tx1"/>
                </a:solidFill>
                <a:effectLst/>
                <a:latin typeface="+mn-lt"/>
                <a:ea typeface="+mn-ea"/>
                <a:cs typeface="+mn-cs"/>
              </a:rPr>
              <a:t>Where</a:t>
            </a:r>
            <a:r>
              <a:rPr lang="zh-CN" altLang="en-US" sz="1200" b="1" kern="1200" dirty="0">
                <a:solidFill>
                  <a:schemeClr val="tx1"/>
                </a:solidFill>
                <a:effectLst/>
                <a:latin typeface="+mn-lt"/>
                <a:ea typeface="+mn-ea"/>
                <a:cs typeface="+mn-cs"/>
              </a:rPr>
              <a:t> </a:t>
            </a:r>
            <a:r>
              <a:rPr lang="en-US" altLang="zh-CN" sz="1200" b="1" kern="1200" dirty="0">
                <a:solidFill>
                  <a:schemeClr val="tx1"/>
                </a:solidFill>
                <a:effectLst/>
                <a:latin typeface="+mn-lt"/>
                <a:ea typeface="+mn-ea"/>
                <a:cs typeface="+mn-cs"/>
              </a:rPr>
              <a:t>does the knowledge come from in pre-training? </a:t>
            </a:r>
            <a:r>
              <a:rPr lang="en-US" altLang="zh-CN" sz="1200"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structural correlation</a:t>
            </a:r>
            <a:r>
              <a:rPr lang="en-US" altLang="zh-CN" sz="1200" kern="1200" dirty="0">
                <a:solidFill>
                  <a:schemeClr val="tx1"/>
                </a:solidFill>
                <a:effectLst/>
                <a:latin typeface="+mn-lt"/>
                <a:ea typeface="+mn-ea"/>
                <a:cs typeface="+mn-cs"/>
              </a:rPr>
              <a:t> enables learning】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Statistical</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view</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Natural language tokens has </a:t>
            </a:r>
            <a:r>
              <a:rPr lang="en-US" altLang="zh-CN" sz="1200" i="1" kern="1200" dirty="0">
                <a:solidFill>
                  <a:schemeClr val="tx1"/>
                </a:solidFill>
                <a:effectLst/>
                <a:latin typeface="+mn-lt"/>
                <a:ea typeface="+mn-ea"/>
                <a:cs typeface="+mn-cs"/>
              </a:rPr>
              <a:t>statistical</a:t>
            </a:r>
            <a:r>
              <a:rPr lang="en-US" altLang="zh-CN" sz="1200" kern="1200" dirty="0">
                <a:solidFill>
                  <a:schemeClr val="tx1"/>
                </a:solidFill>
                <a:effectLst/>
                <a:latin typeface="+mn-lt"/>
                <a:ea typeface="+mn-ea"/>
                <a:cs typeface="+mn-cs"/>
              </a:rPr>
              <a:t> correlations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Computational</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view</a:t>
            </a:r>
            <a:r>
              <a:rPr lang="zh-CN" altLang="en-US" sz="1200"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theory of information</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Natural language has </a:t>
            </a:r>
            <a:r>
              <a:rPr lang="en-US" altLang="zh-CN" sz="1200" i="1" kern="1200" dirty="0">
                <a:solidFill>
                  <a:schemeClr val="tx1"/>
                </a:solidFill>
                <a:effectLst/>
                <a:latin typeface="+mn-lt"/>
                <a:ea typeface="+mn-ea"/>
                <a:cs typeface="+mn-cs"/>
              </a:rPr>
              <a:t>compressible</a:t>
            </a:r>
            <a:r>
              <a:rPr lang="en-US" altLang="zh-CN" sz="1200" kern="1200" dirty="0">
                <a:solidFill>
                  <a:schemeClr val="tx1"/>
                </a:solidFill>
                <a:effectLst/>
                <a:latin typeface="+mn-lt"/>
                <a:ea typeface="+mn-ea"/>
                <a:cs typeface="+mn-cs"/>
              </a:rPr>
              <a:t> patterns, </a:t>
            </a:r>
            <a:r>
              <a:rPr lang="zh-CN" altLang="en-US" dirty="0"/>
              <a:t>而下一个 </a:t>
            </a:r>
            <a:r>
              <a:rPr lang="en-US" altLang="zh-CN" dirty="0"/>
              <a:t>token </a:t>
            </a:r>
            <a:r>
              <a:rPr lang="zh-CN" altLang="en-US" dirty="0"/>
              <a:t>预测本质上是在进行信源编码以压缩文本。</a:t>
            </a:r>
            <a:endParaRPr lang="en-US" altLang="zh-CN" dirty="0"/>
          </a:p>
          <a:p>
            <a:endParaRPr kumimoji="1" lang="en-US" altLang="zh-CN" dirty="0"/>
          </a:p>
          <a:p>
            <a:endParaRPr kumimoji="1" lang="en-US" altLang="zh-CN" dirty="0"/>
          </a:p>
          <a:p>
            <a:r>
              <a:rPr kumimoji="1" lang="en-US" altLang="zh-CN" b="1" dirty="0"/>
              <a:t>Why Synthetic data:</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如果没有合成数据，知识可能是稀疏的</a:t>
            </a:r>
            <a:r>
              <a:rPr lang="en-US" altLang="zh-CN" dirty="0"/>
              <a:t>. </a:t>
            </a:r>
            <a:r>
              <a:rPr lang="zh-CN" altLang="en-US" dirty="0"/>
              <a:t> 我们需要多样化的表征 </a:t>
            </a:r>
            <a:r>
              <a:rPr lang="en-US" altLang="zh-CN" dirty="0"/>
              <a:t>–</a:t>
            </a:r>
            <a:r>
              <a:rPr lang="zh-CN" altLang="en-US" dirty="0"/>
              <a:t> 也就是多样化的</a:t>
            </a:r>
            <a:r>
              <a:rPr lang="en-US" altLang="zh-CN" dirty="0"/>
              <a:t>structural</a:t>
            </a:r>
            <a:r>
              <a:rPr lang="zh-CN" altLang="en-US" dirty="0"/>
              <a:t> </a:t>
            </a:r>
            <a:r>
              <a:rPr lang="en-US" altLang="zh-CN" dirty="0"/>
              <a:t>correlation</a:t>
            </a:r>
            <a:r>
              <a:rPr lang="zh-CN" altLang="en-US" dirty="0"/>
              <a:t>来强化知识学习</a:t>
            </a:r>
          </a:p>
          <a:p>
            <a:endParaRPr kumimoji="1" lang="en-US" altLang="zh-CN" b="1" dirty="0"/>
          </a:p>
          <a:p>
            <a:r>
              <a:rPr kumimoji="1" lang="zh-CN" altLang="en-US" b="1" dirty="0"/>
              <a:t>现状：</a:t>
            </a:r>
            <a:endParaRPr kumimoji="1" lang="en-US" altLang="zh-CN" b="1" dirty="0"/>
          </a:p>
          <a:p>
            <a:r>
              <a:rPr kumimoji="1" lang="zh-CN" altLang="en-US" dirty="0"/>
              <a:t>基于</a:t>
            </a:r>
            <a:r>
              <a:rPr kumimoji="1" lang="en-US" altLang="zh-CN" dirty="0"/>
              <a:t>entity + knowledge graph 【</a:t>
            </a:r>
            <a:r>
              <a:rPr kumimoji="1" lang="zh-CN" altLang="en-US" dirty="0"/>
              <a:t>可以被认为是某种的</a:t>
            </a:r>
            <a:r>
              <a:rPr kumimoji="1" lang="en-US" altLang="zh-CN" dirty="0"/>
              <a:t>rewrite</a:t>
            </a:r>
            <a:r>
              <a:rPr kumimoji="1" lang="zh-CN" altLang="en-US" dirty="0"/>
              <a:t>策略</a:t>
            </a:r>
            <a:r>
              <a:rPr kumimoji="1" lang="en-US" altLang="zh-CN" dirty="0"/>
              <a:t>】</a:t>
            </a:r>
            <a:r>
              <a:rPr kumimoji="1" lang="zh-CN" altLang="en-US" dirty="0"/>
              <a:t>的数据合成在如今</a:t>
            </a:r>
            <a:r>
              <a:rPr kumimoji="1" lang="en-US" altLang="zh-CN" dirty="0"/>
              <a:t>agent</a:t>
            </a:r>
            <a:r>
              <a:rPr kumimoji="1" lang="zh-CN" altLang="en-US" dirty="0"/>
              <a:t>中被广泛使用，</a:t>
            </a:r>
            <a:r>
              <a:rPr kumimoji="1" lang="en-US" altLang="zh-CN" dirty="0"/>
              <a:t>deep</a:t>
            </a:r>
            <a:r>
              <a:rPr kumimoji="1" lang="zh-CN" altLang="en-US" dirty="0"/>
              <a:t> </a:t>
            </a:r>
            <a:r>
              <a:rPr kumimoji="1" lang="en-US" altLang="zh-CN" dirty="0"/>
              <a:t>research</a:t>
            </a:r>
            <a:r>
              <a:rPr kumimoji="1" lang="zh-CN" altLang="en-US" dirty="0"/>
              <a:t> </a:t>
            </a:r>
            <a:r>
              <a:rPr kumimoji="1" lang="en-US" altLang="zh-CN" dirty="0"/>
              <a:t>agent -&gt; multi-hop reasoning data</a:t>
            </a:r>
          </a:p>
          <a:p>
            <a:endParaRPr kumimoji="1" lang="zh-CN" altLang="en-US" dirty="0"/>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22</a:t>
            </a:fld>
            <a:endParaRPr kumimoji="1" lang="zh-CN" altLang="en-US"/>
          </a:p>
        </p:txBody>
      </p:sp>
    </p:spTree>
    <p:extLst>
      <p:ext uri="{BB962C8B-B14F-4D97-AF65-F5344CB8AC3E}">
        <p14:creationId xmlns:p14="http://schemas.microsoft.com/office/powerpoint/2010/main" val="37431707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他们做了几件事：</a:t>
            </a:r>
            <a:endParaRPr lang="en-US" altLang="zh-CN"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zh-CN" sz="1200" kern="1200" dirty="0">
                <a:solidFill>
                  <a:schemeClr val="tx1"/>
                </a:solidFill>
                <a:effectLst/>
                <a:latin typeface="+mn-lt"/>
                <a:ea typeface="+mn-ea"/>
                <a:cs typeface="+mn-cs"/>
              </a:rPr>
              <a:t>Pre-train a model from scratch</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zh-CN" sz="1200" kern="1200" dirty="0">
                <a:solidFill>
                  <a:schemeClr val="tx1"/>
                </a:solidFill>
                <a:effectLst/>
                <a:latin typeface="+mn-lt"/>
                <a:ea typeface="+mn-ea"/>
                <a:cs typeface="+mn-cs"/>
              </a:rPr>
              <a:t>Fine-tune the model -&gt; synthetic data </a:t>
            </a:r>
            <a:r>
              <a:rPr lang="en-US" altLang="zh-CN" sz="1200" kern="1200" dirty="0" err="1">
                <a:solidFill>
                  <a:schemeClr val="tx1"/>
                </a:solidFill>
                <a:effectLst/>
                <a:latin typeface="+mn-lt"/>
                <a:ea typeface="+mn-ea"/>
                <a:cs typeface="+mn-cs"/>
              </a:rPr>
              <a:t>generator【without</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now</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Combine</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real &amp; synthesis data -&gt; continual pre-train the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1.</a:t>
            </a:r>
            <a:r>
              <a:rPr lang="zh-CN" altLang="en-US" dirty="0"/>
              <a:t>词向量会对相似度进行编码</a:t>
            </a:r>
            <a:endParaRPr lang="en-US" altLang="zh-CN" dirty="0"/>
          </a:p>
          <a:p>
            <a:r>
              <a:rPr lang="en-US" altLang="zh-CN" sz="1200" kern="1200" dirty="0">
                <a:solidFill>
                  <a:schemeClr val="tx1"/>
                </a:solidFill>
                <a:effectLst/>
                <a:latin typeface="+mn-lt"/>
                <a:ea typeface="+mn-ea"/>
                <a:cs typeface="+mn-cs"/>
              </a:rPr>
              <a:t>2.</a:t>
            </a:r>
            <a:r>
              <a:rPr lang="zh-CN" altLang="en-US" dirty="0">
                <a:effectLst/>
              </a:rPr>
              <a:t>将这些相邻的文档连接成图，并执行合成微调。</a:t>
            </a:r>
          </a:p>
          <a:p>
            <a:r>
              <a:rPr lang="zh-CN" altLang="en-US" dirty="0">
                <a:effectLst/>
              </a:rPr>
              <a:t>合成微调的具体做法是：把一个经过预训练的检查点作为语言模型的初始化状态（这里的预训练检查点指的是已经在所有真实数据上训练过的模型）；然后通过类似 </a:t>
            </a:r>
            <a:r>
              <a:rPr lang="en-US" altLang="zh-CN" dirty="0">
                <a:effectLst/>
              </a:rPr>
              <a:t>SFT </a:t>
            </a:r>
            <a:r>
              <a:rPr lang="zh-CN" altLang="en-US" dirty="0">
                <a:effectLst/>
              </a:rPr>
              <a:t>（监督微调）的目标对模型进行微调。</a:t>
            </a:r>
            <a:endParaRPr lang="en-US" altLang="zh-CN" dirty="0">
              <a:effectLst/>
            </a:endParaRPr>
          </a:p>
          <a:p>
            <a:r>
              <a:rPr lang="en-US" altLang="zh-CN" dirty="0">
                <a:effectLst/>
              </a:rPr>
              <a:t>3. Temperature = 1</a:t>
            </a:r>
            <a:r>
              <a:rPr lang="zh-CN" altLang="en-US" dirty="0">
                <a:effectLst/>
              </a:rPr>
              <a:t>的原因；</a:t>
            </a:r>
            <a:r>
              <a:rPr lang="zh-CN" altLang="en-US" dirty="0"/>
              <a:t>这里需要说明的是，</a:t>
            </a:r>
            <a:r>
              <a:rPr lang="zh-CN" altLang="en-US" b="1" dirty="0"/>
              <a:t>每一个源文档（</a:t>
            </a:r>
            <a:r>
              <a:rPr lang="en-US" altLang="zh-CN" b="1" dirty="0"/>
              <a:t>d1</a:t>
            </a:r>
            <a:r>
              <a:rPr lang="zh-CN" altLang="en-US" b="1" dirty="0"/>
              <a:t>）可能对应多个目标文档（</a:t>
            </a:r>
            <a:r>
              <a:rPr lang="en-US" altLang="zh-CN" b="1" dirty="0"/>
              <a:t>d2</a:t>
            </a:r>
            <a:r>
              <a:rPr lang="zh-CN" altLang="en-US" b="1" dirty="0"/>
              <a:t>）。这个过程会极大程度地增加模型的熵</a:t>
            </a:r>
            <a:r>
              <a:rPr lang="zh-CN" altLang="en-US" dirty="0"/>
              <a:t>，例如，如果每个 </a:t>
            </a:r>
            <a:r>
              <a:rPr lang="en-US" altLang="zh-CN" dirty="0"/>
              <a:t>d1 </a:t>
            </a:r>
            <a:r>
              <a:rPr lang="zh-CN" altLang="en-US" dirty="0"/>
              <a:t>对应 </a:t>
            </a:r>
            <a:r>
              <a:rPr lang="en-US" altLang="zh-CN" dirty="0"/>
              <a:t>20 </a:t>
            </a:r>
            <a:r>
              <a:rPr lang="zh-CN" altLang="en-US" dirty="0"/>
              <a:t>个 </a:t>
            </a:r>
            <a:r>
              <a:rPr lang="en-US" altLang="zh-CN" dirty="0"/>
              <a:t>d2</a:t>
            </a:r>
            <a:r>
              <a:rPr lang="zh-CN" altLang="en-US" dirty="0"/>
              <a:t>，那么在逻辑回归下，将均匀的概率质量分配给每一个文档。因此，经过这种微调后，你的模型会处于极高熵的状态。</a:t>
            </a:r>
            <a:endParaRPr lang="zh-CN" alt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23</a:t>
            </a:fld>
            <a:endParaRPr kumimoji="1" lang="zh-CN" altLang="en-US"/>
          </a:p>
        </p:txBody>
      </p:sp>
    </p:spTree>
    <p:extLst>
      <p:ext uri="{BB962C8B-B14F-4D97-AF65-F5344CB8AC3E}">
        <p14:creationId xmlns:p14="http://schemas.microsoft.com/office/powerpoint/2010/main" val="18765712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24</a:t>
            </a:fld>
            <a:endParaRPr kumimoji="1" lang="zh-CN" altLang="en-US"/>
          </a:p>
        </p:txBody>
      </p:sp>
    </p:spTree>
    <p:extLst>
      <p:ext uri="{BB962C8B-B14F-4D97-AF65-F5344CB8AC3E}">
        <p14:creationId xmlns:p14="http://schemas.microsoft.com/office/powerpoint/2010/main" val="14857616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62037-5840-D7DE-4DB4-50D2FA8DDEC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32286DA-E2CB-30ED-2DCD-D3A8C7D4C6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8A1731-24DD-86D1-A7AE-C88085170FB8}"/>
              </a:ext>
            </a:extLst>
          </p:cNvPr>
          <p:cNvSpPr>
            <a:spLocks noGrp="1"/>
          </p:cNvSpPr>
          <p:nvPr>
            <p:ph type="body" idx="1"/>
          </p:nvPr>
        </p:nvSpPr>
        <p:spPr/>
        <p:txBody>
          <a:bodyPr/>
          <a:lstStyle/>
          <a:p>
            <a:pPr marL="228600" indent="-228600">
              <a:buAutoNum type="arabicPeriod"/>
            </a:pPr>
            <a:r>
              <a:rPr kumimoji="1" lang="en-US" altLang="zh-CN" dirty="0"/>
              <a:t>Tool: </a:t>
            </a:r>
          </a:p>
          <a:p>
            <a:pPr marL="228600" indent="-228600">
              <a:buAutoNum type="arabicPeriod"/>
            </a:pPr>
            <a:endParaRPr kumimoji="1" lang="en-US" altLang="zh-CN" dirty="0"/>
          </a:p>
          <a:p>
            <a:pPr marL="228600" indent="-228600">
              <a:buAutoNum type="arabicPeriod"/>
            </a:pPr>
            <a:r>
              <a:rPr kumimoji="1" lang="en-US" altLang="zh-CN" dirty="0"/>
              <a:t>Memory: </a:t>
            </a:r>
          </a:p>
          <a:p>
            <a:pPr marL="228600" indent="-228600">
              <a:buAutoNum type="arabicPeriod"/>
            </a:pPr>
            <a:endParaRPr kumimoji="1" lang="en-US" altLang="zh-CN" dirty="0"/>
          </a:p>
          <a:p>
            <a:pPr marL="228600" indent="-228600">
              <a:buAutoNum type="arabicPeriod"/>
            </a:pPr>
            <a:r>
              <a:rPr kumimoji="1" lang="en-US" altLang="zh-CN" dirty="0"/>
              <a:t>Prompt: </a:t>
            </a:r>
          </a:p>
          <a:p>
            <a:pPr marL="228600" indent="-228600">
              <a:buAutoNum type="arabicPeriod"/>
            </a:pPr>
            <a:endParaRPr kumimoji="1" lang="en-US" altLang="zh-CN" dirty="0"/>
          </a:p>
          <a:p>
            <a:pPr marL="228600" indent="-228600">
              <a:buAutoNum type="arabicPeriod"/>
            </a:pPr>
            <a:r>
              <a:rPr kumimoji="1" lang="en-US" altLang="zh-CN" dirty="0"/>
              <a:t>Domain: </a:t>
            </a:r>
            <a:endParaRPr kumimoji="1" lang="zh-CN" altLang="en-US" dirty="0"/>
          </a:p>
        </p:txBody>
      </p:sp>
      <p:sp>
        <p:nvSpPr>
          <p:cNvPr id="4" name="灯片编号占位符 3">
            <a:extLst>
              <a:ext uri="{FF2B5EF4-FFF2-40B4-BE49-F238E27FC236}">
                <a16:creationId xmlns:a16="http://schemas.microsoft.com/office/drawing/2014/main" id="{01D03473-425A-8E9E-4BCF-997D3FD74762}"/>
              </a:ext>
            </a:extLst>
          </p:cNvPr>
          <p:cNvSpPr>
            <a:spLocks noGrp="1"/>
          </p:cNvSpPr>
          <p:nvPr>
            <p:ph type="sldNum" sz="quarter" idx="5"/>
          </p:nvPr>
        </p:nvSpPr>
        <p:spPr/>
        <p:txBody>
          <a:bodyPr/>
          <a:lstStyle/>
          <a:p>
            <a:fld id="{04005BC0-016E-1C46-B64E-FF4E2F4D80A0}" type="slidenum">
              <a:rPr kumimoji="1" lang="zh-CN" altLang="en-US" smtClean="0"/>
              <a:t>25</a:t>
            </a:fld>
            <a:endParaRPr kumimoji="1" lang="zh-CN" altLang="en-US"/>
          </a:p>
        </p:txBody>
      </p:sp>
    </p:spTree>
    <p:extLst>
      <p:ext uri="{BB962C8B-B14F-4D97-AF65-F5344CB8AC3E}">
        <p14:creationId xmlns:p14="http://schemas.microsoft.com/office/powerpoint/2010/main" val="20865073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我想向你们展示爱因斯坦是如何以一种</a:t>
            </a:r>
            <a:r>
              <a:rPr lang="zh-CN" altLang="en-US" b="1" dirty="0"/>
              <a:t>安静而精确</a:t>
            </a:r>
            <a:r>
              <a:rPr lang="zh-CN" altLang="en-US" dirty="0"/>
              <a:t>的方式，创造了一个</a:t>
            </a:r>
            <a:r>
              <a:rPr lang="zh-CN" altLang="en-US" b="1" dirty="0"/>
              <a:t>超越他自身认知的理论的</a:t>
            </a:r>
            <a:r>
              <a:rPr lang="zh-CN" altLang="en-US" dirty="0"/>
              <a:t>。</a:t>
            </a:r>
          </a:p>
          <a:p>
            <a:endParaRPr kumimoji="1" lang="en-US" altLang="zh-CN" dirty="0"/>
          </a:p>
          <a:p>
            <a:r>
              <a:rPr kumimoji="1" lang="en-US" altLang="zh-CN" dirty="0"/>
              <a:t>【</a:t>
            </a:r>
            <a:r>
              <a:rPr kumimoji="1" lang="zh-CN" altLang="en-US" b="1" dirty="0"/>
              <a:t>过去式</a:t>
            </a:r>
            <a:r>
              <a:rPr kumimoji="1" lang="en-US" altLang="zh-CN"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起初，爱因斯坦提出了广义相对论的场方程，</a:t>
            </a:r>
            <a:r>
              <a:rPr lang="zh-CN" altLang="en-US" b="1" dirty="0"/>
              <a:t>这个方程在未经修改的状态下，已经精准地预言了宇宙正在膨胀</a:t>
            </a:r>
            <a:r>
              <a:rPr lang="zh-CN" altLang="en-US" dirty="0"/>
              <a:t>。然而在 </a:t>
            </a:r>
            <a:r>
              <a:rPr lang="en-US" altLang="zh-CN" dirty="0"/>
              <a:t>1910 </a:t>
            </a:r>
            <a:r>
              <a:rPr lang="zh-CN" altLang="en-US" dirty="0"/>
              <a:t>年代，</a:t>
            </a:r>
            <a:r>
              <a:rPr lang="zh-CN" altLang="en-US" b="1" dirty="0"/>
              <a:t>当时的科学界普遍笃信宇宙是静止且永恒的（</a:t>
            </a:r>
            <a:r>
              <a:rPr lang="en-US" altLang="zh-CN" b="1" dirty="0"/>
              <a:t>static</a:t>
            </a:r>
            <a:r>
              <a:rPr lang="zh-CN" altLang="en-US" b="1" dirty="0"/>
              <a:t> </a:t>
            </a:r>
            <a:r>
              <a:rPr lang="en-US" altLang="zh-CN" b="1" dirty="0"/>
              <a:t>&amp;</a:t>
            </a:r>
            <a:r>
              <a:rPr lang="zh-CN" altLang="en-US" b="1" dirty="0"/>
              <a:t> </a:t>
            </a:r>
            <a:r>
              <a:rPr lang="en-US" altLang="zh-CN" b="1" dirty="0"/>
              <a:t>eternal</a:t>
            </a:r>
            <a:r>
              <a:rPr lang="zh-CN" altLang="en-US" b="1" dirty="0"/>
              <a:t>）。为了迎合（</a:t>
            </a:r>
            <a:r>
              <a:rPr lang="en-US" altLang="zh-CN" b="1" dirty="0"/>
              <a:t>to</a:t>
            </a:r>
            <a:r>
              <a:rPr lang="zh-CN" altLang="en-US" b="1" dirty="0"/>
              <a:t> </a:t>
            </a:r>
            <a:r>
              <a:rPr lang="en-US" altLang="zh-CN" b="1" dirty="0"/>
              <a:t>cater</a:t>
            </a:r>
            <a:r>
              <a:rPr lang="zh-CN" altLang="en-US" b="1" dirty="0"/>
              <a:t> </a:t>
            </a:r>
            <a:r>
              <a:rPr lang="en-US" altLang="zh-CN" b="1" dirty="0"/>
              <a:t>to</a:t>
            </a:r>
            <a:r>
              <a:rPr lang="zh-CN" altLang="en-US" b="1" dirty="0"/>
              <a:t>）这种时代观念，爱因斯坦在 </a:t>
            </a:r>
            <a:r>
              <a:rPr lang="en-US" altLang="zh-CN" b="1" dirty="0"/>
              <a:t>1917 </a:t>
            </a:r>
            <a:r>
              <a:rPr lang="zh-CN" altLang="en-US" b="1" dirty="0"/>
              <a:t>年主动修改了自己的方程，硬生生地让它计算出一个静止的宇宙</a:t>
            </a:r>
            <a:r>
              <a:rPr lang="en-US" altLang="zh-CN" b="1" dirty="0"/>
              <a:t>(</a:t>
            </a:r>
            <a:r>
              <a:rPr lang="en-US" altLang="zh-CN" sz="1200" b="0" i="0" u="none" strike="noStrike" kern="1200" dirty="0">
                <a:solidFill>
                  <a:schemeClr val="tx1"/>
                </a:solidFill>
                <a:effectLst/>
                <a:latin typeface="+mn-lt"/>
                <a:ea typeface="+mn-ea"/>
                <a:cs typeface="+mn-cs"/>
              </a:rPr>
              <a:t>Einstein deliberately modified his equations in 1917, forcing them to yield a static universe</a:t>
            </a:r>
            <a:r>
              <a:rPr lang="en-US" altLang="zh-CN" b="1" dirty="0"/>
              <a:t>)</a:t>
            </a:r>
            <a:r>
              <a:rPr lang="zh-CN" altLang="en-US" b="1" dirty="0"/>
              <a:t>。</a:t>
            </a:r>
            <a:r>
              <a:rPr lang="zh-CN" altLang="en-US" dirty="0"/>
              <a:t>直到 </a:t>
            </a:r>
            <a:r>
              <a:rPr lang="en-US" altLang="zh-CN" dirty="0"/>
              <a:t>1929 </a:t>
            </a:r>
            <a:r>
              <a:rPr lang="zh-CN" altLang="en-US" dirty="0"/>
              <a:t>年，哈勃通过天文观测证实了宇宙确实在膨胀，而且其规律与爱因斯坦最初那版未修改的方程所预测的一模一样。爱因斯坦后来坦言，那次修改是他一生中「最大的错误」</a:t>
            </a:r>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也就是说，当一个理论被创造出来的那一刻，它就拥有了生命并开始演化。就像当爱因斯坦写下那个场方程的那一刻，该方程就已经编码了一个当时没有任何人类能够理解的真理。</a:t>
            </a:r>
          </a:p>
          <a:p>
            <a:endParaRPr kumimoji="1" lang="zh-CN" altLang="en-US" dirty="0"/>
          </a:p>
        </p:txBody>
      </p:sp>
      <p:sp>
        <p:nvSpPr>
          <p:cNvPr id="4" name="灯片编号占位符 3"/>
          <p:cNvSpPr>
            <a:spLocks noGrp="1"/>
          </p:cNvSpPr>
          <p:nvPr>
            <p:ph type="sldNum" sz="quarter" idx="5"/>
          </p:nvPr>
        </p:nvSpPr>
        <p:spPr/>
        <p:txBody>
          <a:bodyPr/>
          <a:lstStyle/>
          <a:p>
            <a:fld id="{04005BC0-016E-1C46-B64E-FF4E2F4D80A0}" type="slidenum">
              <a:rPr kumimoji="1" lang="zh-CN" altLang="en-US" smtClean="0"/>
              <a:t>27</a:t>
            </a:fld>
            <a:endParaRPr kumimoji="1" lang="zh-CN" altLang="en-US"/>
          </a:p>
        </p:txBody>
      </p:sp>
    </p:spTree>
    <p:extLst>
      <p:ext uri="{BB962C8B-B14F-4D97-AF65-F5344CB8AC3E}">
        <p14:creationId xmlns:p14="http://schemas.microsoft.com/office/powerpoint/2010/main" val="783306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251792" y="340552"/>
            <a:ext cx="8524460" cy="613605"/>
          </a:xfrm>
        </p:spPr>
        <p:txBody>
          <a:bodyPr anchor="b">
            <a:normAutofit/>
          </a:bodyPr>
          <a:lstStyle>
            <a:lvl1pPr algn="l">
              <a:defRPr sz="2800" b="1">
                <a:solidFill>
                  <a:srgbClr val="FF0000"/>
                </a:solidFill>
                <a:latin typeface="Garamond" panose="02020404030301010803" pitchFamily="18" charset="0"/>
              </a:defRPr>
            </a:lvl1pPr>
          </a:lstStyle>
          <a:p>
            <a:r>
              <a:rPr kumimoji="1" lang="zh-CN" altLang="en-US" dirty="0"/>
              <a:t>单击此处编辑母版标题样式</a:t>
            </a:r>
          </a:p>
        </p:txBody>
      </p:sp>
      <p:sp>
        <p:nvSpPr>
          <p:cNvPr id="3" name="副标题 2"/>
          <p:cNvSpPr>
            <a:spLocks noGrp="1"/>
          </p:cNvSpPr>
          <p:nvPr>
            <p:ph type="subTitle" idx="1"/>
          </p:nvPr>
        </p:nvSpPr>
        <p:spPr>
          <a:xfrm>
            <a:off x="251792" y="1292087"/>
            <a:ext cx="11575773" cy="475090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4" name="日期占位符 3"/>
          <p:cNvSpPr>
            <a:spLocks noGrp="1"/>
          </p:cNvSpPr>
          <p:nvPr>
            <p:ph type="dt" sz="half" idx="10"/>
          </p:nvPr>
        </p:nvSpPr>
        <p:spPr>
          <a:xfrm>
            <a:off x="92766" y="6371533"/>
            <a:ext cx="970721" cy="365125"/>
          </a:xfrm>
        </p:spPr>
        <p:txBody>
          <a:bodyPr/>
          <a:lstStyle/>
          <a:p>
            <a:fld id="{6B4A4110-3C41-6847-B325-028307B5A5BB}" type="datetime1">
              <a:rPr kumimoji="1" lang="zh-CN" altLang="en-US" smtClean="0"/>
              <a:t>2026/3/17</a:t>
            </a:fld>
            <a:endParaRPr kumimoji="1" lang="zh-CN" altLang="en-US"/>
          </a:p>
        </p:txBody>
      </p:sp>
      <p:sp>
        <p:nvSpPr>
          <p:cNvPr id="5" name="页脚占位符 4"/>
          <p:cNvSpPr>
            <a:spLocks noGrp="1"/>
          </p:cNvSpPr>
          <p:nvPr>
            <p:ph type="ftr" sz="quarter" idx="11"/>
          </p:nvPr>
        </p:nvSpPr>
        <p:spPr/>
        <p:txBody>
          <a:bodyPr/>
          <a:lstStyle/>
          <a:p>
            <a:endParaRPr kumimoji="1" lang="zh-CN" altLang="en-US" dirty="0"/>
          </a:p>
        </p:txBody>
      </p:sp>
      <p:sp>
        <p:nvSpPr>
          <p:cNvPr id="6" name="灯片编号占位符 5"/>
          <p:cNvSpPr>
            <a:spLocks noGrp="1"/>
          </p:cNvSpPr>
          <p:nvPr>
            <p:ph type="sldNum" sz="quarter" idx="12"/>
          </p:nvPr>
        </p:nvSpPr>
        <p:spPr>
          <a:xfrm>
            <a:off x="11559208" y="6356349"/>
            <a:ext cx="540026" cy="365125"/>
          </a:xfrm>
        </p:spPr>
        <p:txBody>
          <a:bodyPr/>
          <a:lstStyle/>
          <a:p>
            <a:fld id="{24F01846-2DA3-FB44-9D89-19679C480714}" type="slidenum">
              <a:rPr kumimoji="1" lang="zh-CN" altLang="en-US" smtClean="0"/>
              <a:t>‹#›</a:t>
            </a:fld>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C13912DE-A447-AE4C-B564-2C8E1F35CEE4}" type="datetime1">
              <a:rPr kumimoji="1" lang="zh-CN" altLang="en-US" smtClean="0"/>
              <a:t>2026/3/17</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24F01846-2DA3-FB44-9D89-19679C480714}"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1A7B8F8C-FAE2-2F48-B4B0-6241D482DBDF}" type="datetime1">
              <a:rPr kumimoji="1" lang="zh-CN" altLang="en-US" smtClean="0"/>
              <a:t>2026/3/17</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24F01846-2DA3-FB44-9D89-19679C480714}"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FCD536AB-F438-1C48-B577-3A0900886016}" type="datetime1">
              <a:rPr kumimoji="1" lang="zh-CN" altLang="en-US" smtClean="0"/>
              <a:t>2026/3/17</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24F01846-2DA3-FB44-9D89-19679C480714}"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83807710-E508-504B-9602-A0C21177599A}" type="datetime1">
              <a:rPr kumimoji="1" lang="zh-CN" altLang="en-US" smtClean="0"/>
              <a:t>2026/3/17</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24F01846-2DA3-FB44-9D89-19679C480714}"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6709FABD-3BE9-3D47-89C2-7B6D0675B1BE}" type="datetime1">
              <a:rPr kumimoji="1" lang="zh-CN" altLang="en-US" smtClean="0"/>
              <a:t>2026/3/17</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24F01846-2DA3-FB44-9D89-19679C480714}"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117DE77-D2B6-C64A-A9D5-5D55B1689AA6}" type="datetime1">
              <a:rPr kumimoji="1" lang="zh-CN" altLang="en-US" smtClean="0"/>
              <a:t>2026/3/17</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24F01846-2DA3-FB44-9D89-19679C480714}"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873F07FC-34CC-2943-AB1E-B27109DE1BEA}" type="datetime1">
              <a:rPr kumimoji="1" lang="zh-CN" altLang="en-US" smtClean="0"/>
              <a:t>2026/3/17</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24F01846-2DA3-FB44-9D89-19679C480714}"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F0A1E391-E5D9-BC4A-A7AB-CD4902EFB05C}" type="datetime1">
              <a:rPr kumimoji="1" lang="zh-CN" altLang="en-US" smtClean="0"/>
              <a:t>2026/3/17</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24F01846-2DA3-FB44-9D89-19679C480714}"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9361B007-A68C-3E4C-8BF9-55594A3AD1DF}" type="datetime1">
              <a:rPr kumimoji="1" lang="zh-CN" altLang="en-US" smtClean="0"/>
              <a:t>2026/3/17</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24F01846-2DA3-FB44-9D89-19679C480714}"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80CC4B74-D8E2-964A-9900-FB4176C00E09}" type="datetime1">
              <a:rPr kumimoji="1" lang="zh-CN" altLang="en-US" smtClean="0"/>
              <a:t>2026/3/17</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24F01846-2DA3-FB44-9D89-19679C480714}"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67F7E0-610E-E342-9459-EC75797F6740}" type="datetime1">
              <a:rPr kumimoji="1" lang="zh-CN" altLang="en-US" smtClean="0"/>
              <a:t>2026/3/17</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F01846-2DA3-FB44-9D89-19679C480714}"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5.png"/><Relationship Id="rId7" Type="http://schemas.openxmlformats.org/officeDocument/2006/relationships/diagramQuickStyle" Target="../diagrams/quickStyle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6.png"/><Relationship Id="rId9" Type="http://schemas.microsoft.com/office/2007/relationships/diagramDrawing" Target="../diagrams/drawing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jpe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hyperlink" Target="https://arxiv.org/abs/2504.20073"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hyperlink" Target="https://arxiv.org/pdf/2602.02150"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0.png"/><Relationship Id="rId7" Type="http://schemas.openxmlformats.org/officeDocument/2006/relationships/customXml" Target="../ink/ink1.xml"/><Relationship Id="rId12" Type="http://schemas.openxmlformats.org/officeDocument/2006/relationships/image" Target="../media/image5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3.png"/><Relationship Id="rId11" Type="http://schemas.openxmlformats.org/officeDocument/2006/relationships/customXml" Target="../ink/ink3.xml"/><Relationship Id="rId5" Type="http://schemas.openxmlformats.org/officeDocument/2006/relationships/image" Target="../media/image52.svg"/><Relationship Id="rId10" Type="http://schemas.openxmlformats.org/officeDocument/2006/relationships/image" Target="../media/image55.png"/><Relationship Id="rId4" Type="http://schemas.openxmlformats.org/officeDocument/2006/relationships/image" Target="../media/image51.png"/><Relationship Id="rId9" Type="http://schemas.openxmlformats.org/officeDocument/2006/relationships/customXml" Target="../ink/ink2.xml"/></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agenticai-learning.org/sp25" TargetMode="External"/><Relationship Id="rId2" Type="http://schemas.openxmlformats.org/officeDocument/2006/relationships/hyperlink" Target="https://agenticai-learning.org/f25"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74080" y="1385092"/>
            <a:ext cx="9043840" cy="942869"/>
          </a:xfrm>
        </p:spPr>
        <p:txBody>
          <a:bodyPr>
            <a:normAutofit/>
          </a:bodyPr>
          <a:lstStyle/>
          <a:p>
            <a:r>
              <a:rPr kumimoji="1" lang="en-US" altLang="zh-CN" sz="4000" dirty="0">
                <a:latin typeface="Garamond" panose="02020404030301010803" pitchFamily="18" charset="0"/>
              </a:rPr>
              <a:t>Modern Agent: Training &amp; Self-Evolving</a:t>
            </a:r>
          </a:p>
        </p:txBody>
      </p:sp>
      <p:sp>
        <p:nvSpPr>
          <p:cNvPr id="3" name="副标题 2"/>
          <p:cNvSpPr>
            <a:spLocks noGrp="1"/>
          </p:cNvSpPr>
          <p:nvPr>
            <p:ph type="subTitle" idx="1"/>
          </p:nvPr>
        </p:nvSpPr>
        <p:spPr>
          <a:xfrm>
            <a:off x="5277911" y="3224231"/>
            <a:ext cx="1549281" cy="464820"/>
          </a:xfrm>
        </p:spPr>
        <p:txBody>
          <a:bodyPr>
            <a:normAutofit fontScale="92500" lnSpcReduction="10000"/>
          </a:bodyPr>
          <a:lstStyle/>
          <a:p>
            <a:pPr algn="ctr"/>
            <a:r>
              <a:rPr kumimoji="1" lang="en-US" altLang="zh-CN" sz="3200" dirty="0"/>
              <a:t>Rui Shi</a:t>
            </a:r>
            <a:endParaRPr kumimoji="1" lang="zh-CN" altLang="en-US" sz="3200" dirty="0"/>
          </a:p>
        </p:txBody>
      </p:sp>
      <p:sp>
        <p:nvSpPr>
          <p:cNvPr id="4" name="日期占位符 3"/>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p:cNvSpPr>
            <a:spLocks noGrp="1"/>
          </p:cNvSpPr>
          <p:nvPr>
            <p:ph type="sldNum" sz="quarter" idx="12"/>
          </p:nvPr>
        </p:nvSpPr>
        <p:spPr/>
        <p:txBody>
          <a:bodyPr/>
          <a:lstStyle/>
          <a:p>
            <a:fld id="{24F01846-2DA3-FB44-9D89-19679C480714}" type="slidenum">
              <a:rPr kumimoji="1" lang="zh-CN" altLang="en-US" smtClean="0"/>
              <a:t>1</a:t>
            </a:fld>
            <a:endParaRPr kumimoji="1" lang="zh-CN" altLang="en-US" dirty="0"/>
          </a:p>
        </p:txBody>
      </p:sp>
      <p:pic>
        <p:nvPicPr>
          <p:cNvPr id="6" name="图片 5">
            <a:extLst>
              <a:ext uri="{FF2B5EF4-FFF2-40B4-BE49-F238E27FC236}">
                <a16:creationId xmlns:a16="http://schemas.microsoft.com/office/drawing/2014/main" id="{14A157D3-8A28-329A-DB97-D908E868A1C1}"/>
              </a:ext>
            </a:extLst>
          </p:cNvPr>
          <p:cNvPicPr>
            <a:picLocks noChangeAspect="1"/>
          </p:cNvPicPr>
          <p:nvPr/>
        </p:nvPicPr>
        <p:blipFill>
          <a:blip r:embed="rId3"/>
          <a:srcRect l="24510" t="-920"/>
          <a:stretch>
            <a:fillRect/>
          </a:stretch>
        </p:blipFill>
        <p:spPr>
          <a:xfrm>
            <a:off x="4285539" y="5858500"/>
            <a:ext cx="3794051" cy="680411"/>
          </a:xfrm>
          <a:prstGeom prst="rect">
            <a:avLst/>
          </a:prstGeom>
        </p:spPr>
      </p:pic>
      <p:pic>
        <p:nvPicPr>
          <p:cNvPr id="7" name="图片 6">
            <a:extLst>
              <a:ext uri="{FF2B5EF4-FFF2-40B4-BE49-F238E27FC236}">
                <a16:creationId xmlns:a16="http://schemas.microsoft.com/office/drawing/2014/main" id="{C79A825B-B1BD-7CC9-72F5-D19D2D0EFAE0}"/>
              </a:ext>
            </a:extLst>
          </p:cNvPr>
          <p:cNvPicPr>
            <a:picLocks noChangeAspect="1"/>
          </p:cNvPicPr>
          <p:nvPr/>
        </p:nvPicPr>
        <p:blipFill>
          <a:blip r:embed="rId3"/>
          <a:srcRect r="76721"/>
          <a:stretch>
            <a:fillRect/>
          </a:stretch>
        </p:blipFill>
        <p:spPr>
          <a:xfrm>
            <a:off x="5234465" y="5050141"/>
            <a:ext cx="1636174" cy="942869"/>
          </a:xfrm>
          <a:prstGeom prst="rect">
            <a:avLst/>
          </a:prstGeom>
        </p:spPr>
      </p:pic>
      <p:sp>
        <p:nvSpPr>
          <p:cNvPr id="8" name="副标题 2">
            <a:extLst>
              <a:ext uri="{FF2B5EF4-FFF2-40B4-BE49-F238E27FC236}">
                <a16:creationId xmlns:a16="http://schemas.microsoft.com/office/drawing/2014/main" id="{DCD5F670-3563-6238-93CB-B63FCEB7A913}"/>
              </a:ext>
            </a:extLst>
          </p:cNvPr>
          <p:cNvSpPr txBox="1">
            <a:spLocks/>
          </p:cNvSpPr>
          <p:nvPr/>
        </p:nvSpPr>
        <p:spPr>
          <a:xfrm>
            <a:off x="5321358" y="3734873"/>
            <a:ext cx="1549281" cy="46482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gn="ctr"/>
            <a:r>
              <a:rPr kumimoji="1" lang="en-US" altLang="zh-CN" sz="2000" dirty="0"/>
              <a:t>3/17/2026</a:t>
            </a:r>
            <a:endParaRPr kumimoji="1" lang="zh-CN" alt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kumimoji="1" lang="en-US" altLang="zh-CN" dirty="0"/>
              <a:t>Outline</a:t>
            </a:r>
            <a:endParaRPr kumimoji="1" lang="zh-CN" altLang="en-US" dirty="0"/>
          </a:p>
        </p:txBody>
      </p:sp>
      <p:sp>
        <p:nvSpPr>
          <p:cNvPr id="3" name="副标题 2"/>
          <p:cNvSpPr>
            <a:spLocks noGrp="1"/>
          </p:cNvSpPr>
          <p:nvPr>
            <p:ph type="subTitle" idx="1"/>
          </p:nvPr>
        </p:nvSpPr>
        <p:spPr>
          <a:xfrm>
            <a:off x="253448" y="1383527"/>
            <a:ext cx="11575773" cy="4750904"/>
          </a:xfrm>
        </p:spPr>
        <p:txBody>
          <a:bodyPr/>
          <a:lstStyle/>
          <a:p>
            <a:endParaRPr kumimoji="1" lang="en-US" altLang="zh-CN" dirty="0"/>
          </a:p>
          <a:p>
            <a:pPr marL="457200" indent="-457200">
              <a:buAutoNum type="arabicPeriod"/>
            </a:pPr>
            <a:r>
              <a:rPr kumimoji="1" lang="en-US" altLang="zh-CN" sz="2800" dirty="0">
                <a:latin typeface="Garamond" panose="02020404030301010803" pitchFamily="18" charset="0"/>
              </a:rPr>
              <a:t>Overview</a:t>
            </a:r>
          </a:p>
          <a:p>
            <a:pPr marL="457200" indent="-457200">
              <a:buAutoNum type="arabicPeriod"/>
            </a:pPr>
            <a:endParaRPr kumimoji="1" lang="en-US" altLang="zh-CN" sz="2800" dirty="0">
              <a:latin typeface="Garamond" panose="02020404030301010803" pitchFamily="18" charset="0"/>
            </a:endParaRPr>
          </a:p>
          <a:p>
            <a:pPr marL="457200" indent="-457200">
              <a:buAutoNum type="arabicPeriod"/>
            </a:pPr>
            <a:r>
              <a:rPr kumimoji="1" lang="en-US" altLang="zh-CN" sz="2800" dirty="0">
                <a:latin typeface="Garamond" panose="02020404030301010803" pitchFamily="18" charset="0"/>
              </a:rPr>
              <a:t>Post-training: How can we build a reliable</a:t>
            </a:r>
            <a:r>
              <a:rPr kumimoji="1" lang="zh-CN" altLang="en-US" sz="2800" dirty="0">
                <a:latin typeface="Garamond" panose="02020404030301010803" pitchFamily="18" charset="0"/>
              </a:rPr>
              <a:t> </a:t>
            </a:r>
            <a:r>
              <a:rPr kumimoji="1" lang="en-US" altLang="zh-CN" sz="2800" dirty="0">
                <a:latin typeface="Garamond" panose="02020404030301010803" pitchFamily="18" charset="0"/>
              </a:rPr>
              <a:t>Agentic System  </a:t>
            </a:r>
          </a:p>
          <a:p>
            <a:pPr marL="457200" indent="-457200">
              <a:buAutoNum type="arabicPeriod"/>
            </a:pPr>
            <a:endParaRPr kumimoji="1" lang="en-US" altLang="zh-CN" sz="2800" dirty="0">
              <a:latin typeface="Garamond" panose="02020404030301010803" pitchFamily="18" charset="0"/>
            </a:endParaRPr>
          </a:p>
          <a:p>
            <a:pPr marL="457200" indent="-457200">
              <a:buAutoNum type="arabicPeriod"/>
            </a:pPr>
            <a:r>
              <a:rPr kumimoji="1" lang="en-US" altLang="zh-CN" sz="2800" dirty="0">
                <a:latin typeface="Garamond" panose="02020404030301010803" pitchFamily="18" charset="0"/>
              </a:rPr>
              <a:t>Self-Evolving: How should we continue to raise the ceiling</a:t>
            </a:r>
          </a:p>
        </p:txBody>
      </p:sp>
      <p:sp>
        <p:nvSpPr>
          <p:cNvPr id="4" name="日期占位符 3"/>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p:cNvSpPr>
            <a:spLocks noGrp="1"/>
          </p:cNvSpPr>
          <p:nvPr>
            <p:ph type="sldNum" sz="quarter" idx="12"/>
          </p:nvPr>
        </p:nvSpPr>
        <p:spPr/>
        <p:txBody>
          <a:bodyPr/>
          <a:lstStyle/>
          <a:p>
            <a:fld id="{24F01846-2DA3-FB44-9D89-19679C480714}" type="slidenum">
              <a:rPr kumimoji="1" lang="zh-CN" altLang="en-US" smtClean="0"/>
              <a:t>2</a:t>
            </a:fld>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86CBE-CB85-C759-74A6-F78DEF2BE23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8EF7BBD-9A88-7C8D-B7B1-F24709B18117}"/>
              </a:ext>
            </a:extLst>
          </p:cNvPr>
          <p:cNvSpPr>
            <a:spLocks noGrp="1"/>
          </p:cNvSpPr>
          <p:nvPr>
            <p:ph type="ctrTitle"/>
          </p:nvPr>
        </p:nvSpPr>
        <p:spPr/>
        <p:txBody>
          <a:bodyPr>
            <a:normAutofit/>
          </a:bodyPr>
          <a:lstStyle/>
          <a:p>
            <a:r>
              <a:rPr kumimoji="1" lang="en-US" altLang="zh-CN" dirty="0"/>
              <a:t>Outline</a:t>
            </a:r>
            <a:endParaRPr kumimoji="1" lang="zh-CN" altLang="en-US" dirty="0"/>
          </a:p>
        </p:txBody>
      </p:sp>
      <p:sp>
        <p:nvSpPr>
          <p:cNvPr id="3" name="副标题 2">
            <a:extLst>
              <a:ext uri="{FF2B5EF4-FFF2-40B4-BE49-F238E27FC236}">
                <a16:creationId xmlns:a16="http://schemas.microsoft.com/office/drawing/2014/main" id="{1F39BDCB-21F8-511A-9CE0-C4752B496734}"/>
              </a:ext>
            </a:extLst>
          </p:cNvPr>
          <p:cNvSpPr>
            <a:spLocks noGrp="1"/>
          </p:cNvSpPr>
          <p:nvPr>
            <p:ph type="subTitle" idx="1"/>
          </p:nvPr>
        </p:nvSpPr>
        <p:spPr>
          <a:xfrm>
            <a:off x="253448" y="1383527"/>
            <a:ext cx="11575773" cy="4750904"/>
          </a:xfrm>
        </p:spPr>
        <p:txBody>
          <a:bodyPr/>
          <a:lstStyle/>
          <a:p>
            <a:endParaRPr kumimoji="1" lang="en-US" altLang="zh-CN" dirty="0"/>
          </a:p>
          <a:p>
            <a:pPr marL="457200" indent="-457200">
              <a:buAutoNum type="arabicPeriod"/>
            </a:pPr>
            <a:r>
              <a:rPr kumimoji="1" lang="en-US" altLang="zh-CN" sz="2800" dirty="0">
                <a:latin typeface="Garamond" panose="02020404030301010803" pitchFamily="18" charset="0"/>
              </a:rPr>
              <a:t>Overview</a:t>
            </a:r>
          </a:p>
          <a:p>
            <a:pPr marL="457200" indent="-457200">
              <a:buFont typeface="Arial" panose="020B0604020202020204" pitchFamily="34" charset="0"/>
              <a:buChar char="•"/>
            </a:pPr>
            <a:r>
              <a:rPr kumimoji="1" lang="en-US" altLang="zh-CN" sz="1800" dirty="0">
                <a:latin typeface="Garamond" panose="02020404030301010803" pitchFamily="18" charset="0"/>
              </a:rPr>
              <a:t>Two Views</a:t>
            </a:r>
          </a:p>
          <a:p>
            <a:pPr marL="457200" indent="-457200">
              <a:buFont typeface="Arial" panose="020B0604020202020204" pitchFamily="34" charset="0"/>
              <a:buChar char="•"/>
            </a:pPr>
            <a:r>
              <a:rPr kumimoji="1" lang="en-US" altLang="zh-CN" sz="1800" dirty="0">
                <a:latin typeface="Garamond" panose="02020404030301010803" pitchFamily="18" charset="0"/>
              </a:rPr>
              <a:t>LLM Agent vs. Agentic System</a:t>
            </a:r>
            <a:endParaRPr kumimoji="1" lang="en-US" altLang="zh-CN" sz="1600" dirty="0">
              <a:latin typeface="Garamond" panose="02020404030301010803" pitchFamily="18" charset="0"/>
            </a:endParaRPr>
          </a:p>
          <a:p>
            <a:pPr marL="457200" indent="-457200">
              <a:buAutoNum type="arabicPeriod"/>
            </a:pPr>
            <a:endParaRPr kumimoji="1" lang="en-US" altLang="zh-CN" sz="2800" dirty="0">
              <a:latin typeface="Garamond" panose="02020404030301010803" pitchFamily="18" charset="0"/>
            </a:endParaRPr>
          </a:p>
          <a:p>
            <a:r>
              <a:rPr kumimoji="1" lang="en-US" altLang="zh-CN" sz="2800" dirty="0">
                <a:solidFill>
                  <a:schemeClr val="bg2">
                    <a:lumMod val="90000"/>
                  </a:schemeClr>
                </a:solidFill>
                <a:latin typeface="Garamond" panose="02020404030301010803" pitchFamily="18" charset="0"/>
              </a:rPr>
              <a:t>2.  Post-training: How can we build a reliable</a:t>
            </a:r>
            <a:r>
              <a:rPr kumimoji="1" lang="zh-CN" altLang="en-US" sz="2800" dirty="0">
                <a:solidFill>
                  <a:schemeClr val="bg2">
                    <a:lumMod val="90000"/>
                  </a:schemeClr>
                </a:solidFill>
                <a:latin typeface="Garamond" panose="02020404030301010803" pitchFamily="18" charset="0"/>
              </a:rPr>
              <a:t> </a:t>
            </a:r>
            <a:r>
              <a:rPr kumimoji="1" lang="en-US" altLang="zh-CN" sz="2800" dirty="0">
                <a:solidFill>
                  <a:schemeClr val="bg2">
                    <a:lumMod val="90000"/>
                  </a:schemeClr>
                </a:solidFill>
                <a:latin typeface="Garamond" panose="02020404030301010803" pitchFamily="18" charset="0"/>
              </a:rPr>
              <a:t>Agentic System  </a:t>
            </a:r>
          </a:p>
          <a:p>
            <a:pPr marL="457200" indent="-457200">
              <a:buAutoNum type="arabicPeriod"/>
            </a:pPr>
            <a:endParaRPr kumimoji="1" lang="en-US" altLang="zh-CN" sz="2800" dirty="0">
              <a:solidFill>
                <a:schemeClr val="bg2">
                  <a:lumMod val="90000"/>
                </a:schemeClr>
              </a:solidFill>
              <a:latin typeface="Garamond" panose="02020404030301010803" pitchFamily="18" charset="0"/>
            </a:endParaRPr>
          </a:p>
          <a:p>
            <a:r>
              <a:rPr kumimoji="1" lang="en-US" altLang="zh-CN" sz="2800" dirty="0">
                <a:solidFill>
                  <a:schemeClr val="bg2">
                    <a:lumMod val="90000"/>
                  </a:schemeClr>
                </a:solidFill>
                <a:latin typeface="Garamond" panose="02020404030301010803" pitchFamily="18" charset="0"/>
              </a:rPr>
              <a:t>3.  Self-Evolving: How should we continue to raise the ceiling</a:t>
            </a:r>
          </a:p>
        </p:txBody>
      </p:sp>
      <p:sp>
        <p:nvSpPr>
          <p:cNvPr id="4" name="日期占位符 3">
            <a:extLst>
              <a:ext uri="{FF2B5EF4-FFF2-40B4-BE49-F238E27FC236}">
                <a16:creationId xmlns:a16="http://schemas.microsoft.com/office/drawing/2014/main" id="{E3021549-C200-16B4-BF70-D504BA097C73}"/>
              </a:ext>
            </a:extLst>
          </p:cNvPr>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a:extLst>
              <a:ext uri="{FF2B5EF4-FFF2-40B4-BE49-F238E27FC236}">
                <a16:creationId xmlns:a16="http://schemas.microsoft.com/office/drawing/2014/main" id="{81A45912-C1E3-8D65-E394-2CB8B8669A47}"/>
              </a:ext>
            </a:extLst>
          </p:cNvPr>
          <p:cNvSpPr>
            <a:spLocks noGrp="1"/>
          </p:cNvSpPr>
          <p:nvPr>
            <p:ph type="sldNum" sz="quarter" idx="12"/>
          </p:nvPr>
        </p:nvSpPr>
        <p:spPr/>
        <p:txBody>
          <a:bodyPr/>
          <a:lstStyle/>
          <a:p>
            <a:fld id="{24F01846-2DA3-FB44-9D89-19679C480714}" type="slidenum">
              <a:rPr kumimoji="1" lang="zh-CN" altLang="en-US" smtClean="0"/>
              <a:t>3</a:t>
            </a:fld>
            <a:endParaRPr kumimoji="1" lang="zh-CN" altLang="en-US" dirty="0"/>
          </a:p>
        </p:txBody>
      </p:sp>
    </p:spTree>
    <p:extLst>
      <p:ext uri="{BB962C8B-B14F-4D97-AF65-F5344CB8AC3E}">
        <p14:creationId xmlns:p14="http://schemas.microsoft.com/office/powerpoint/2010/main" val="389683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kumimoji="1" lang="en-US" altLang="zh-CN" dirty="0"/>
              <a:t>Moden Agent != LLM + external environment</a:t>
            </a:r>
            <a:endParaRPr kumimoji="1" lang="zh-CN" altLang="en-US" dirty="0"/>
          </a:p>
        </p:txBody>
      </p:sp>
      <p:sp>
        <p:nvSpPr>
          <p:cNvPr id="3" name="副标题 2"/>
          <p:cNvSpPr>
            <a:spLocks noGrp="1"/>
          </p:cNvSpPr>
          <p:nvPr>
            <p:ph type="subTitle" idx="1"/>
          </p:nvPr>
        </p:nvSpPr>
        <p:spPr>
          <a:xfrm>
            <a:off x="308113" y="2448879"/>
            <a:ext cx="11575773" cy="1231657"/>
          </a:xfrm>
        </p:spPr>
        <p:txBody>
          <a:bodyPr/>
          <a:lstStyle/>
          <a:p>
            <a:r>
              <a:rPr lang="en-US" altLang="zh-CN" sz="1700" i="1" dirty="0"/>
              <a:t>Implications: </a:t>
            </a:r>
            <a:r>
              <a:rPr lang="en-US" altLang="zh-CN" sz="1700" dirty="0"/>
              <a:t>scaffold on top of LLMs, prompting-focused, heavy on engineering</a:t>
            </a:r>
          </a:p>
          <a:p>
            <a:endParaRPr kumimoji="1" lang="zh-CN" altLang="en-US" dirty="0"/>
          </a:p>
        </p:txBody>
      </p:sp>
      <p:sp>
        <p:nvSpPr>
          <p:cNvPr id="4" name="日期占位符 3"/>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p:cNvSpPr>
            <a:spLocks noGrp="1"/>
          </p:cNvSpPr>
          <p:nvPr>
            <p:ph type="sldNum" sz="quarter" idx="12"/>
          </p:nvPr>
        </p:nvSpPr>
        <p:spPr/>
        <p:txBody>
          <a:bodyPr/>
          <a:lstStyle/>
          <a:p>
            <a:fld id="{24F01846-2DA3-FB44-9D89-19679C480714}" type="slidenum">
              <a:rPr kumimoji="1" lang="zh-CN" altLang="en-US" smtClean="0"/>
              <a:t>4</a:t>
            </a:fld>
            <a:endParaRPr kumimoji="1" lang="zh-CN" altLang="en-US" dirty="0"/>
          </a:p>
        </p:txBody>
      </p:sp>
      <p:sp>
        <p:nvSpPr>
          <p:cNvPr id="7" name="矩形 6">
            <a:extLst>
              <a:ext uri="{FF2B5EF4-FFF2-40B4-BE49-F238E27FC236}">
                <a16:creationId xmlns:a16="http://schemas.microsoft.com/office/drawing/2014/main" id="{158F3049-67C6-775F-6871-423D83BCAF80}"/>
              </a:ext>
            </a:extLst>
          </p:cNvPr>
          <p:cNvSpPr/>
          <p:nvPr/>
        </p:nvSpPr>
        <p:spPr>
          <a:xfrm>
            <a:off x="251792" y="3583141"/>
            <a:ext cx="1951912" cy="475488"/>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Agent-first view</a:t>
            </a:r>
            <a:endParaRPr kumimoji="1" lang="zh-CN" altLang="en-US" b="1" dirty="0">
              <a:solidFill>
                <a:schemeClr val="tx1"/>
              </a:solidFill>
            </a:endParaRPr>
          </a:p>
        </p:txBody>
      </p:sp>
      <p:sp>
        <p:nvSpPr>
          <p:cNvPr id="8" name="矩形 7">
            <a:extLst>
              <a:ext uri="{FF2B5EF4-FFF2-40B4-BE49-F238E27FC236}">
                <a16:creationId xmlns:a16="http://schemas.microsoft.com/office/drawing/2014/main" id="{8F4EC0F4-7E1E-B440-C923-32C3576AF7D3}"/>
              </a:ext>
            </a:extLst>
          </p:cNvPr>
          <p:cNvSpPr/>
          <p:nvPr/>
        </p:nvSpPr>
        <p:spPr>
          <a:xfrm>
            <a:off x="308113" y="1621877"/>
            <a:ext cx="1806934" cy="46654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chemeClr val="tx1"/>
                </a:solidFill>
              </a:rPr>
              <a:t>LLM-first view</a:t>
            </a:r>
            <a:endParaRPr kumimoji="1" lang="zh-CN" altLang="en-US" b="1" dirty="0">
              <a:solidFill>
                <a:schemeClr val="tx1"/>
              </a:solidFill>
            </a:endParaRPr>
          </a:p>
        </p:txBody>
      </p:sp>
      <p:sp>
        <p:nvSpPr>
          <p:cNvPr id="9" name="文本框 8">
            <a:extLst>
              <a:ext uri="{FF2B5EF4-FFF2-40B4-BE49-F238E27FC236}">
                <a16:creationId xmlns:a16="http://schemas.microsoft.com/office/drawing/2014/main" id="{F1512CE8-60B2-7043-6728-2DE63D2FAA0F}"/>
              </a:ext>
            </a:extLst>
          </p:cNvPr>
          <p:cNvSpPr txBox="1"/>
          <p:nvPr/>
        </p:nvSpPr>
        <p:spPr>
          <a:xfrm>
            <a:off x="2115047" y="1672608"/>
            <a:ext cx="11489104" cy="646331"/>
          </a:xfrm>
          <a:prstGeom prst="rect">
            <a:avLst/>
          </a:prstGeom>
          <a:noFill/>
        </p:spPr>
        <p:txBody>
          <a:bodyPr wrap="square" rtlCol="0">
            <a:spAutoFit/>
          </a:bodyPr>
          <a:lstStyle/>
          <a:p>
            <a:r>
              <a:rPr lang="en-US" altLang="zh-CN" dirty="0"/>
              <a:t>We make an LLM into an agent!</a:t>
            </a:r>
            <a:r>
              <a:rPr lang="zh-CN" altLang="en-US" dirty="0"/>
              <a:t> </a:t>
            </a:r>
            <a:r>
              <a:rPr lang="en-US" altLang="zh-CN" dirty="0"/>
              <a:t>-&gt;-&gt; </a:t>
            </a:r>
            <a:r>
              <a:rPr lang="en-US" altLang="zh-CN" dirty="0">
                <a:solidFill>
                  <a:srgbClr val="FF0000"/>
                </a:solidFill>
              </a:rPr>
              <a:t>LLM Agent</a:t>
            </a:r>
          </a:p>
          <a:p>
            <a:endParaRPr kumimoji="1" lang="zh-CN" altLang="en-US" dirty="0"/>
          </a:p>
        </p:txBody>
      </p:sp>
      <p:sp>
        <p:nvSpPr>
          <p:cNvPr id="10" name="文本框 9">
            <a:extLst>
              <a:ext uri="{FF2B5EF4-FFF2-40B4-BE49-F238E27FC236}">
                <a16:creationId xmlns:a16="http://schemas.microsoft.com/office/drawing/2014/main" id="{AC618268-7412-B880-E7F1-CB4F191DA2E3}"/>
              </a:ext>
            </a:extLst>
          </p:cNvPr>
          <p:cNvSpPr txBox="1"/>
          <p:nvPr/>
        </p:nvSpPr>
        <p:spPr>
          <a:xfrm>
            <a:off x="2260025" y="3644408"/>
            <a:ext cx="11489104" cy="923330"/>
          </a:xfrm>
          <a:prstGeom prst="rect">
            <a:avLst/>
          </a:prstGeom>
          <a:noFill/>
        </p:spPr>
        <p:txBody>
          <a:bodyPr wrap="square" rtlCol="0">
            <a:spAutoFit/>
          </a:bodyPr>
          <a:lstStyle/>
          <a:p>
            <a:r>
              <a:rPr lang="en-US" altLang="zh-CN" dirty="0"/>
              <a:t>We integrate LLMs into AI agents so they can use language for reasoning and communication!</a:t>
            </a:r>
          </a:p>
          <a:p>
            <a:r>
              <a:rPr lang="en-US" altLang="zh-CN" dirty="0"/>
              <a:t>-&gt;-&gt; </a:t>
            </a:r>
            <a:r>
              <a:rPr lang="en-US" altLang="zh-CN" dirty="0">
                <a:solidFill>
                  <a:srgbClr val="FF0000"/>
                </a:solidFill>
              </a:rPr>
              <a:t>Agentic System</a:t>
            </a:r>
          </a:p>
          <a:p>
            <a:endParaRPr kumimoji="1" lang="zh-CN" altLang="en-US" dirty="0"/>
          </a:p>
        </p:txBody>
      </p:sp>
      <p:sp>
        <p:nvSpPr>
          <p:cNvPr id="11" name="副标题 2">
            <a:extLst>
              <a:ext uri="{FF2B5EF4-FFF2-40B4-BE49-F238E27FC236}">
                <a16:creationId xmlns:a16="http://schemas.microsoft.com/office/drawing/2014/main" id="{266898E9-B76C-46F4-5732-4E2994EB0150}"/>
              </a:ext>
            </a:extLst>
          </p:cNvPr>
          <p:cNvSpPr txBox="1">
            <a:spLocks/>
          </p:cNvSpPr>
          <p:nvPr/>
        </p:nvSpPr>
        <p:spPr>
          <a:xfrm>
            <a:off x="308113" y="4401323"/>
            <a:ext cx="11643095" cy="172918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nSpc>
                <a:spcPct val="160000"/>
              </a:lnSpc>
            </a:pPr>
            <a:r>
              <a:rPr lang="en-US" altLang="zh-CN" sz="1700" i="1" dirty="0"/>
              <a:t>Implications: </a:t>
            </a:r>
            <a:r>
              <a:rPr lang="en-US" altLang="zh-CN" sz="1700" dirty="0"/>
              <a:t>All the same challenges faced by previous AI agents (e.g., perception, reasoning, world models, planning) still remain,  but we need to (re)examine them through the new lens of LLMs and tackle new ones (e.g., synthetic data, self-reflection, internalized search)</a:t>
            </a:r>
          </a:p>
          <a:p>
            <a:endParaRPr kumimoji="1" lang="zh-CN" altLang="en-US" dirty="0"/>
          </a:p>
        </p:txBody>
      </p:sp>
      <p:pic>
        <p:nvPicPr>
          <p:cNvPr id="1028" name="Picture 4" descr="What is Reinforcement Learning: Overview, Comparisons and Ap">
            <a:extLst>
              <a:ext uri="{FF2B5EF4-FFF2-40B4-BE49-F238E27FC236}">
                <a16:creationId xmlns:a16="http://schemas.microsoft.com/office/drawing/2014/main" id="{377D5BF9-796E-0E90-DC70-D693244B9D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4793" y="551749"/>
            <a:ext cx="3979093" cy="161080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kumimoji="1" lang="en-US" altLang="zh-CN" dirty="0"/>
              <a:t>A conceptual framework you might know</a:t>
            </a:r>
            <a:endParaRPr kumimoji="1" lang="zh-CN" altLang="en-US" dirty="0"/>
          </a:p>
        </p:txBody>
      </p:sp>
      <p:sp>
        <p:nvSpPr>
          <p:cNvPr id="3" name="副标题 2"/>
          <p:cNvSpPr>
            <a:spLocks noGrp="1"/>
          </p:cNvSpPr>
          <p:nvPr>
            <p:ph type="subTitle" idx="1"/>
          </p:nvPr>
        </p:nvSpPr>
        <p:spPr/>
        <p:txBody>
          <a:bodyPr/>
          <a:lstStyle/>
          <a:p>
            <a:endParaRPr kumimoji="1" lang="zh-CN" altLang="en-US"/>
          </a:p>
        </p:txBody>
      </p:sp>
      <p:sp>
        <p:nvSpPr>
          <p:cNvPr id="4" name="日期占位符 3"/>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p:cNvSpPr>
            <a:spLocks noGrp="1"/>
          </p:cNvSpPr>
          <p:nvPr>
            <p:ph type="sldNum" sz="quarter" idx="12"/>
          </p:nvPr>
        </p:nvSpPr>
        <p:spPr/>
        <p:txBody>
          <a:bodyPr/>
          <a:lstStyle/>
          <a:p>
            <a:fld id="{24F01846-2DA3-FB44-9D89-19679C480714}" type="slidenum">
              <a:rPr kumimoji="1" lang="zh-CN" altLang="en-US" smtClean="0"/>
              <a:t>5</a:t>
            </a:fld>
            <a:endParaRPr kumimoji="1" lang="zh-CN" altLang="en-US" dirty="0"/>
          </a:p>
        </p:txBody>
      </p:sp>
      <p:pic>
        <p:nvPicPr>
          <p:cNvPr id="6" name="图片 5">
            <a:extLst>
              <a:ext uri="{FF2B5EF4-FFF2-40B4-BE49-F238E27FC236}">
                <a16:creationId xmlns:a16="http://schemas.microsoft.com/office/drawing/2014/main" id="{5C47C7BE-519E-7500-5686-8D448BA660AA}"/>
              </a:ext>
            </a:extLst>
          </p:cNvPr>
          <p:cNvPicPr>
            <a:picLocks noChangeAspect="1"/>
          </p:cNvPicPr>
          <p:nvPr/>
        </p:nvPicPr>
        <p:blipFill>
          <a:blip r:embed="rId2"/>
          <a:stretch>
            <a:fillRect/>
          </a:stretch>
        </p:blipFill>
        <p:spPr>
          <a:xfrm>
            <a:off x="1637922" y="1292087"/>
            <a:ext cx="8277452" cy="49989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AE1EFE29-2AA9-5FE1-8F9D-2C2F139D3079}"/>
              </a:ext>
            </a:extLst>
          </p:cNvPr>
          <p:cNvSpPr/>
          <p:nvPr/>
        </p:nvSpPr>
        <p:spPr>
          <a:xfrm>
            <a:off x="727466" y="4116531"/>
            <a:ext cx="1072638" cy="82296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 name="标题 1"/>
          <p:cNvSpPr>
            <a:spLocks noGrp="1"/>
          </p:cNvSpPr>
          <p:nvPr>
            <p:ph type="ctrTitle"/>
          </p:nvPr>
        </p:nvSpPr>
        <p:spPr/>
        <p:txBody>
          <a:bodyPr>
            <a:normAutofit/>
          </a:bodyPr>
          <a:lstStyle/>
          <a:p>
            <a:r>
              <a:rPr kumimoji="1" lang="en-US" altLang="zh-CN" sz="2500" dirty="0"/>
              <a:t>Stage 1: </a:t>
            </a:r>
            <a:r>
              <a:rPr kumimoji="1" lang="en-US" altLang="zh-CN" sz="2500" u="sng" dirty="0"/>
              <a:t>LLM</a:t>
            </a:r>
            <a:r>
              <a:rPr kumimoji="1" lang="en-US" altLang="zh-CN" sz="2500" dirty="0"/>
              <a:t> Agent (LLM is the only brain) </a:t>
            </a:r>
            <a:endParaRPr kumimoji="1" lang="zh-CN" altLang="en-US" sz="2500" dirty="0"/>
          </a:p>
        </p:txBody>
      </p:sp>
      <p:sp>
        <p:nvSpPr>
          <p:cNvPr id="3" name="副标题 2"/>
          <p:cNvSpPr>
            <a:spLocks noGrp="1"/>
          </p:cNvSpPr>
          <p:nvPr>
            <p:ph type="subTitle" idx="1"/>
          </p:nvPr>
        </p:nvSpPr>
        <p:spPr>
          <a:xfrm>
            <a:off x="251792" y="1131945"/>
            <a:ext cx="11575773" cy="4750904"/>
          </a:xfrm>
        </p:spPr>
        <p:txBody>
          <a:bodyPr/>
          <a:lstStyle/>
          <a:p>
            <a:r>
              <a:rPr lang="en-US" altLang="zh-CN" sz="1600" dirty="0"/>
              <a:t>Contemporary AI agents, with integrated LLM(s), can </a:t>
            </a:r>
            <a:r>
              <a:rPr lang="en-US" altLang="zh-CN" sz="1600" i="1" dirty="0"/>
              <a:t>use language as a vehicle for reasoning and communication</a:t>
            </a:r>
          </a:p>
          <a:p>
            <a:pPr marL="285750" indent="-285750">
              <a:buFontTx/>
              <a:buChar char="-"/>
            </a:pPr>
            <a:r>
              <a:rPr lang="en-US" altLang="zh-CN" sz="1600" dirty="0"/>
              <a:t>Instruction following, in-context learning, output customization</a:t>
            </a:r>
          </a:p>
          <a:p>
            <a:pPr marL="285750" indent="-285750">
              <a:buFontTx/>
              <a:buChar char="-"/>
            </a:pPr>
            <a:r>
              <a:rPr lang="en-US" altLang="zh-CN" sz="1600" dirty="0"/>
              <a:t>Reasoning (for better acting): state inferences, self-reflection, replanning, etc. </a:t>
            </a:r>
          </a:p>
          <a:p>
            <a:pPr marL="285750" indent="-285750">
              <a:buFontTx/>
              <a:buChar char="-"/>
            </a:pPr>
            <a:endParaRPr lang="en-US" altLang="zh-CN" sz="1600" dirty="0"/>
          </a:p>
          <a:p>
            <a:endParaRPr lang="en-US" altLang="zh-CN" sz="1600" i="1" dirty="0"/>
          </a:p>
          <a:p>
            <a:endParaRPr lang="en-US" altLang="zh-CN" sz="1600" dirty="0"/>
          </a:p>
          <a:p>
            <a:endParaRPr kumimoji="1" lang="zh-CN" altLang="en-US" dirty="0"/>
          </a:p>
        </p:txBody>
      </p:sp>
      <p:sp>
        <p:nvSpPr>
          <p:cNvPr id="4" name="日期占位符 3"/>
          <p:cNvSpPr>
            <a:spLocks noGrp="1"/>
          </p:cNvSpPr>
          <p:nvPr>
            <p:ph type="dt" sz="half" idx="10"/>
          </p:nvPr>
        </p:nvSpPr>
        <p:spPr>
          <a:xfrm>
            <a:off x="92766" y="6356349"/>
            <a:ext cx="970721" cy="365125"/>
          </a:xfrm>
        </p:spPr>
        <p:txBody>
          <a:bodyPr/>
          <a:lstStyle/>
          <a:p>
            <a:fld id="{3EC80B9B-165E-4D40-8ABE-74EB107C3243}" type="datetime1">
              <a:rPr kumimoji="1" lang="zh-CN" altLang="en-US" smtClean="0"/>
              <a:t>2026/3/17</a:t>
            </a:fld>
            <a:endParaRPr kumimoji="1" lang="zh-CN" altLang="en-US" dirty="0"/>
          </a:p>
        </p:txBody>
      </p:sp>
      <p:sp>
        <p:nvSpPr>
          <p:cNvPr id="5" name="灯片编号占位符 4"/>
          <p:cNvSpPr>
            <a:spLocks noGrp="1"/>
          </p:cNvSpPr>
          <p:nvPr>
            <p:ph type="sldNum" sz="quarter" idx="12"/>
          </p:nvPr>
        </p:nvSpPr>
        <p:spPr/>
        <p:txBody>
          <a:bodyPr/>
          <a:lstStyle/>
          <a:p>
            <a:fld id="{24F01846-2DA3-FB44-9D89-19679C480714}" type="slidenum">
              <a:rPr kumimoji="1" lang="zh-CN" altLang="en-US" smtClean="0"/>
              <a:t>6</a:t>
            </a:fld>
            <a:endParaRPr kumimoji="1" lang="zh-CN" altLang="en-US" dirty="0"/>
          </a:p>
        </p:txBody>
      </p:sp>
      <p:sp>
        <p:nvSpPr>
          <p:cNvPr id="7" name="文本框 6">
            <a:extLst>
              <a:ext uri="{FF2B5EF4-FFF2-40B4-BE49-F238E27FC236}">
                <a16:creationId xmlns:a16="http://schemas.microsoft.com/office/drawing/2014/main" id="{FDEA3613-F069-A28E-4523-6427CF92851B}"/>
              </a:ext>
            </a:extLst>
          </p:cNvPr>
          <p:cNvSpPr txBox="1"/>
          <p:nvPr/>
        </p:nvSpPr>
        <p:spPr>
          <a:xfrm>
            <a:off x="4875517" y="2622175"/>
            <a:ext cx="6108192" cy="4062651"/>
          </a:xfrm>
          <a:prstGeom prst="rect">
            <a:avLst/>
          </a:prstGeom>
          <a:noFill/>
        </p:spPr>
        <p:txBody>
          <a:bodyPr wrap="square" rtlCol="0">
            <a:spAutoFit/>
          </a:bodyPr>
          <a:lstStyle/>
          <a:p>
            <a:pPr>
              <a:lnSpc>
                <a:spcPct val="150000"/>
              </a:lnSpc>
            </a:pPr>
            <a:r>
              <a:rPr lang="en-US" altLang="zh-CN" sz="1600" dirty="0"/>
              <a:t>• Reasoning by generating tokens is </a:t>
            </a:r>
            <a:r>
              <a:rPr lang="en-US" altLang="zh-CN" sz="1600" b="1" dirty="0"/>
              <a:t>a new type of action </a:t>
            </a:r>
            <a:r>
              <a:rPr lang="en-US" altLang="zh-CN" sz="1600" dirty="0"/>
              <a:t>(vs. actions in external environments) </a:t>
            </a:r>
          </a:p>
          <a:p>
            <a:pPr>
              <a:lnSpc>
                <a:spcPct val="150000"/>
              </a:lnSpc>
            </a:pPr>
            <a:r>
              <a:rPr lang="en-US" altLang="zh-CN" sz="1600" dirty="0"/>
              <a:t>• </a:t>
            </a:r>
            <a:r>
              <a:rPr lang="en-US" altLang="zh-CN" sz="1600" b="1" dirty="0"/>
              <a:t>Internal environment</a:t>
            </a:r>
            <a:r>
              <a:rPr lang="en-US" altLang="zh-CN" sz="1600" dirty="0"/>
              <a:t>: where </a:t>
            </a:r>
            <a:r>
              <a:rPr lang="en-US" altLang="zh-CN" sz="1600" u="sng" dirty="0"/>
              <a:t>reasoning</a:t>
            </a:r>
            <a:r>
              <a:rPr lang="en-US" altLang="zh-CN" sz="1600" dirty="0"/>
              <a:t> takes place in an inner monologue fashion </a:t>
            </a:r>
          </a:p>
          <a:p>
            <a:pPr>
              <a:lnSpc>
                <a:spcPct val="150000"/>
              </a:lnSpc>
            </a:pPr>
            <a:r>
              <a:rPr lang="en-US" altLang="zh-CN" sz="1600" dirty="0"/>
              <a:t>	• </a:t>
            </a:r>
            <a:r>
              <a:rPr lang="en-US" altLang="zh-CN" sz="1600" b="1" dirty="0"/>
              <a:t>Self-reflection: </a:t>
            </a:r>
            <a:r>
              <a:rPr lang="en-US" altLang="zh-CN" sz="1600" dirty="0"/>
              <a:t>a ‘meta’ reasoning action (i.e., 	reasoning over the reasoning process), akin to 	meta-cognitive functions </a:t>
            </a:r>
          </a:p>
          <a:p>
            <a:pPr>
              <a:lnSpc>
                <a:spcPct val="150000"/>
              </a:lnSpc>
            </a:pPr>
            <a:r>
              <a:rPr lang="en-US" altLang="zh-CN" sz="1600" dirty="0"/>
              <a:t>• </a:t>
            </a:r>
            <a:r>
              <a:rPr lang="en-US" altLang="zh-CN" sz="1600" b="1" dirty="0"/>
              <a:t>Percept </a:t>
            </a:r>
            <a:r>
              <a:rPr lang="en-US" altLang="zh-CN" sz="1600" dirty="0"/>
              <a:t>and </a:t>
            </a:r>
            <a:r>
              <a:rPr lang="en-US" altLang="zh-CN" sz="1600" b="1" dirty="0"/>
              <a:t>external action spaces</a:t>
            </a:r>
            <a:r>
              <a:rPr lang="en-US" altLang="zh-CN" sz="1600" dirty="0"/>
              <a:t>: </a:t>
            </a:r>
          </a:p>
          <a:p>
            <a:pPr>
              <a:lnSpc>
                <a:spcPct val="150000"/>
              </a:lnSpc>
            </a:pPr>
            <a:r>
              <a:rPr lang="en-US" altLang="zh-CN" sz="1600" dirty="0"/>
              <a:t>	• Using language for communication and multimodal 	perception </a:t>
            </a:r>
          </a:p>
          <a:p>
            <a:endParaRPr kumimoji="1" lang="zh-CN" altLang="en-US" dirty="0"/>
          </a:p>
        </p:txBody>
      </p:sp>
      <p:pic>
        <p:nvPicPr>
          <p:cNvPr id="8" name="图片 7">
            <a:extLst>
              <a:ext uri="{FF2B5EF4-FFF2-40B4-BE49-F238E27FC236}">
                <a16:creationId xmlns:a16="http://schemas.microsoft.com/office/drawing/2014/main" id="{0A7ABEF7-4530-4755-EA0D-221A965FA6C6}"/>
              </a:ext>
            </a:extLst>
          </p:cNvPr>
          <p:cNvPicPr>
            <a:picLocks noChangeAspect="1"/>
          </p:cNvPicPr>
          <p:nvPr/>
        </p:nvPicPr>
        <p:blipFill>
          <a:blip r:embed="rId3"/>
          <a:stretch>
            <a:fillRect/>
          </a:stretch>
        </p:blipFill>
        <p:spPr>
          <a:xfrm>
            <a:off x="1875182" y="2829103"/>
            <a:ext cx="2555817" cy="2806835"/>
          </a:xfrm>
          <a:prstGeom prst="rect">
            <a:avLst/>
          </a:prstGeom>
        </p:spPr>
      </p:pic>
      <p:sp>
        <p:nvSpPr>
          <p:cNvPr id="9" name="文本框 8">
            <a:extLst>
              <a:ext uri="{FF2B5EF4-FFF2-40B4-BE49-F238E27FC236}">
                <a16:creationId xmlns:a16="http://schemas.microsoft.com/office/drawing/2014/main" id="{B1298B5B-C09C-EE97-0460-A4BE62536A14}"/>
              </a:ext>
            </a:extLst>
          </p:cNvPr>
          <p:cNvSpPr txBox="1"/>
          <p:nvPr/>
        </p:nvSpPr>
        <p:spPr>
          <a:xfrm>
            <a:off x="580601" y="4235624"/>
            <a:ext cx="1366369" cy="584775"/>
          </a:xfrm>
          <a:prstGeom prst="rect">
            <a:avLst/>
          </a:prstGeom>
          <a:noFill/>
        </p:spPr>
        <p:txBody>
          <a:bodyPr wrap="square" rtlCol="0">
            <a:spAutoFit/>
          </a:bodyPr>
          <a:lstStyle/>
          <a:p>
            <a:pPr algn="ctr"/>
            <a:r>
              <a:rPr kumimoji="1" lang="en-US" altLang="zh-CN" sz="1600" dirty="0"/>
              <a:t>Inner</a:t>
            </a:r>
          </a:p>
          <a:p>
            <a:pPr algn="ctr"/>
            <a:r>
              <a:rPr kumimoji="1" lang="en-US" altLang="zh-CN" sz="1600" dirty="0"/>
              <a:t>Monologue</a:t>
            </a:r>
            <a:endParaRPr kumimoji="1" lang="zh-CN" alt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0DA3B-80DD-0D24-97ED-D1D1403A17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6F2D961-36F0-5CA7-983C-F8EA980C75D8}"/>
              </a:ext>
            </a:extLst>
          </p:cNvPr>
          <p:cNvSpPr>
            <a:spLocks noGrp="1"/>
          </p:cNvSpPr>
          <p:nvPr>
            <p:ph type="ctrTitle"/>
          </p:nvPr>
        </p:nvSpPr>
        <p:spPr/>
        <p:txBody>
          <a:bodyPr>
            <a:normAutofit/>
          </a:bodyPr>
          <a:lstStyle/>
          <a:p>
            <a:r>
              <a:rPr kumimoji="1" lang="en-US" altLang="zh-CN" sz="2500" dirty="0"/>
              <a:t>Stage 2: Agentic </a:t>
            </a:r>
            <a:r>
              <a:rPr kumimoji="1" lang="en-US" altLang="zh-CN" sz="2500" u="sng" dirty="0"/>
              <a:t>System</a:t>
            </a:r>
            <a:r>
              <a:rPr kumimoji="1" lang="en-US" altLang="zh-CN" sz="2500" dirty="0"/>
              <a:t> (Hybrid System for production)</a:t>
            </a:r>
            <a:endParaRPr kumimoji="1" lang="zh-CN" altLang="en-US" sz="2500" dirty="0"/>
          </a:p>
        </p:txBody>
      </p:sp>
      <p:sp>
        <p:nvSpPr>
          <p:cNvPr id="3" name="副标题 2">
            <a:extLst>
              <a:ext uri="{FF2B5EF4-FFF2-40B4-BE49-F238E27FC236}">
                <a16:creationId xmlns:a16="http://schemas.microsoft.com/office/drawing/2014/main" id="{3F36D533-5F15-C05A-294F-3D536A22C5D7}"/>
              </a:ext>
            </a:extLst>
          </p:cNvPr>
          <p:cNvSpPr>
            <a:spLocks noGrp="1"/>
          </p:cNvSpPr>
          <p:nvPr>
            <p:ph type="subTitle" idx="1"/>
          </p:nvPr>
        </p:nvSpPr>
        <p:spPr>
          <a:xfrm>
            <a:off x="308113" y="1154036"/>
            <a:ext cx="11575773" cy="4750904"/>
          </a:xfrm>
        </p:spPr>
        <p:txBody>
          <a:bodyPr/>
          <a:lstStyle/>
          <a:p>
            <a:r>
              <a:rPr lang="en-US" altLang="zh-CN" sz="1600" b="1" dirty="0"/>
              <a:t>LLM != Omnipotence. LLM = an advanced reasoning function</a:t>
            </a:r>
            <a:r>
              <a:rPr lang="en-US" altLang="zh-CN" sz="1600" dirty="0"/>
              <a:t>, supported by rigorous code logic, safety guardrails, </a:t>
            </a:r>
          </a:p>
          <a:p>
            <a:r>
              <a:rPr lang="en-US" altLang="zh-CN" sz="1600" dirty="0"/>
              <a:t>and with multi-module orchestration to ensure reliability.</a:t>
            </a:r>
          </a:p>
          <a:p>
            <a:r>
              <a:rPr lang="en-US" altLang="zh-CN" sz="1600" dirty="0"/>
              <a:t>-    Hybrid Architecture: Integrates neural components (LLMs, green blocks) with symbolic components.</a:t>
            </a:r>
          </a:p>
          <a:p>
            <a:pPr marL="285750" indent="-285750">
              <a:buFontTx/>
              <a:buChar char="-"/>
            </a:pPr>
            <a:r>
              <a:rPr lang="en-US" altLang="zh-CN" sz="1600" dirty="0"/>
              <a:t>Production-Ready Engineering System: LLM serves as a core component or cognitive engine </a:t>
            </a:r>
          </a:p>
          <a:p>
            <a:r>
              <a:rPr lang="en-US" altLang="zh-CN" sz="1600" dirty="0"/>
              <a:t>	</a:t>
            </a:r>
            <a:endParaRPr lang="en-US" altLang="zh-CN" sz="1600" i="1" dirty="0"/>
          </a:p>
          <a:p>
            <a:endParaRPr lang="en-US" altLang="zh-CN" sz="1600" dirty="0"/>
          </a:p>
          <a:p>
            <a:endParaRPr kumimoji="1" lang="zh-CN" altLang="en-US" dirty="0"/>
          </a:p>
        </p:txBody>
      </p:sp>
      <p:sp>
        <p:nvSpPr>
          <p:cNvPr id="4" name="日期占位符 3">
            <a:extLst>
              <a:ext uri="{FF2B5EF4-FFF2-40B4-BE49-F238E27FC236}">
                <a16:creationId xmlns:a16="http://schemas.microsoft.com/office/drawing/2014/main" id="{D2ECCD7E-BD98-4630-C4AE-CB9D7BC0B2F2}"/>
              </a:ext>
            </a:extLst>
          </p:cNvPr>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a:extLst>
              <a:ext uri="{FF2B5EF4-FFF2-40B4-BE49-F238E27FC236}">
                <a16:creationId xmlns:a16="http://schemas.microsoft.com/office/drawing/2014/main" id="{1CF28EC7-BA01-DEA6-598E-CEF5F0E9D18B}"/>
              </a:ext>
            </a:extLst>
          </p:cNvPr>
          <p:cNvSpPr>
            <a:spLocks noGrp="1"/>
          </p:cNvSpPr>
          <p:nvPr>
            <p:ph type="sldNum" sz="quarter" idx="12"/>
          </p:nvPr>
        </p:nvSpPr>
        <p:spPr/>
        <p:txBody>
          <a:bodyPr/>
          <a:lstStyle/>
          <a:p>
            <a:fld id="{24F01846-2DA3-FB44-9D89-19679C480714}" type="slidenum">
              <a:rPr kumimoji="1" lang="zh-CN" altLang="en-US" smtClean="0"/>
              <a:t>7</a:t>
            </a:fld>
            <a:endParaRPr kumimoji="1" lang="zh-CN" altLang="en-US" dirty="0"/>
          </a:p>
        </p:txBody>
      </p:sp>
      <p:pic>
        <p:nvPicPr>
          <p:cNvPr id="8" name="图片 7" descr="图示&#10;&#10;AI 生成的内容可能不正确。">
            <a:extLst>
              <a:ext uri="{FF2B5EF4-FFF2-40B4-BE49-F238E27FC236}">
                <a16:creationId xmlns:a16="http://schemas.microsoft.com/office/drawing/2014/main" id="{B1CF750E-7ED8-7EEF-7CEE-ABF787180079}"/>
              </a:ext>
            </a:extLst>
          </p:cNvPr>
          <p:cNvPicPr>
            <a:picLocks noChangeAspect="1"/>
          </p:cNvPicPr>
          <p:nvPr/>
        </p:nvPicPr>
        <p:blipFill>
          <a:blip r:embed="rId3"/>
          <a:stretch>
            <a:fillRect/>
          </a:stretch>
        </p:blipFill>
        <p:spPr>
          <a:xfrm>
            <a:off x="417841" y="3183727"/>
            <a:ext cx="1855473" cy="2689393"/>
          </a:xfrm>
          <a:prstGeom prst="rect">
            <a:avLst/>
          </a:prstGeom>
        </p:spPr>
      </p:pic>
      <p:pic>
        <p:nvPicPr>
          <p:cNvPr id="9" name="图片 8" descr="图示&#10;&#10;AI 生成的内容可能不正确。">
            <a:extLst>
              <a:ext uri="{FF2B5EF4-FFF2-40B4-BE49-F238E27FC236}">
                <a16:creationId xmlns:a16="http://schemas.microsoft.com/office/drawing/2014/main" id="{9A793732-87CE-5AD0-AEC6-9B8B1FF39F8D}"/>
              </a:ext>
            </a:extLst>
          </p:cNvPr>
          <p:cNvPicPr>
            <a:picLocks noChangeAspect="1"/>
          </p:cNvPicPr>
          <p:nvPr/>
        </p:nvPicPr>
        <p:blipFill>
          <a:blip r:embed="rId4"/>
          <a:stretch>
            <a:fillRect/>
          </a:stretch>
        </p:blipFill>
        <p:spPr>
          <a:xfrm>
            <a:off x="2273314" y="3183727"/>
            <a:ext cx="2219051" cy="2689393"/>
          </a:xfrm>
          <a:prstGeom prst="rect">
            <a:avLst/>
          </a:prstGeom>
        </p:spPr>
      </p:pic>
      <p:graphicFrame>
        <p:nvGraphicFramePr>
          <p:cNvPr id="15" name="文本框 6">
            <a:extLst>
              <a:ext uri="{FF2B5EF4-FFF2-40B4-BE49-F238E27FC236}">
                <a16:creationId xmlns:a16="http://schemas.microsoft.com/office/drawing/2014/main" id="{98B6A052-A211-4090-5DA6-505F7045AD8F}"/>
              </a:ext>
            </a:extLst>
          </p:cNvPr>
          <p:cNvGraphicFramePr/>
          <p:nvPr>
            <p:extLst>
              <p:ext uri="{D42A27DB-BD31-4B8C-83A1-F6EECF244321}">
                <p14:modId xmlns:p14="http://schemas.microsoft.com/office/powerpoint/2010/main" val="170348509"/>
              </p:ext>
            </p:extLst>
          </p:nvPr>
        </p:nvGraphicFramePr>
        <p:xfrm>
          <a:off x="5188893" y="2875244"/>
          <a:ext cx="6621842" cy="369331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854019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25B0C-3C4D-D6BC-04CA-BB40B641F93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A7C0CC0-CE83-0539-86FA-1B862212EC52}"/>
              </a:ext>
            </a:extLst>
          </p:cNvPr>
          <p:cNvSpPr>
            <a:spLocks noGrp="1"/>
          </p:cNvSpPr>
          <p:nvPr>
            <p:ph type="ctrTitle"/>
          </p:nvPr>
        </p:nvSpPr>
        <p:spPr/>
        <p:txBody>
          <a:bodyPr>
            <a:normAutofit/>
          </a:bodyPr>
          <a:lstStyle/>
          <a:p>
            <a:r>
              <a:rPr kumimoji="1" lang="en-US" altLang="zh-CN" dirty="0"/>
              <a:t>Outline</a:t>
            </a:r>
            <a:endParaRPr kumimoji="1" lang="zh-CN" altLang="en-US" dirty="0"/>
          </a:p>
        </p:txBody>
      </p:sp>
      <p:sp>
        <p:nvSpPr>
          <p:cNvPr id="3" name="副标题 2">
            <a:extLst>
              <a:ext uri="{FF2B5EF4-FFF2-40B4-BE49-F238E27FC236}">
                <a16:creationId xmlns:a16="http://schemas.microsoft.com/office/drawing/2014/main" id="{991F2B5C-487D-02D6-5ED1-AE93495FF374}"/>
              </a:ext>
            </a:extLst>
          </p:cNvPr>
          <p:cNvSpPr>
            <a:spLocks noGrp="1"/>
          </p:cNvSpPr>
          <p:nvPr>
            <p:ph type="subTitle" idx="1"/>
          </p:nvPr>
        </p:nvSpPr>
        <p:spPr>
          <a:xfrm>
            <a:off x="253448" y="1383527"/>
            <a:ext cx="11575773" cy="4750904"/>
          </a:xfrm>
        </p:spPr>
        <p:txBody>
          <a:bodyPr/>
          <a:lstStyle/>
          <a:p>
            <a:endParaRPr kumimoji="1" lang="en-US" altLang="zh-CN" dirty="0"/>
          </a:p>
          <a:p>
            <a:pPr marL="457200" indent="-457200">
              <a:buAutoNum type="arabicPeriod"/>
            </a:pPr>
            <a:r>
              <a:rPr kumimoji="1" lang="en-US" altLang="zh-CN" sz="2800" dirty="0">
                <a:solidFill>
                  <a:schemeClr val="bg2"/>
                </a:solidFill>
                <a:latin typeface="Garamond" panose="02020404030301010803" pitchFamily="18" charset="0"/>
              </a:rPr>
              <a:t>Overview</a:t>
            </a:r>
          </a:p>
          <a:p>
            <a:pPr marL="457200" indent="-457200">
              <a:buAutoNum type="arabicPeriod"/>
            </a:pPr>
            <a:endParaRPr kumimoji="1" lang="en-US" altLang="zh-CN" sz="2800" dirty="0">
              <a:latin typeface="Garamond" panose="02020404030301010803" pitchFamily="18" charset="0"/>
            </a:endParaRPr>
          </a:p>
          <a:p>
            <a:pPr marL="457200" indent="-457200">
              <a:buAutoNum type="arabicPeriod"/>
            </a:pPr>
            <a:r>
              <a:rPr kumimoji="1" lang="en-US" altLang="zh-CN" sz="2800" dirty="0">
                <a:latin typeface="Garamond" panose="02020404030301010803" pitchFamily="18" charset="0"/>
              </a:rPr>
              <a:t>Post-training: How can we build a reliable</a:t>
            </a:r>
            <a:r>
              <a:rPr kumimoji="1" lang="zh-CN" altLang="en-US" sz="2800" dirty="0">
                <a:latin typeface="Garamond" panose="02020404030301010803" pitchFamily="18" charset="0"/>
              </a:rPr>
              <a:t> </a:t>
            </a:r>
            <a:r>
              <a:rPr kumimoji="1" lang="en-US" altLang="zh-CN" sz="2800" dirty="0">
                <a:latin typeface="Garamond" panose="02020404030301010803" pitchFamily="18" charset="0"/>
              </a:rPr>
              <a:t>LLM Agent</a:t>
            </a:r>
          </a:p>
          <a:p>
            <a:pPr marL="285750" indent="-285750">
              <a:buFont typeface="Arial" panose="020B0604020202020204" pitchFamily="34" charset="0"/>
              <a:buChar char="•"/>
            </a:pPr>
            <a:r>
              <a:rPr kumimoji="1" lang="en-US" altLang="zh-CN" sz="1800" dirty="0">
                <a:latin typeface="Garamond" panose="02020404030301010803" pitchFamily="18" charset="0"/>
              </a:rPr>
              <a:t>SFT (data)</a:t>
            </a:r>
          </a:p>
          <a:p>
            <a:pPr marL="285750" indent="-285750">
              <a:buFont typeface="Arial" panose="020B0604020202020204" pitchFamily="34" charset="0"/>
              <a:buChar char="•"/>
            </a:pPr>
            <a:r>
              <a:rPr kumimoji="1" lang="en-US" altLang="zh-CN" sz="1800" dirty="0">
                <a:latin typeface="Garamond" panose="02020404030301010803" pitchFamily="18" charset="0"/>
              </a:rPr>
              <a:t>RL (data, grade &amp; eval, etc.)</a:t>
            </a:r>
          </a:p>
          <a:p>
            <a:pPr marL="457200" indent="-457200">
              <a:buAutoNum type="arabicPeriod"/>
            </a:pPr>
            <a:endParaRPr kumimoji="1" lang="en-US" altLang="zh-CN" sz="2800" dirty="0">
              <a:solidFill>
                <a:schemeClr val="bg2">
                  <a:lumMod val="90000"/>
                </a:schemeClr>
              </a:solidFill>
              <a:latin typeface="Garamond" panose="02020404030301010803" pitchFamily="18" charset="0"/>
            </a:endParaRPr>
          </a:p>
          <a:p>
            <a:r>
              <a:rPr kumimoji="1" lang="en-US" altLang="zh-CN" sz="2800" dirty="0">
                <a:solidFill>
                  <a:schemeClr val="bg2">
                    <a:lumMod val="90000"/>
                  </a:schemeClr>
                </a:solidFill>
                <a:latin typeface="Garamond" panose="02020404030301010803" pitchFamily="18" charset="0"/>
              </a:rPr>
              <a:t>3.   Self-Evolving: How should we continue to raise the ceiling</a:t>
            </a:r>
          </a:p>
        </p:txBody>
      </p:sp>
      <p:sp>
        <p:nvSpPr>
          <p:cNvPr id="4" name="日期占位符 3">
            <a:extLst>
              <a:ext uri="{FF2B5EF4-FFF2-40B4-BE49-F238E27FC236}">
                <a16:creationId xmlns:a16="http://schemas.microsoft.com/office/drawing/2014/main" id="{8EA0F530-042D-F272-F09A-94191201E1FB}"/>
              </a:ext>
            </a:extLst>
          </p:cNvPr>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a:extLst>
              <a:ext uri="{FF2B5EF4-FFF2-40B4-BE49-F238E27FC236}">
                <a16:creationId xmlns:a16="http://schemas.microsoft.com/office/drawing/2014/main" id="{43473689-22FE-CF63-022F-A2B11C93D5BA}"/>
              </a:ext>
            </a:extLst>
          </p:cNvPr>
          <p:cNvSpPr>
            <a:spLocks noGrp="1"/>
          </p:cNvSpPr>
          <p:nvPr>
            <p:ph type="sldNum" sz="quarter" idx="12"/>
          </p:nvPr>
        </p:nvSpPr>
        <p:spPr/>
        <p:txBody>
          <a:bodyPr/>
          <a:lstStyle/>
          <a:p>
            <a:fld id="{24F01846-2DA3-FB44-9D89-19679C480714}" type="slidenum">
              <a:rPr kumimoji="1" lang="zh-CN" altLang="en-US" smtClean="0"/>
              <a:t>8</a:t>
            </a:fld>
            <a:endParaRPr kumimoji="1" lang="zh-CN" altLang="en-US" dirty="0"/>
          </a:p>
        </p:txBody>
      </p:sp>
    </p:spTree>
    <p:extLst>
      <p:ext uri="{BB962C8B-B14F-4D97-AF65-F5344CB8AC3E}">
        <p14:creationId xmlns:p14="http://schemas.microsoft.com/office/powerpoint/2010/main" val="3010461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2CA80ABF-918F-F634-C4FF-9FE97ABA490F}"/>
              </a:ext>
            </a:extLst>
          </p:cNvPr>
          <p:cNvSpPr>
            <a:spLocks noGrp="1"/>
          </p:cNvSpPr>
          <p:nvPr>
            <p:ph type="dt" sz="half" idx="10"/>
          </p:nvPr>
        </p:nvSpPr>
        <p:spPr/>
        <p:txBody>
          <a:bodyPr/>
          <a:lstStyle/>
          <a:p>
            <a:fld id="{C13912DE-A447-AE4C-B564-2C8E1F35CEE4}" type="datetime1">
              <a:rPr kumimoji="1" lang="zh-CN" altLang="en-US" smtClean="0"/>
              <a:t>2026/3/17</a:t>
            </a:fld>
            <a:endParaRPr kumimoji="1" lang="zh-CN" altLang="en-US"/>
          </a:p>
        </p:txBody>
      </p:sp>
      <p:sp>
        <p:nvSpPr>
          <p:cNvPr id="5" name="灯片编号占位符 4">
            <a:extLst>
              <a:ext uri="{FF2B5EF4-FFF2-40B4-BE49-F238E27FC236}">
                <a16:creationId xmlns:a16="http://schemas.microsoft.com/office/drawing/2014/main" id="{D565451D-0BF5-7947-E287-295ED33FD38B}"/>
              </a:ext>
            </a:extLst>
          </p:cNvPr>
          <p:cNvSpPr>
            <a:spLocks noGrp="1"/>
          </p:cNvSpPr>
          <p:nvPr>
            <p:ph type="sldNum" sz="quarter" idx="12"/>
          </p:nvPr>
        </p:nvSpPr>
        <p:spPr/>
        <p:txBody>
          <a:bodyPr/>
          <a:lstStyle/>
          <a:p>
            <a:fld id="{24F01846-2DA3-FB44-9D89-19679C480714}" type="slidenum">
              <a:rPr kumimoji="1" lang="zh-CN" altLang="en-US" smtClean="0"/>
              <a:t>9</a:t>
            </a:fld>
            <a:endParaRPr kumimoji="1" lang="zh-CN" altLang="en-US"/>
          </a:p>
        </p:txBody>
      </p:sp>
      <p:pic>
        <p:nvPicPr>
          <p:cNvPr id="6" name="图片 5">
            <a:extLst>
              <a:ext uri="{FF2B5EF4-FFF2-40B4-BE49-F238E27FC236}">
                <a16:creationId xmlns:a16="http://schemas.microsoft.com/office/drawing/2014/main" id="{C11F91B4-15DC-76BA-C98B-1190DC083170}"/>
              </a:ext>
            </a:extLst>
          </p:cNvPr>
          <p:cNvPicPr>
            <a:picLocks noChangeAspect="1"/>
          </p:cNvPicPr>
          <p:nvPr/>
        </p:nvPicPr>
        <p:blipFill>
          <a:blip r:embed="rId3">
            <a:clrChange>
              <a:clrFrom>
                <a:srgbClr val="FCF4EB"/>
              </a:clrFrom>
              <a:clrTo>
                <a:srgbClr val="FCF4EB">
                  <a:alpha val="0"/>
                </a:srgbClr>
              </a:clrTo>
            </a:clrChange>
          </a:blip>
          <a:stretch>
            <a:fillRect/>
          </a:stretch>
        </p:blipFill>
        <p:spPr>
          <a:xfrm>
            <a:off x="1072983" y="1763421"/>
            <a:ext cx="9499765" cy="4285076"/>
          </a:xfrm>
          <a:prstGeom prst="rect">
            <a:avLst/>
          </a:prstGeom>
        </p:spPr>
      </p:pic>
      <p:sp>
        <p:nvSpPr>
          <p:cNvPr id="7" name="文本框 6">
            <a:extLst>
              <a:ext uri="{FF2B5EF4-FFF2-40B4-BE49-F238E27FC236}">
                <a16:creationId xmlns:a16="http://schemas.microsoft.com/office/drawing/2014/main" id="{3809FBE4-247C-DD8F-A2B6-88C9B6F41534}"/>
              </a:ext>
            </a:extLst>
          </p:cNvPr>
          <p:cNvSpPr txBox="1"/>
          <p:nvPr/>
        </p:nvSpPr>
        <p:spPr>
          <a:xfrm>
            <a:off x="4033408" y="1214554"/>
            <a:ext cx="4125183" cy="369332"/>
          </a:xfrm>
          <a:prstGeom prst="rect">
            <a:avLst/>
          </a:prstGeom>
          <a:noFill/>
        </p:spPr>
        <p:txBody>
          <a:bodyPr wrap="square" rtlCol="0">
            <a:spAutoFit/>
          </a:bodyPr>
          <a:lstStyle/>
          <a:p>
            <a:r>
              <a:rPr kumimoji="1" lang="en-US" altLang="zh-CN" b="1" dirty="0">
                <a:solidFill>
                  <a:srgbClr val="C00000"/>
                </a:solidFill>
              </a:rPr>
              <a:t>Mid-training/continual</a:t>
            </a:r>
            <a:r>
              <a:rPr kumimoji="1" lang="zh-CN" altLang="en-US" b="1" dirty="0">
                <a:solidFill>
                  <a:srgbClr val="C00000"/>
                </a:solidFill>
              </a:rPr>
              <a:t> </a:t>
            </a:r>
            <a:r>
              <a:rPr kumimoji="1" lang="en-US" altLang="zh-CN" b="1" dirty="0">
                <a:solidFill>
                  <a:srgbClr val="C00000"/>
                </a:solidFill>
              </a:rPr>
              <a:t>pre-training</a:t>
            </a:r>
            <a:endParaRPr kumimoji="1" lang="zh-CN" altLang="en-US" b="1" dirty="0">
              <a:solidFill>
                <a:srgbClr val="C00000"/>
              </a:solidFill>
            </a:endParaRPr>
          </a:p>
        </p:txBody>
      </p:sp>
      <p:sp>
        <p:nvSpPr>
          <p:cNvPr id="8" name="下箭头 7">
            <a:extLst>
              <a:ext uri="{FF2B5EF4-FFF2-40B4-BE49-F238E27FC236}">
                <a16:creationId xmlns:a16="http://schemas.microsoft.com/office/drawing/2014/main" id="{A43B2664-5D2F-051B-F2D6-59DC352E854A}"/>
              </a:ext>
            </a:extLst>
          </p:cNvPr>
          <p:cNvSpPr/>
          <p:nvPr/>
        </p:nvSpPr>
        <p:spPr>
          <a:xfrm>
            <a:off x="5568316" y="1643731"/>
            <a:ext cx="254549" cy="178526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 name="图片 1">
            <a:extLst>
              <a:ext uri="{FF2B5EF4-FFF2-40B4-BE49-F238E27FC236}">
                <a16:creationId xmlns:a16="http://schemas.microsoft.com/office/drawing/2014/main" id="{5BA687C1-EC21-C077-F1E1-9EEB81BF80C0}"/>
              </a:ext>
            </a:extLst>
          </p:cNvPr>
          <p:cNvPicPr>
            <a:picLocks noChangeAspect="1"/>
          </p:cNvPicPr>
          <p:nvPr/>
        </p:nvPicPr>
        <p:blipFill>
          <a:blip r:embed="rId4"/>
          <a:stretch>
            <a:fillRect/>
          </a:stretch>
        </p:blipFill>
        <p:spPr>
          <a:xfrm>
            <a:off x="557488" y="775569"/>
            <a:ext cx="3425493" cy="679999"/>
          </a:xfrm>
          <a:prstGeom prst="rect">
            <a:avLst/>
          </a:prstGeom>
        </p:spPr>
      </p:pic>
      <p:pic>
        <p:nvPicPr>
          <p:cNvPr id="3" name="图片 2">
            <a:extLst>
              <a:ext uri="{FF2B5EF4-FFF2-40B4-BE49-F238E27FC236}">
                <a16:creationId xmlns:a16="http://schemas.microsoft.com/office/drawing/2014/main" id="{0354EDE8-C1D8-9F9F-9B16-1AFF048400F7}"/>
              </a:ext>
            </a:extLst>
          </p:cNvPr>
          <p:cNvPicPr>
            <a:picLocks noChangeAspect="1"/>
          </p:cNvPicPr>
          <p:nvPr/>
        </p:nvPicPr>
        <p:blipFill>
          <a:blip r:embed="rId5"/>
          <a:stretch>
            <a:fillRect/>
          </a:stretch>
        </p:blipFill>
        <p:spPr>
          <a:xfrm>
            <a:off x="573442" y="1455568"/>
            <a:ext cx="3393583" cy="1216247"/>
          </a:xfrm>
          <a:prstGeom prst="rect">
            <a:avLst/>
          </a:prstGeom>
        </p:spPr>
      </p:pic>
      <p:pic>
        <p:nvPicPr>
          <p:cNvPr id="11" name="图片 10">
            <a:extLst>
              <a:ext uri="{FF2B5EF4-FFF2-40B4-BE49-F238E27FC236}">
                <a16:creationId xmlns:a16="http://schemas.microsoft.com/office/drawing/2014/main" id="{8AA69D70-DF68-5C7D-4502-213C459CB3DB}"/>
              </a:ext>
            </a:extLst>
          </p:cNvPr>
          <p:cNvPicPr>
            <a:picLocks noChangeAspect="1"/>
          </p:cNvPicPr>
          <p:nvPr/>
        </p:nvPicPr>
        <p:blipFill>
          <a:blip r:embed="rId6"/>
          <a:stretch>
            <a:fillRect/>
          </a:stretch>
        </p:blipFill>
        <p:spPr>
          <a:xfrm>
            <a:off x="0" y="301343"/>
            <a:ext cx="4540469" cy="430492"/>
          </a:xfrm>
          <a:prstGeom prst="rect">
            <a:avLst/>
          </a:prstGeom>
        </p:spPr>
      </p:pic>
      <p:sp>
        <p:nvSpPr>
          <p:cNvPr id="9" name="文本框 8">
            <a:extLst>
              <a:ext uri="{FF2B5EF4-FFF2-40B4-BE49-F238E27FC236}">
                <a16:creationId xmlns:a16="http://schemas.microsoft.com/office/drawing/2014/main" id="{807B6C0A-32F2-09D2-CEF6-AD9722B24F85}"/>
              </a:ext>
            </a:extLst>
          </p:cNvPr>
          <p:cNvSpPr txBox="1"/>
          <p:nvPr/>
        </p:nvSpPr>
        <p:spPr>
          <a:xfrm>
            <a:off x="113359" y="2782669"/>
            <a:ext cx="2156874" cy="646331"/>
          </a:xfrm>
          <a:prstGeom prst="rect">
            <a:avLst/>
          </a:prstGeom>
          <a:noFill/>
        </p:spPr>
        <p:txBody>
          <a:bodyPr wrap="square" rtlCol="0">
            <a:spAutoFit/>
          </a:bodyPr>
          <a:lstStyle/>
          <a:p>
            <a:r>
              <a:rPr kumimoji="1" lang="en-US" altLang="zh-CN" sz="1200" dirty="0">
                <a:solidFill>
                  <a:schemeClr val="bg2">
                    <a:lumMod val="75000"/>
                  </a:schemeClr>
                </a:solidFill>
              </a:rPr>
              <a:t>BLEURT: Learning Robust Metrics for Text Generation</a:t>
            </a:r>
          </a:p>
          <a:p>
            <a:pPr algn="ctr"/>
            <a:r>
              <a:rPr kumimoji="1" lang="en-US" altLang="zh-CN" sz="1200" dirty="0">
                <a:solidFill>
                  <a:schemeClr val="bg2">
                    <a:lumMod val="75000"/>
                  </a:schemeClr>
                </a:solidFill>
              </a:rPr>
              <a:t>[Google Research, 2020]</a:t>
            </a:r>
            <a:endParaRPr kumimoji="1" lang="zh-CN" altLang="en-US" sz="1200" dirty="0">
              <a:solidFill>
                <a:schemeClr val="bg2">
                  <a:lumMod val="75000"/>
                </a:schemeClr>
              </a:solidFill>
            </a:endParaRPr>
          </a:p>
        </p:txBody>
      </p:sp>
    </p:spTree>
    <p:extLst>
      <p:ext uri="{BB962C8B-B14F-4D97-AF65-F5344CB8AC3E}">
        <p14:creationId xmlns:p14="http://schemas.microsoft.com/office/powerpoint/2010/main" val="2500292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0ECBB-78F0-F38C-BACF-FBDD59F4C8C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C4D928E-9537-5526-BCE7-7076E020DA09}"/>
              </a:ext>
            </a:extLst>
          </p:cNvPr>
          <p:cNvSpPr>
            <a:spLocks noGrp="1"/>
          </p:cNvSpPr>
          <p:nvPr>
            <p:ph type="ctrTitle"/>
          </p:nvPr>
        </p:nvSpPr>
        <p:spPr/>
        <p:txBody>
          <a:bodyPr>
            <a:normAutofit/>
          </a:bodyPr>
          <a:lstStyle/>
          <a:p>
            <a:r>
              <a:rPr kumimoji="1" lang="en-US" altLang="zh-CN" dirty="0"/>
              <a:t>Post-training</a:t>
            </a:r>
            <a:endParaRPr kumimoji="1" lang="zh-CN" altLang="en-US" dirty="0"/>
          </a:p>
        </p:txBody>
      </p:sp>
      <p:sp>
        <p:nvSpPr>
          <p:cNvPr id="4" name="日期占位符 3">
            <a:extLst>
              <a:ext uri="{FF2B5EF4-FFF2-40B4-BE49-F238E27FC236}">
                <a16:creationId xmlns:a16="http://schemas.microsoft.com/office/drawing/2014/main" id="{07089E64-EE9D-E360-FFE6-E457889D27C9}"/>
              </a:ext>
            </a:extLst>
          </p:cNvPr>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a:extLst>
              <a:ext uri="{FF2B5EF4-FFF2-40B4-BE49-F238E27FC236}">
                <a16:creationId xmlns:a16="http://schemas.microsoft.com/office/drawing/2014/main" id="{F16AA870-CCC6-1469-B0C0-B8731E0FB7BE}"/>
              </a:ext>
            </a:extLst>
          </p:cNvPr>
          <p:cNvSpPr>
            <a:spLocks noGrp="1"/>
          </p:cNvSpPr>
          <p:nvPr>
            <p:ph type="sldNum" sz="quarter" idx="12"/>
          </p:nvPr>
        </p:nvSpPr>
        <p:spPr>
          <a:xfrm>
            <a:off x="11559208" y="6371533"/>
            <a:ext cx="540026" cy="365125"/>
          </a:xfrm>
        </p:spPr>
        <p:txBody>
          <a:bodyPr/>
          <a:lstStyle/>
          <a:p>
            <a:fld id="{24F01846-2DA3-FB44-9D89-19679C480714}" type="slidenum">
              <a:rPr kumimoji="1" lang="zh-CN" altLang="en-US" smtClean="0"/>
              <a:t>10</a:t>
            </a:fld>
            <a:endParaRPr kumimoji="1" lang="zh-CN" altLang="en-US" dirty="0"/>
          </a:p>
        </p:txBody>
      </p:sp>
      <p:pic>
        <p:nvPicPr>
          <p:cNvPr id="6" name="图片 5">
            <a:extLst>
              <a:ext uri="{FF2B5EF4-FFF2-40B4-BE49-F238E27FC236}">
                <a16:creationId xmlns:a16="http://schemas.microsoft.com/office/drawing/2014/main" id="{993DE437-7FF1-BF54-E95B-B4853B545823}"/>
              </a:ext>
            </a:extLst>
          </p:cNvPr>
          <p:cNvPicPr>
            <a:picLocks noChangeAspect="1"/>
          </p:cNvPicPr>
          <p:nvPr/>
        </p:nvPicPr>
        <p:blipFill>
          <a:blip r:embed="rId2"/>
          <a:srcRect t="31575" b="32897"/>
          <a:stretch>
            <a:fillRect/>
          </a:stretch>
        </p:blipFill>
        <p:spPr>
          <a:xfrm>
            <a:off x="3770306" y="1273757"/>
            <a:ext cx="6367476" cy="1336291"/>
          </a:xfrm>
          <a:prstGeom prst="rect">
            <a:avLst/>
          </a:prstGeom>
        </p:spPr>
      </p:pic>
      <p:pic>
        <p:nvPicPr>
          <p:cNvPr id="7" name="图片 6">
            <a:extLst>
              <a:ext uri="{FF2B5EF4-FFF2-40B4-BE49-F238E27FC236}">
                <a16:creationId xmlns:a16="http://schemas.microsoft.com/office/drawing/2014/main" id="{E2073E2E-B172-389B-83F9-B57FCEF81F33}"/>
              </a:ext>
            </a:extLst>
          </p:cNvPr>
          <p:cNvPicPr>
            <a:picLocks noChangeAspect="1"/>
          </p:cNvPicPr>
          <p:nvPr/>
        </p:nvPicPr>
        <p:blipFill>
          <a:blip r:embed="rId2"/>
          <a:srcRect t="71986"/>
          <a:stretch>
            <a:fillRect/>
          </a:stretch>
        </p:blipFill>
        <p:spPr>
          <a:xfrm>
            <a:off x="3610485" y="4705890"/>
            <a:ext cx="5752305" cy="951869"/>
          </a:xfrm>
          <a:prstGeom prst="rect">
            <a:avLst/>
          </a:prstGeom>
        </p:spPr>
      </p:pic>
      <p:sp>
        <p:nvSpPr>
          <p:cNvPr id="8" name="文本框 7">
            <a:extLst>
              <a:ext uri="{FF2B5EF4-FFF2-40B4-BE49-F238E27FC236}">
                <a16:creationId xmlns:a16="http://schemas.microsoft.com/office/drawing/2014/main" id="{29F6A18D-1ACC-39AF-2438-7C9BF56499CA}"/>
              </a:ext>
            </a:extLst>
          </p:cNvPr>
          <p:cNvSpPr txBox="1"/>
          <p:nvPr/>
        </p:nvSpPr>
        <p:spPr>
          <a:xfrm>
            <a:off x="334088" y="4998651"/>
            <a:ext cx="3069993" cy="369332"/>
          </a:xfrm>
          <a:prstGeom prst="rect">
            <a:avLst/>
          </a:prstGeom>
          <a:noFill/>
        </p:spPr>
        <p:txBody>
          <a:bodyPr wrap="square" rtlCol="0">
            <a:spAutoFit/>
          </a:bodyPr>
          <a:lstStyle/>
          <a:p>
            <a:pPr algn="ctr"/>
            <a:r>
              <a:rPr kumimoji="1" lang="en-US" altLang="zh-CN" dirty="0"/>
              <a:t>Reinforcement Learning (RL)</a:t>
            </a:r>
            <a:endParaRPr kumimoji="1" lang="zh-CN" altLang="en-US" dirty="0"/>
          </a:p>
        </p:txBody>
      </p:sp>
      <p:sp>
        <p:nvSpPr>
          <p:cNvPr id="9" name="文本框 8">
            <a:extLst>
              <a:ext uri="{FF2B5EF4-FFF2-40B4-BE49-F238E27FC236}">
                <a16:creationId xmlns:a16="http://schemas.microsoft.com/office/drawing/2014/main" id="{54A25F4D-7429-B8AE-D352-F32B96D482BD}"/>
              </a:ext>
            </a:extLst>
          </p:cNvPr>
          <p:cNvSpPr txBox="1"/>
          <p:nvPr/>
        </p:nvSpPr>
        <p:spPr>
          <a:xfrm>
            <a:off x="251792" y="3115095"/>
            <a:ext cx="3152289" cy="646331"/>
          </a:xfrm>
          <a:prstGeom prst="rect">
            <a:avLst/>
          </a:prstGeom>
          <a:noFill/>
        </p:spPr>
        <p:txBody>
          <a:bodyPr wrap="square" rtlCol="0">
            <a:spAutoFit/>
          </a:bodyPr>
          <a:lstStyle/>
          <a:p>
            <a:pPr algn="ctr"/>
            <a:r>
              <a:rPr kumimoji="1" lang="en-US" altLang="zh-CN" dirty="0"/>
              <a:t>Supervise finetuning</a:t>
            </a:r>
            <a:r>
              <a:rPr kumimoji="1" lang="zh-CN" altLang="en-US" dirty="0"/>
              <a:t> </a:t>
            </a:r>
            <a:r>
              <a:rPr kumimoji="1" lang="en-US" altLang="zh-CN" dirty="0"/>
              <a:t>(SFT) </a:t>
            </a:r>
          </a:p>
          <a:p>
            <a:pPr algn="ctr"/>
            <a:r>
              <a:rPr kumimoji="1" lang="en-US" altLang="zh-CN" dirty="0"/>
              <a:t>(Cold Start)</a:t>
            </a:r>
            <a:endParaRPr kumimoji="1" lang="zh-CN" altLang="en-US" dirty="0"/>
          </a:p>
        </p:txBody>
      </p:sp>
      <p:pic>
        <p:nvPicPr>
          <p:cNvPr id="10" name="图片 9">
            <a:extLst>
              <a:ext uri="{FF2B5EF4-FFF2-40B4-BE49-F238E27FC236}">
                <a16:creationId xmlns:a16="http://schemas.microsoft.com/office/drawing/2014/main" id="{D70BDD49-5EE1-7993-A6F4-BEE59C195217}"/>
              </a:ext>
            </a:extLst>
          </p:cNvPr>
          <p:cNvPicPr>
            <a:picLocks noChangeAspect="1"/>
          </p:cNvPicPr>
          <p:nvPr/>
        </p:nvPicPr>
        <p:blipFill>
          <a:blip r:embed="rId3"/>
          <a:stretch>
            <a:fillRect/>
          </a:stretch>
        </p:blipFill>
        <p:spPr>
          <a:xfrm>
            <a:off x="3770306" y="3115095"/>
            <a:ext cx="1576020" cy="873201"/>
          </a:xfrm>
          <a:prstGeom prst="rect">
            <a:avLst/>
          </a:prstGeom>
        </p:spPr>
      </p:pic>
      <p:sp>
        <p:nvSpPr>
          <p:cNvPr id="12" name="文本框 11">
            <a:extLst>
              <a:ext uri="{FF2B5EF4-FFF2-40B4-BE49-F238E27FC236}">
                <a16:creationId xmlns:a16="http://schemas.microsoft.com/office/drawing/2014/main" id="{5FA3FE60-5E40-A2E3-6893-53FD2CACC373}"/>
              </a:ext>
            </a:extLst>
          </p:cNvPr>
          <p:cNvSpPr txBox="1"/>
          <p:nvPr/>
        </p:nvSpPr>
        <p:spPr>
          <a:xfrm>
            <a:off x="1259353" y="1849960"/>
            <a:ext cx="1589730" cy="369332"/>
          </a:xfrm>
          <a:prstGeom prst="rect">
            <a:avLst/>
          </a:prstGeom>
          <a:noFill/>
        </p:spPr>
        <p:txBody>
          <a:bodyPr wrap="square" rtlCol="0">
            <a:spAutoFit/>
          </a:bodyPr>
          <a:lstStyle/>
          <a:p>
            <a:r>
              <a:rPr kumimoji="1" lang="en-US" altLang="zh-CN" dirty="0"/>
              <a:t>Goal</a:t>
            </a:r>
            <a:endParaRPr kumimoji="1" lang="zh-CN" altLang="en-US" dirty="0"/>
          </a:p>
        </p:txBody>
      </p:sp>
      <p:pic>
        <p:nvPicPr>
          <p:cNvPr id="3" name="图片 2">
            <a:extLst>
              <a:ext uri="{FF2B5EF4-FFF2-40B4-BE49-F238E27FC236}">
                <a16:creationId xmlns:a16="http://schemas.microsoft.com/office/drawing/2014/main" id="{694DC8E1-D71A-3457-F805-21F815996644}"/>
              </a:ext>
            </a:extLst>
          </p:cNvPr>
          <p:cNvPicPr>
            <a:picLocks noChangeAspect="1"/>
          </p:cNvPicPr>
          <p:nvPr/>
        </p:nvPicPr>
        <p:blipFill>
          <a:blip r:embed="rId4"/>
          <a:stretch>
            <a:fillRect/>
          </a:stretch>
        </p:blipFill>
        <p:spPr>
          <a:xfrm>
            <a:off x="8459320" y="2929648"/>
            <a:ext cx="2786968" cy="703420"/>
          </a:xfrm>
          <a:prstGeom prst="rect">
            <a:avLst/>
          </a:prstGeom>
        </p:spPr>
      </p:pic>
      <p:pic>
        <p:nvPicPr>
          <p:cNvPr id="1026" name="Picture 2" descr="The LLM Training Journey: From SFT to PPO, DPO &amp; GRPO Explained | by Chelsi  Jain | GoPenAI">
            <a:extLst>
              <a:ext uri="{FF2B5EF4-FFF2-40B4-BE49-F238E27FC236}">
                <a16:creationId xmlns:a16="http://schemas.microsoft.com/office/drawing/2014/main" id="{CF8C4832-0D0D-FF25-69F6-A95470AD58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63206" y="5598834"/>
            <a:ext cx="3666015" cy="1024861"/>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a:extLst>
              <a:ext uri="{FF2B5EF4-FFF2-40B4-BE49-F238E27FC236}">
                <a16:creationId xmlns:a16="http://schemas.microsoft.com/office/drawing/2014/main" id="{97AF236C-0834-3989-D8DE-93CE720CA372}"/>
              </a:ext>
            </a:extLst>
          </p:cNvPr>
          <p:cNvPicPr>
            <a:picLocks noChangeAspect="1"/>
          </p:cNvPicPr>
          <p:nvPr/>
        </p:nvPicPr>
        <p:blipFill>
          <a:blip r:embed="rId6"/>
          <a:stretch>
            <a:fillRect/>
          </a:stretch>
        </p:blipFill>
        <p:spPr>
          <a:xfrm>
            <a:off x="6877043" y="4054291"/>
            <a:ext cx="5205724" cy="585543"/>
          </a:xfrm>
          <a:prstGeom prst="rect">
            <a:avLst/>
          </a:prstGeom>
        </p:spPr>
      </p:pic>
      <p:sp>
        <p:nvSpPr>
          <p:cNvPr id="13" name="文本框 12">
            <a:extLst>
              <a:ext uri="{FF2B5EF4-FFF2-40B4-BE49-F238E27FC236}">
                <a16:creationId xmlns:a16="http://schemas.microsoft.com/office/drawing/2014/main" id="{A5E79BD0-88D6-F7A0-34EC-87C28E96918B}"/>
              </a:ext>
            </a:extLst>
          </p:cNvPr>
          <p:cNvSpPr txBox="1"/>
          <p:nvPr/>
        </p:nvSpPr>
        <p:spPr>
          <a:xfrm>
            <a:off x="9715644" y="5002858"/>
            <a:ext cx="2762282" cy="461665"/>
          </a:xfrm>
          <a:prstGeom prst="rect">
            <a:avLst/>
          </a:prstGeom>
          <a:noFill/>
        </p:spPr>
        <p:txBody>
          <a:bodyPr wrap="square" rtlCol="0">
            <a:spAutoFit/>
          </a:bodyPr>
          <a:lstStyle/>
          <a:p>
            <a:pPr algn="ctr"/>
            <a:r>
              <a:rPr kumimoji="1" lang="en-US" altLang="zh-CN" sz="1200" dirty="0">
                <a:solidFill>
                  <a:schemeClr val="bg2">
                    <a:lumMod val="75000"/>
                  </a:schemeClr>
                </a:solidFill>
              </a:rPr>
              <a:t>DeepSeek-Math</a:t>
            </a:r>
          </a:p>
          <a:p>
            <a:pPr algn="ctr"/>
            <a:r>
              <a:rPr kumimoji="1" lang="en-US" altLang="zh-CN" sz="1200" dirty="0">
                <a:solidFill>
                  <a:schemeClr val="bg2">
                    <a:lumMod val="75000"/>
                  </a:schemeClr>
                </a:solidFill>
              </a:rPr>
              <a:t>[DeepSeek-AI, 2024]</a:t>
            </a:r>
            <a:endParaRPr kumimoji="1" lang="zh-CN" altLang="en-US" sz="1200" dirty="0">
              <a:solidFill>
                <a:schemeClr val="bg2">
                  <a:lumMod val="75000"/>
                </a:schemeClr>
              </a:solidFill>
            </a:endParaRPr>
          </a:p>
        </p:txBody>
      </p:sp>
    </p:spTree>
    <p:extLst>
      <p:ext uri="{BB962C8B-B14F-4D97-AF65-F5344CB8AC3E}">
        <p14:creationId xmlns:p14="http://schemas.microsoft.com/office/powerpoint/2010/main" val="3273426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kumimoji="1" lang="en-US" altLang="zh-CN" dirty="0"/>
              <a:t>SFT: Trajectory Curation</a:t>
            </a:r>
            <a:endParaRPr kumimoji="1" lang="zh-CN" altLang="en-US" dirty="0"/>
          </a:p>
        </p:txBody>
      </p:sp>
      <p:sp>
        <p:nvSpPr>
          <p:cNvPr id="3" name="副标题 2"/>
          <p:cNvSpPr>
            <a:spLocks noGrp="1"/>
          </p:cNvSpPr>
          <p:nvPr>
            <p:ph type="subTitle" idx="1"/>
          </p:nvPr>
        </p:nvSpPr>
        <p:spPr>
          <a:xfrm>
            <a:off x="308113" y="1342299"/>
            <a:ext cx="11575773" cy="4750904"/>
          </a:xfrm>
        </p:spPr>
        <p:txBody>
          <a:bodyPr>
            <a:normAutofit fontScale="92500" lnSpcReduction="10000"/>
          </a:bodyPr>
          <a:lstStyle/>
          <a:p>
            <a:r>
              <a:rPr lang="en-US" altLang="zh-CN" sz="1600" b="1" dirty="0"/>
              <a:t>SFT Goal: </a:t>
            </a:r>
          </a:p>
          <a:p>
            <a:r>
              <a:rPr lang="en-US" altLang="zh-CN" sz="1600" dirty="0"/>
              <a:t>   • </a:t>
            </a:r>
            <a:r>
              <a:rPr lang="en-US" altLang="zh-CN" sz="1600" b="1" dirty="0"/>
              <a:t>Not Knowledge</a:t>
            </a:r>
          </a:p>
          <a:p>
            <a:r>
              <a:rPr lang="en-US" altLang="zh-CN" sz="1600" dirty="0"/>
              <a:t> </a:t>
            </a:r>
            <a:r>
              <a:rPr lang="zh-CN" altLang="en-US" sz="1600" dirty="0"/>
              <a:t>  </a:t>
            </a:r>
            <a:r>
              <a:rPr lang="en-US" altLang="zh-CN" sz="1600" dirty="0"/>
              <a:t>• We want LLM </a:t>
            </a:r>
            <a:r>
              <a:rPr lang="en-US" altLang="zh-CN" sz="1600" b="1" dirty="0"/>
              <a:t>follows user instructions </a:t>
            </a:r>
            <a:r>
              <a:rPr lang="en-US" altLang="zh-CN" sz="1600" dirty="0"/>
              <a:t>and </a:t>
            </a:r>
            <a:r>
              <a:rPr lang="en-US" altLang="zh-CN" sz="1600" b="1" dirty="0"/>
              <a:t>designer’s desires (length, bullet points; not knowledge.) </a:t>
            </a:r>
          </a:p>
          <a:p>
            <a:r>
              <a:rPr lang="en-US" altLang="zh-CN" sz="1600" b="1" dirty="0"/>
              <a:t>   </a:t>
            </a:r>
            <a:r>
              <a:rPr lang="en-US" altLang="zh-CN" sz="1600" dirty="0"/>
              <a:t>• Be aware of &amp; Learn how to use </a:t>
            </a:r>
            <a:r>
              <a:rPr lang="en-US" altLang="zh-CN" sz="1600" b="1" dirty="0"/>
              <a:t>special tokens</a:t>
            </a:r>
            <a:r>
              <a:rPr lang="en-US" altLang="zh-CN" sz="1600" dirty="0"/>
              <a:t>: system/user/assistant prompt; [EOS], …</a:t>
            </a:r>
          </a:p>
          <a:p>
            <a:r>
              <a:rPr lang="en-US" altLang="zh-CN" sz="1600" dirty="0"/>
              <a:t>   </a:t>
            </a:r>
            <a:endParaRPr lang="en-US" altLang="zh-CN" sz="1600" b="1" dirty="0"/>
          </a:p>
          <a:p>
            <a:r>
              <a:rPr lang="en-US" altLang="zh-CN" sz="1600" b="1" dirty="0"/>
              <a:t>Background: </a:t>
            </a:r>
          </a:p>
          <a:p>
            <a:r>
              <a:rPr lang="en-US" altLang="zh-CN" sz="1600" dirty="0"/>
              <a:t>   • data of desired behaviors is what we want </a:t>
            </a:r>
            <a:r>
              <a:rPr lang="en-US" altLang="zh-CN" sz="1600" b="1" dirty="0"/>
              <a:t>but</a:t>
            </a:r>
            <a:r>
              <a:rPr lang="en-US" altLang="zh-CN" sz="1600" dirty="0"/>
              <a:t> </a:t>
            </a:r>
            <a:r>
              <a:rPr lang="en-US" altLang="zh-CN" sz="1600" u="sng" dirty="0"/>
              <a:t>scarce and expensive </a:t>
            </a:r>
          </a:p>
          <a:p>
            <a:r>
              <a:rPr lang="en-US" altLang="zh-CN" sz="1600" dirty="0"/>
              <a:t>   • pretraining data scales </a:t>
            </a:r>
            <a:r>
              <a:rPr lang="en-US" altLang="zh-CN" sz="1600" b="1" dirty="0"/>
              <a:t>but</a:t>
            </a:r>
            <a:r>
              <a:rPr lang="en-US" altLang="zh-CN" sz="1600" dirty="0"/>
              <a:t> is </a:t>
            </a:r>
            <a:r>
              <a:rPr lang="en-US" altLang="zh-CN" sz="1600" u="sng" dirty="0"/>
              <a:t>not what we want </a:t>
            </a:r>
          </a:p>
          <a:p>
            <a:r>
              <a:rPr lang="en-US" altLang="zh-CN" sz="1600" dirty="0"/>
              <a:t>   • Idea: finetune pretrained LLM on a </a:t>
            </a:r>
            <a:r>
              <a:rPr lang="en-US" altLang="zh-CN" sz="1600" dirty="0">
                <a:solidFill>
                  <a:schemeClr val="accent2"/>
                </a:solidFill>
              </a:rPr>
              <a:t>little desired data </a:t>
            </a:r>
            <a:r>
              <a:rPr lang="en-US" altLang="zh-CN" sz="1600" dirty="0"/>
              <a:t>=&gt; “post-”training</a:t>
            </a:r>
          </a:p>
          <a:p>
            <a:endParaRPr lang="en-US" altLang="zh-CN" sz="1600" dirty="0"/>
          </a:p>
          <a:p>
            <a:r>
              <a:rPr lang="en-US" altLang="zh-CN" sz="1600" dirty="0"/>
              <a:t>Two repeated and parallelizable tracks (both inputs and outputs):</a:t>
            </a:r>
          </a:p>
          <a:p>
            <a:r>
              <a:rPr lang="en-US" altLang="zh-CN" sz="1600" dirty="0"/>
              <a:t>1. </a:t>
            </a:r>
            <a:r>
              <a:rPr lang="en-US" altLang="zh-CN" sz="1600" b="1" dirty="0"/>
              <a:t>Data curation</a:t>
            </a:r>
            <a:r>
              <a:rPr lang="en-US" altLang="zh-CN" sz="1600" dirty="0"/>
              <a:t>: Curate data given targeted capabilities </a:t>
            </a:r>
          </a:p>
          <a:p>
            <a:r>
              <a:rPr lang="en-US" altLang="zh-CN" sz="1600" dirty="0"/>
              <a:t>2. </a:t>
            </a:r>
            <a:r>
              <a:rPr lang="en-US" altLang="zh-CN" sz="1600" b="1" dirty="0"/>
              <a:t>Data mixing</a:t>
            </a:r>
            <a:r>
              <a:rPr lang="en-US" altLang="zh-CN" sz="1600" dirty="0"/>
              <a:t>: Mix data across capabilities </a:t>
            </a:r>
          </a:p>
          <a:p>
            <a:r>
              <a:rPr lang="en-US" altLang="zh-CN" sz="1600" dirty="0"/>
              <a:t>      a. </a:t>
            </a:r>
            <a:r>
              <a:rPr lang="en-US" altLang="zh-CN" sz="1600" u="sng" dirty="0"/>
              <a:t>Rejection Sampling</a:t>
            </a:r>
            <a:r>
              <a:rPr lang="en-US" altLang="zh-CN" sz="1600" dirty="0"/>
              <a:t>: Filtering data while maintaining performance. </a:t>
            </a:r>
          </a:p>
          <a:p>
            <a:r>
              <a:rPr lang="en-US" altLang="zh-CN" sz="1600" dirty="0"/>
              <a:t>      b. Start fully with mixing before curation.</a:t>
            </a:r>
          </a:p>
          <a:p>
            <a:endParaRPr lang="en-US" altLang="zh-CN" sz="1600" dirty="0"/>
          </a:p>
          <a:p>
            <a:endParaRPr lang="en-US" altLang="zh-CN" sz="1600" dirty="0"/>
          </a:p>
          <a:p>
            <a:endParaRPr kumimoji="1" lang="zh-CN" altLang="en-US" dirty="0"/>
          </a:p>
        </p:txBody>
      </p:sp>
      <p:sp>
        <p:nvSpPr>
          <p:cNvPr id="4" name="日期占位符 3"/>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p:cNvSpPr>
            <a:spLocks noGrp="1"/>
          </p:cNvSpPr>
          <p:nvPr>
            <p:ph type="sldNum" sz="quarter" idx="12"/>
          </p:nvPr>
        </p:nvSpPr>
        <p:spPr/>
        <p:txBody>
          <a:bodyPr/>
          <a:lstStyle/>
          <a:p>
            <a:fld id="{24F01846-2DA3-FB44-9D89-19679C480714}" type="slidenum">
              <a:rPr kumimoji="1" lang="zh-CN" altLang="en-US" smtClean="0"/>
              <a:t>11</a:t>
            </a:fld>
            <a:endParaRPr kumimoji="1" lang="zh-CN" altLang="en-US" dirty="0"/>
          </a:p>
        </p:txBody>
      </p:sp>
      <p:pic>
        <p:nvPicPr>
          <p:cNvPr id="6" name="图片 5">
            <a:extLst>
              <a:ext uri="{FF2B5EF4-FFF2-40B4-BE49-F238E27FC236}">
                <a16:creationId xmlns:a16="http://schemas.microsoft.com/office/drawing/2014/main" id="{62353622-3B04-9FA3-2059-47C643673FD4}"/>
              </a:ext>
            </a:extLst>
          </p:cNvPr>
          <p:cNvPicPr>
            <a:picLocks noChangeAspect="1"/>
          </p:cNvPicPr>
          <p:nvPr/>
        </p:nvPicPr>
        <p:blipFill>
          <a:blip r:embed="rId2">
            <a:clrChange>
              <a:clrFrom>
                <a:srgbClr val="FCF4EB"/>
              </a:clrFrom>
              <a:clrTo>
                <a:srgbClr val="FCF4EB">
                  <a:alpha val="0"/>
                </a:srgbClr>
              </a:clrTo>
            </a:clrChange>
          </a:blip>
          <a:stretch>
            <a:fillRect/>
          </a:stretch>
        </p:blipFill>
        <p:spPr>
          <a:xfrm>
            <a:off x="7279354" y="219449"/>
            <a:ext cx="4819880" cy="1271177"/>
          </a:xfrm>
          <a:prstGeom prst="rect">
            <a:avLst/>
          </a:prstGeom>
        </p:spPr>
      </p:pic>
      <p:pic>
        <p:nvPicPr>
          <p:cNvPr id="7" name="图片 6">
            <a:extLst>
              <a:ext uri="{FF2B5EF4-FFF2-40B4-BE49-F238E27FC236}">
                <a16:creationId xmlns:a16="http://schemas.microsoft.com/office/drawing/2014/main" id="{80712725-2DAA-EE50-F9F1-0E3BA842EAF9}"/>
              </a:ext>
            </a:extLst>
          </p:cNvPr>
          <p:cNvPicPr>
            <a:picLocks noChangeAspect="1"/>
          </p:cNvPicPr>
          <p:nvPr/>
        </p:nvPicPr>
        <p:blipFill>
          <a:blip r:embed="rId3">
            <a:clrChange>
              <a:clrFrom>
                <a:srgbClr val="FCF4EB"/>
              </a:clrFrom>
              <a:clrTo>
                <a:srgbClr val="FCF4EB">
                  <a:alpha val="0"/>
                </a:srgbClr>
              </a:clrTo>
            </a:clrChange>
          </a:blip>
          <a:stretch>
            <a:fillRect/>
          </a:stretch>
        </p:blipFill>
        <p:spPr>
          <a:xfrm>
            <a:off x="6806226" y="3792291"/>
            <a:ext cx="5385774" cy="257924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kumimoji="1" lang="en-US" altLang="zh-CN" dirty="0"/>
              <a:t>SFT: Data</a:t>
            </a:r>
            <a:r>
              <a:rPr kumimoji="1" lang="zh-CN" altLang="en-US" dirty="0"/>
              <a:t> </a:t>
            </a:r>
            <a:r>
              <a:rPr kumimoji="1" lang="en-US" altLang="zh-CN" dirty="0"/>
              <a:t>Synthesis Pipeline</a:t>
            </a:r>
            <a:endParaRPr kumimoji="1" lang="zh-CN" altLang="en-US" dirty="0"/>
          </a:p>
        </p:txBody>
      </p:sp>
      <p:sp>
        <p:nvSpPr>
          <p:cNvPr id="4" name="日期占位符 3"/>
          <p:cNvSpPr>
            <a:spLocks noGrp="1"/>
          </p:cNvSpPr>
          <p:nvPr>
            <p:ph type="dt" sz="half" idx="10"/>
          </p:nvPr>
        </p:nvSpPr>
        <p:spPr>
          <a:xfrm>
            <a:off x="159622" y="6402811"/>
            <a:ext cx="970721" cy="365125"/>
          </a:xfrm>
        </p:spPr>
        <p:txBody>
          <a:bodyPr/>
          <a:lstStyle/>
          <a:p>
            <a:fld id="{3EC80B9B-165E-4D40-8ABE-74EB107C3243}" type="datetime1">
              <a:rPr kumimoji="1" lang="zh-CN" altLang="en-US" smtClean="0"/>
              <a:t>2026/3/17</a:t>
            </a:fld>
            <a:endParaRPr kumimoji="1" lang="zh-CN" altLang="en-US" dirty="0"/>
          </a:p>
        </p:txBody>
      </p:sp>
      <p:sp>
        <p:nvSpPr>
          <p:cNvPr id="5" name="灯片编号占位符 4"/>
          <p:cNvSpPr>
            <a:spLocks noGrp="1"/>
          </p:cNvSpPr>
          <p:nvPr>
            <p:ph type="sldNum" sz="quarter" idx="12"/>
          </p:nvPr>
        </p:nvSpPr>
        <p:spPr>
          <a:xfrm>
            <a:off x="11492352" y="6402810"/>
            <a:ext cx="540026" cy="365125"/>
          </a:xfrm>
        </p:spPr>
        <p:txBody>
          <a:bodyPr/>
          <a:lstStyle/>
          <a:p>
            <a:fld id="{24F01846-2DA3-FB44-9D89-19679C480714}" type="slidenum">
              <a:rPr kumimoji="1" lang="zh-CN" altLang="en-US" smtClean="0"/>
              <a:t>12</a:t>
            </a:fld>
            <a:endParaRPr kumimoji="1" lang="zh-CN" altLang="en-US" dirty="0"/>
          </a:p>
        </p:txBody>
      </p:sp>
      <p:pic>
        <p:nvPicPr>
          <p:cNvPr id="10" name="图片 9">
            <a:extLst>
              <a:ext uri="{FF2B5EF4-FFF2-40B4-BE49-F238E27FC236}">
                <a16:creationId xmlns:a16="http://schemas.microsoft.com/office/drawing/2014/main" id="{8E251BE9-6273-CCE9-D0CB-C0B975A7ABEB}"/>
              </a:ext>
            </a:extLst>
          </p:cNvPr>
          <p:cNvPicPr>
            <a:picLocks noChangeAspect="1"/>
          </p:cNvPicPr>
          <p:nvPr/>
        </p:nvPicPr>
        <p:blipFill>
          <a:blip r:embed="rId3"/>
          <a:stretch>
            <a:fillRect/>
          </a:stretch>
        </p:blipFill>
        <p:spPr>
          <a:xfrm>
            <a:off x="4571943" y="2824612"/>
            <a:ext cx="6392271" cy="2019885"/>
          </a:xfrm>
          <a:prstGeom prst="rect">
            <a:avLst/>
          </a:prstGeom>
        </p:spPr>
      </p:pic>
      <p:sp>
        <p:nvSpPr>
          <p:cNvPr id="13" name="文本框 12">
            <a:extLst>
              <a:ext uri="{FF2B5EF4-FFF2-40B4-BE49-F238E27FC236}">
                <a16:creationId xmlns:a16="http://schemas.microsoft.com/office/drawing/2014/main" id="{6CCC5E99-EDBC-21F6-E127-E44F1A0CADF9}"/>
              </a:ext>
            </a:extLst>
          </p:cNvPr>
          <p:cNvSpPr txBox="1"/>
          <p:nvPr/>
        </p:nvSpPr>
        <p:spPr>
          <a:xfrm>
            <a:off x="1445498" y="3062551"/>
            <a:ext cx="1389888" cy="369332"/>
          </a:xfrm>
          <a:prstGeom prst="rect">
            <a:avLst/>
          </a:prstGeom>
          <a:noFill/>
        </p:spPr>
        <p:txBody>
          <a:bodyPr wrap="square" rtlCol="0">
            <a:spAutoFit/>
          </a:bodyPr>
          <a:lstStyle/>
          <a:p>
            <a:r>
              <a:rPr kumimoji="1" lang="en-US" altLang="zh-CN" dirty="0"/>
              <a:t>Kimi-K2</a:t>
            </a:r>
            <a:endParaRPr kumimoji="1" lang="zh-CN" altLang="en-US" dirty="0"/>
          </a:p>
        </p:txBody>
      </p:sp>
      <p:sp>
        <p:nvSpPr>
          <p:cNvPr id="14" name="文本框 13">
            <a:extLst>
              <a:ext uri="{FF2B5EF4-FFF2-40B4-BE49-F238E27FC236}">
                <a16:creationId xmlns:a16="http://schemas.microsoft.com/office/drawing/2014/main" id="{AF8BC3CD-A7FD-5A02-7260-1D567422CF46}"/>
              </a:ext>
            </a:extLst>
          </p:cNvPr>
          <p:cNvSpPr txBox="1"/>
          <p:nvPr/>
        </p:nvSpPr>
        <p:spPr>
          <a:xfrm>
            <a:off x="1214328" y="1103045"/>
            <a:ext cx="1695005" cy="369332"/>
          </a:xfrm>
          <a:prstGeom prst="rect">
            <a:avLst/>
          </a:prstGeom>
          <a:noFill/>
        </p:spPr>
        <p:txBody>
          <a:bodyPr wrap="square" rtlCol="0">
            <a:spAutoFit/>
          </a:bodyPr>
          <a:lstStyle/>
          <a:p>
            <a:r>
              <a:rPr kumimoji="1" lang="en-US" altLang="zh-CN" dirty="0"/>
              <a:t>DeepSeek-R1</a:t>
            </a:r>
            <a:endParaRPr kumimoji="1" lang="zh-CN" altLang="en-US" dirty="0"/>
          </a:p>
        </p:txBody>
      </p:sp>
      <p:sp>
        <p:nvSpPr>
          <p:cNvPr id="15" name="文本框 14">
            <a:extLst>
              <a:ext uri="{FF2B5EF4-FFF2-40B4-BE49-F238E27FC236}">
                <a16:creationId xmlns:a16="http://schemas.microsoft.com/office/drawing/2014/main" id="{1BB4FAF6-7E38-6499-6302-6F922D2227B5}"/>
              </a:ext>
            </a:extLst>
          </p:cNvPr>
          <p:cNvSpPr txBox="1"/>
          <p:nvPr/>
        </p:nvSpPr>
        <p:spPr>
          <a:xfrm>
            <a:off x="274511" y="1400558"/>
            <a:ext cx="5010912" cy="1661993"/>
          </a:xfrm>
          <a:prstGeom prst="rect">
            <a:avLst/>
          </a:prstGeom>
          <a:noFill/>
        </p:spPr>
        <p:txBody>
          <a:bodyPr wrap="square" rtlCol="0">
            <a:spAutoFit/>
          </a:bodyPr>
          <a:lstStyle/>
          <a:p>
            <a:pPr>
              <a:lnSpc>
                <a:spcPct val="150000"/>
              </a:lnSpc>
            </a:pPr>
            <a:r>
              <a:rPr lang="en-US" altLang="zh-CN" sz="1400" dirty="0"/>
              <a:t>Uses </a:t>
            </a:r>
            <a:r>
              <a:rPr lang="en-US" altLang="zh-CN" sz="1400" u="sng" dirty="0"/>
              <a:t>rejection sampling</a:t>
            </a:r>
            <a:r>
              <a:rPr lang="en-US" altLang="zh-CN" sz="1400" dirty="0"/>
              <a:t> based on </a:t>
            </a:r>
            <a:r>
              <a:rPr lang="en-US" altLang="zh-CN" sz="1400" b="1" dirty="0"/>
              <a:t>verifiers</a:t>
            </a:r>
            <a:r>
              <a:rPr lang="en-US" altLang="zh-CN" sz="1400" dirty="0"/>
              <a:t> </a:t>
            </a:r>
          </a:p>
          <a:p>
            <a:pPr>
              <a:lnSpc>
                <a:spcPct val="150000"/>
              </a:lnSpc>
            </a:pPr>
            <a:r>
              <a:rPr lang="en-US" altLang="zh-CN" sz="1400" dirty="0"/>
              <a:t>1. Temporary LLM generates many answers </a:t>
            </a:r>
          </a:p>
          <a:p>
            <a:pPr>
              <a:lnSpc>
                <a:spcPct val="150000"/>
              </a:lnSpc>
            </a:pPr>
            <a:r>
              <a:rPr lang="en-US" altLang="zh-CN" sz="1400" dirty="0"/>
              <a:t>2. Keep answer if it’s correct (</a:t>
            </a:r>
            <a:r>
              <a:rPr lang="en-US" altLang="zh-CN" sz="1400" dirty="0" err="1"/>
              <a:t>eg</a:t>
            </a:r>
            <a:r>
              <a:rPr lang="en-US" altLang="zh-CN" sz="1400" dirty="0"/>
              <a:t>, passes test case), or preferred over others</a:t>
            </a:r>
          </a:p>
          <a:p>
            <a:endParaRPr kumimoji="1" lang="zh-CN" altLang="en-US" dirty="0"/>
          </a:p>
        </p:txBody>
      </p:sp>
      <p:pic>
        <p:nvPicPr>
          <p:cNvPr id="16" name="图片 15">
            <a:extLst>
              <a:ext uri="{FF2B5EF4-FFF2-40B4-BE49-F238E27FC236}">
                <a16:creationId xmlns:a16="http://schemas.microsoft.com/office/drawing/2014/main" id="{9E23E68D-2C13-427E-E06E-C519B32FBA27}"/>
              </a:ext>
            </a:extLst>
          </p:cNvPr>
          <p:cNvPicPr>
            <a:picLocks noChangeAspect="1"/>
          </p:cNvPicPr>
          <p:nvPr/>
        </p:nvPicPr>
        <p:blipFill>
          <a:blip r:embed="rId4"/>
          <a:stretch>
            <a:fillRect/>
          </a:stretch>
        </p:blipFill>
        <p:spPr>
          <a:xfrm>
            <a:off x="4886348" y="712493"/>
            <a:ext cx="5641873" cy="1912365"/>
          </a:xfrm>
          <a:prstGeom prst="rect">
            <a:avLst/>
          </a:prstGeom>
        </p:spPr>
      </p:pic>
      <p:sp>
        <p:nvSpPr>
          <p:cNvPr id="17" name="文本框 16">
            <a:extLst>
              <a:ext uri="{FF2B5EF4-FFF2-40B4-BE49-F238E27FC236}">
                <a16:creationId xmlns:a16="http://schemas.microsoft.com/office/drawing/2014/main" id="{D06874DE-AADA-3887-048B-3CF5E33DFA41}"/>
              </a:ext>
            </a:extLst>
          </p:cNvPr>
          <p:cNvSpPr txBox="1"/>
          <p:nvPr/>
        </p:nvSpPr>
        <p:spPr>
          <a:xfrm>
            <a:off x="357362" y="3360064"/>
            <a:ext cx="3566160" cy="1338828"/>
          </a:xfrm>
          <a:prstGeom prst="rect">
            <a:avLst/>
          </a:prstGeom>
          <a:noFill/>
        </p:spPr>
        <p:txBody>
          <a:bodyPr wrap="square" rtlCol="0">
            <a:spAutoFit/>
          </a:bodyPr>
          <a:lstStyle/>
          <a:p>
            <a:pPr>
              <a:lnSpc>
                <a:spcPct val="150000"/>
              </a:lnSpc>
            </a:pPr>
            <a:r>
              <a:rPr lang="en-US" altLang="zh-CN" sz="1400" dirty="0"/>
              <a:t>Uses LLM simulated user &amp; tools, and </a:t>
            </a:r>
            <a:r>
              <a:rPr lang="en-US" altLang="zh-CN" sz="1400" b="1" dirty="0"/>
              <a:t>rubric based </a:t>
            </a:r>
            <a:r>
              <a:rPr lang="en-US" altLang="zh-CN" sz="1400" u="sng" dirty="0"/>
              <a:t>rejection sampling </a:t>
            </a:r>
            <a:r>
              <a:rPr lang="en-US" altLang="zh-CN" sz="1400" dirty="0"/>
              <a:t>to </a:t>
            </a:r>
          </a:p>
          <a:p>
            <a:pPr>
              <a:lnSpc>
                <a:spcPct val="150000"/>
              </a:lnSpc>
            </a:pPr>
            <a:r>
              <a:rPr lang="en-US" altLang="zh-CN" sz="1400" dirty="0"/>
              <a:t>build data for agentic tool use </a:t>
            </a:r>
          </a:p>
          <a:p>
            <a:endParaRPr kumimoji="1" lang="zh-CN" altLang="en-US" dirty="0"/>
          </a:p>
        </p:txBody>
      </p:sp>
      <p:sp>
        <p:nvSpPr>
          <p:cNvPr id="19" name="文本框 18">
            <a:extLst>
              <a:ext uri="{FF2B5EF4-FFF2-40B4-BE49-F238E27FC236}">
                <a16:creationId xmlns:a16="http://schemas.microsoft.com/office/drawing/2014/main" id="{9F74450E-997C-23FE-1940-C90E4796526C}"/>
              </a:ext>
            </a:extLst>
          </p:cNvPr>
          <p:cNvSpPr txBox="1"/>
          <p:nvPr/>
        </p:nvSpPr>
        <p:spPr>
          <a:xfrm>
            <a:off x="274511" y="4698892"/>
            <a:ext cx="10922287" cy="3062377"/>
          </a:xfrm>
          <a:prstGeom prst="rect">
            <a:avLst/>
          </a:prstGeom>
          <a:noFill/>
        </p:spPr>
        <p:txBody>
          <a:bodyPr wrap="square" rtlCol="0">
            <a:spAutoFit/>
          </a:bodyPr>
          <a:lstStyle/>
          <a:p>
            <a:pPr>
              <a:lnSpc>
                <a:spcPct val="150000"/>
              </a:lnSpc>
            </a:pPr>
            <a:r>
              <a:rPr lang="en-US" altLang="zh-CN" sz="1400" b="1" dirty="0"/>
              <a:t>Takeaway: </a:t>
            </a:r>
          </a:p>
          <a:p>
            <a:pPr>
              <a:lnSpc>
                <a:spcPct val="150000"/>
              </a:lnSpc>
            </a:pPr>
            <a:r>
              <a:rPr lang="en-US" altLang="zh-CN" sz="1400" dirty="0"/>
              <a:t>1. Quality Matters: curating high quality data often outperforms alchemy in parameter tuning for the training.</a:t>
            </a:r>
          </a:p>
          <a:p>
            <a:pPr>
              <a:lnSpc>
                <a:spcPct val="150000"/>
              </a:lnSpc>
            </a:pPr>
            <a:r>
              <a:rPr lang="en-US" altLang="zh-CN" sz="1400" dirty="0"/>
              <a:t>2. Hard problem are usually more useful for powerful models.</a:t>
            </a:r>
          </a:p>
          <a:p>
            <a:pPr>
              <a:lnSpc>
                <a:spcPct val="150000"/>
              </a:lnSpc>
            </a:pPr>
            <a:r>
              <a:rPr lang="en-US" altLang="zh-CN" sz="1400" dirty="0"/>
              <a:t>3. The goodness of data is also model dependent.</a:t>
            </a:r>
          </a:p>
          <a:p>
            <a:pPr>
              <a:lnSpc>
                <a:spcPct val="150000"/>
              </a:lnSpc>
            </a:pPr>
            <a:r>
              <a:rPr lang="en-US" altLang="zh-CN" sz="1400" dirty="0"/>
              <a:t>4. Combine the use of real data and synthetic data.</a:t>
            </a:r>
          </a:p>
          <a:p>
            <a:endParaRPr lang="en-US" altLang="zh-CN" sz="1400" dirty="0"/>
          </a:p>
          <a:p>
            <a:pPr marL="342900" indent="-342900">
              <a:buAutoNum type="arabicPeriod"/>
            </a:pPr>
            <a:endParaRPr lang="en-US" altLang="zh-CN" sz="1400" dirty="0"/>
          </a:p>
          <a:p>
            <a:pPr>
              <a:lnSpc>
                <a:spcPct val="150000"/>
              </a:lnSpc>
            </a:pPr>
            <a:endParaRPr lang="en-US" altLang="zh-CN" sz="1400" dirty="0"/>
          </a:p>
          <a:p>
            <a:pPr>
              <a:lnSpc>
                <a:spcPct val="150000"/>
              </a:lnSpc>
            </a:pPr>
            <a:endParaRPr lang="en-US" altLang="zh-CN" sz="1400" dirty="0"/>
          </a:p>
          <a:p>
            <a:endParaRPr kumimoji="1" lang="zh-CN" altLang="en-US" dirty="0"/>
          </a:p>
        </p:txBody>
      </p:sp>
      <p:sp>
        <p:nvSpPr>
          <p:cNvPr id="20" name="文本框 19">
            <a:extLst>
              <a:ext uri="{FF2B5EF4-FFF2-40B4-BE49-F238E27FC236}">
                <a16:creationId xmlns:a16="http://schemas.microsoft.com/office/drawing/2014/main" id="{711BD4D0-59B7-3F7D-C5B1-A7A099840B7A}"/>
              </a:ext>
            </a:extLst>
          </p:cNvPr>
          <p:cNvSpPr txBox="1"/>
          <p:nvPr/>
        </p:nvSpPr>
        <p:spPr>
          <a:xfrm>
            <a:off x="10111211" y="3372890"/>
            <a:ext cx="2762282" cy="461665"/>
          </a:xfrm>
          <a:prstGeom prst="rect">
            <a:avLst/>
          </a:prstGeom>
          <a:noFill/>
        </p:spPr>
        <p:txBody>
          <a:bodyPr wrap="square" rtlCol="0">
            <a:spAutoFit/>
          </a:bodyPr>
          <a:lstStyle/>
          <a:p>
            <a:pPr algn="ctr"/>
            <a:r>
              <a:rPr kumimoji="1" lang="en-US" altLang="zh-CN" sz="1200" dirty="0">
                <a:solidFill>
                  <a:schemeClr val="bg2">
                    <a:lumMod val="75000"/>
                  </a:schemeClr>
                </a:solidFill>
              </a:rPr>
              <a:t>Kimi K2</a:t>
            </a:r>
          </a:p>
          <a:p>
            <a:pPr algn="ctr"/>
            <a:r>
              <a:rPr kumimoji="1" lang="en-US" altLang="zh-CN" sz="1200" dirty="0">
                <a:solidFill>
                  <a:schemeClr val="bg2">
                    <a:lumMod val="75000"/>
                  </a:schemeClr>
                </a:solidFill>
              </a:rPr>
              <a:t>[Kimi team, 2025]</a:t>
            </a:r>
            <a:endParaRPr kumimoji="1" lang="zh-CN" altLang="en-US" sz="1200" dirty="0">
              <a:solidFill>
                <a:schemeClr val="bg2">
                  <a:lumMod val="75000"/>
                </a:schemeClr>
              </a:solidFill>
            </a:endParaRPr>
          </a:p>
        </p:txBody>
      </p:sp>
      <p:sp>
        <p:nvSpPr>
          <p:cNvPr id="21" name="文本框 20">
            <a:extLst>
              <a:ext uri="{FF2B5EF4-FFF2-40B4-BE49-F238E27FC236}">
                <a16:creationId xmlns:a16="http://schemas.microsoft.com/office/drawing/2014/main" id="{B0DCBF2A-EE58-C3B3-5D9F-F62C67BD2646}"/>
              </a:ext>
            </a:extLst>
          </p:cNvPr>
          <p:cNvSpPr txBox="1"/>
          <p:nvPr/>
        </p:nvSpPr>
        <p:spPr>
          <a:xfrm>
            <a:off x="10047203" y="1356155"/>
            <a:ext cx="2762282" cy="461665"/>
          </a:xfrm>
          <a:prstGeom prst="rect">
            <a:avLst/>
          </a:prstGeom>
          <a:noFill/>
        </p:spPr>
        <p:txBody>
          <a:bodyPr wrap="square" rtlCol="0">
            <a:spAutoFit/>
          </a:bodyPr>
          <a:lstStyle/>
          <a:p>
            <a:pPr algn="ctr"/>
            <a:r>
              <a:rPr kumimoji="1" lang="en-US" altLang="zh-CN" sz="1200" dirty="0">
                <a:solidFill>
                  <a:schemeClr val="bg2">
                    <a:lumMod val="75000"/>
                  </a:schemeClr>
                </a:solidFill>
              </a:rPr>
              <a:t>DeepSeek-R1</a:t>
            </a:r>
          </a:p>
          <a:p>
            <a:pPr algn="ctr"/>
            <a:r>
              <a:rPr kumimoji="1" lang="en-US" altLang="zh-CN" sz="1200" dirty="0">
                <a:solidFill>
                  <a:schemeClr val="bg2">
                    <a:lumMod val="75000"/>
                  </a:schemeClr>
                </a:solidFill>
              </a:rPr>
              <a:t>[DeepSeek-AI, 2025]</a:t>
            </a:r>
            <a:endParaRPr kumimoji="1" lang="zh-CN" altLang="en-US" sz="1200" dirty="0">
              <a:solidFill>
                <a:schemeClr val="bg2">
                  <a:lumMod val="75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kumimoji="1" lang="en-US" altLang="zh-CN" dirty="0"/>
              <a:t>RL: Data</a:t>
            </a:r>
            <a:endParaRPr kumimoji="1" lang="zh-CN" altLang="en-US" dirty="0"/>
          </a:p>
        </p:txBody>
      </p:sp>
      <p:sp>
        <p:nvSpPr>
          <p:cNvPr id="4" name="日期占位符 3"/>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p:cNvSpPr>
            <a:spLocks noGrp="1"/>
          </p:cNvSpPr>
          <p:nvPr>
            <p:ph type="sldNum" sz="quarter" idx="12"/>
          </p:nvPr>
        </p:nvSpPr>
        <p:spPr/>
        <p:txBody>
          <a:bodyPr/>
          <a:lstStyle/>
          <a:p>
            <a:fld id="{24F01846-2DA3-FB44-9D89-19679C480714}" type="slidenum">
              <a:rPr kumimoji="1" lang="zh-CN" altLang="en-US" smtClean="0"/>
              <a:t>13</a:t>
            </a:fld>
            <a:endParaRPr kumimoji="1" lang="zh-CN" altLang="en-US" dirty="0"/>
          </a:p>
        </p:txBody>
      </p:sp>
      <p:sp>
        <p:nvSpPr>
          <p:cNvPr id="6" name="副标题 2">
            <a:extLst>
              <a:ext uri="{FF2B5EF4-FFF2-40B4-BE49-F238E27FC236}">
                <a16:creationId xmlns:a16="http://schemas.microsoft.com/office/drawing/2014/main" id="{FD49E9BF-6B41-95BE-3D9A-479A3ABB04C1}"/>
              </a:ext>
            </a:extLst>
          </p:cNvPr>
          <p:cNvSpPr>
            <a:spLocks noGrp="1"/>
          </p:cNvSpPr>
          <p:nvPr>
            <p:ph type="subTitle" idx="1"/>
          </p:nvPr>
        </p:nvSpPr>
        <p:spPr>
          <a:xfrm>
            <a:off x="364435" y="1244050"/>
            <a:ext cx="11575773" cy="4750904"/>
          </a:xfrm>
        </p:spPr>
        <p:txBody>
          <a:bodyPr>
            <a:normAutofit lnSpcReduction="10000"/>
          </a:bodyPr>
          <a:lstStyle/>
          <a:p>
            <a:r>
              <a:rPr lang="en-US" altLang="zh-CN" sz="1600" b="1" dirty="0"/>
              <a:t>RL Goal: </a:t>
            </a:r>
          </a:p>
          <a:p>
            <a:r>
              <a:rPr lang="en-US" altLang="zh-CN" sz="1600" dirty="0"/>
              <a:t>   • </a:t>
            </a:r>
            <a:r>
              <a:rPr lang="en-US" altLang="zh-CN" sz="1600" b="1" dirty="0"/>
              <a:t>Not just memorization. </a:t>
            </a:r>
          </a:p>
          <a:p>
            <a:r>
              <a:rPr lang="en-US" altLang="zh-CN" sz="1600" dirty="0"/>
              <a:t>   • It is all about </a:t>
            </a:r>
            <a:r>
              <a:rPr lang="en-US" altLang="zh-CN" sz="1600" b="1" dirty="0"/>
              <a:t>the power of exploration</a:t>
            </a:r>
            <a:r>
              <a:rPr lang="en-US" altLang="zh-CN" sz="1600" dirty="0"/>
              <a:t>. </a:t>
            </a:r>
          </a:p>
          <a:p>
            <a:r>
              <a:rPr lang="en-US" altLang="zh-CN" sz="1600" dirty="0"/>
              <a:t>   </a:t>
            </a:r>
            <a:endParaRPr lang="en-US" altLang="zh-CN" sz="1600" b="1" dirty="0"/>
          </a:p>
          <a:p>
            <a:r>
              <a:rPr lang="en-US" altLang="zh-CN" sz="1600" b="1" dirty="0"/>
              <a:t>Data Types: </a:t>
            </a:r>
          </a:p>
          <a:p>
            <a:r>
              <a:rPr lang="en-US" altLang="zh-CN" sz="1600" dirty="0"/>
              <a:t>   • Verifiable (close-ended): Math, Code, etc.</a:t>
            </a:r>
            <a:r>
              <a:rPr lang="zh-CN" altLang="en-US" sz="1600" dirty="0"/>
              <a:t>   </a:t>
            </a:r>
            <a:r>
              <a:rPr lang="en-US" altLang="zh-CN" sz="1600" dirty="0"/>
              <a:t>	</a:t>
            </a:r>
            <a:r>
              <a:rPr lang="zh-CN" altLang="en-US" sz="1600" dirty="0"/>
              <a:t>      </a:t>
            </a:r>
            <a:r>
              <a:rPr lang="en-US" altLang="zh-CN" sz="1600" dirty="0"/>
              <a:t>             -&gt; Great!</a:t>
            </a:r>
          </a:p>
          <a:p>
            <a:r>
              <a:rPr lang="en-US" altLang="zh-CN" sz="1600" dirty="0"/>
              <a:t>   • Non-Verifiable (open-ended) : Style, Writing, Safety, etc.      -&gt; Rubrics &amp; Data Synthesis</a:t>
            </a:r>
          </a:p>
          <a:p>
            <a:endParaRPr lang="en-US" altLang="zh-CN" sz="1600" dirty="0"/>
          </a:p>
          <a:p>
            <a:r>
              <a:rPr lang="en-US" altLang="zh-CN" sz="1600" b="1" dirty="0"/>
              <a:t>Takeaway:</a:t>
            </a:r>
          </a:p>
          <a:p>
            <a:r>
              <a:rPr lang="en-US" altLang="zh-CN" sz="1600" dirty="0"/>
              <a:t>1. Extremely high data efficiency </a:t>
            </a:r>
          </a:p>
          <a:p>
            <a:r>
              <a:rPr lang="en-US" altLang="zh-CN" sz="1600" dirty="0"/>
              <a:t>   •  1 sample to figure out most math building blocks</a:t>
            </a:r>
          </a:p>
          <a:p>
            <a:r>
              <a:rPr lang="en-US" altLang="zh-CN" sz="1600" dirty="0"/>
              <a:t>2. Quality matter – requires </a:t>
            </a:r>
            <a:r>
              <a:rPr lang="en-US" altLang="zh-CN" sz="1600" u="sng" dirty="0"/>
              <a:t>rejection sampling </a:t>
            </a:r>
            <a:r>
              <a:rPr lang="en-US" altLang="zh-CN" sz="1600" dirty="0"/>
              <a:t>too</a:t>
            </a:r>
          </a:p>
          <a:p>
            <a:r>
              <a:rPr lang="en-US" altLang="zh-CN" sz="1600" dirty="0"/>
              <a:t>   • </a:t>
            </a:r>
            <a:r>
              <a:rPr lang="en-US" altLang="zh-CN" sz="1600" b="1" dirty="0"/>
              <a:t>High entropy </a:t>
            </a:r>
            <a:r>
              <a:rPr lang="en-US" altLang="zh-CN" sz="1600" dirty="0"/>
              <a:t>to encourage exploration </a:t>
            </a:r>
          </a:p>
          <a:p>
            <a:r>
              <a:rPr lang="en-US" altLang="zh-CN" sz="1600" dirty="0"/>
              <a:t>   • Can’t be too hard (pass-rate = 0), or too easy (without negative feedback)</a:t>
            </a:r>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kumimoji="1" lang="zh-CN" altLang="en-US" dirty="0"/>
          </a:p>
        </p:txBody>
      </p:sp>
      <p:pic>
        <p:nvPicPr>
          <p:cNvPr id="7" name="图片 6">
            <a:extLst>
              <a:ext uri="{FF2B5EF4-FFF2-40B4-BE49-F238E27FC236}">
                <a16:creationId xmlns:a16="http://schemas.microsoft.com/office/drawing/2014/main" id="{A610F9CF-1AE0-547A-F1FD-2187147A2A4C}"/>
              </a:ext>
            </a:extLst>
          </p:cNvPr>
          <p:cNvPicPr>
            <a:picLocks noChangeAspect="1"/>
          </p:cNvPicPr>
          <p:nvPr/>
        </p:nvPicPr>
        <p:blipFill>
          <a:blip r:embed="rId3"/>
          <a:stretch>
            <a:fillRect/>
          </a:stretch>
        </p:blipFill>
        <p:spPr>
          <a:xfrm>
            <a:off x="8778963" y="143253"/>
            <a:ext cx="3320271" cy="2002431"/>
          </a:xfrm>
          <a:prstGeom prst="rect">
            <a:avLst/>
          </a:prstGeom>
        </p:spPr>
      </p:pic>
      <p:sp>
        <p:nvSpPr>
          <p:cNvPr id="8" name="文本框 7">
            <a:extLst>
              <a:ext uri="{FF2B5EF4-FFF2-40B4-BE49-F238E27FC236}">
                <a16:creationId xmlns:a16="http://schemas.microsoft.com/office/drawing/2014/main" id="{19BA2329-6672-0D42-9E6C-2343D40FED57}"/>
              </a:ext>
            </a:extLst>
          </p:cNvPr>
          <p:cNvSpPr txBox="1"/>
          <p:nvPr/>
        </p:nvSpPr>
        <p:spPr>
          <a:xfrm>
            <a:off x="9121604" y="2129935"/>
            <a:ext cx="2977630" cy="1061829"/>
          </a:xfrm>
          <a:prstGeom prst="rect">
            <a:avLst/>
          </a:prstGeom>
          <a:noFill/>
        </p:spPr>
        <p:txBody>
          <a:bodyPr wrap="square" rtlCol="0">
            <a:spAutoFit/>
          </a:bodyPr>
          <a:lstStyle/>
          <a:p>
            <a:r>
              <a:rPr lang="en-US" altLang="zh-CN" sz="1500" dirty="0">
                <a:solidFill>
                  <a:schemeClr val="accent6">
                    <a:lumMod val="75000"/>
                  </a:schemeClr>
                </a:solidFill>
              </a:rPr>
              <a:t>Ranking the training data by the variance of historical training accuracy </a:t>
            </a:r>
            <a:r>
              <a:rPr lang="en-US" altLang="zh-CN" sz="1500" dirty="0" err="1">
                <a:solidFill>
                  <a:schemeClr val="accent6">
                    <a:lumMod val="75000"/>
                  </a:schemeClr>
                </a:solidFill>
              </a:rPr>
              <a:t>si</a:t>
            </a:r>
            <a:r>
              <a:rPr lang="en-US" altLang="zh-CN" sz="1500" dirty="0">
                <a:solidFill>
                  <a:schemeClr val="accent6">
                    <a:lumMod val="75000"/>
                  </a:schemeClr>
                </a:solidFill>
              </a:rPr>
              <a:t>.</a:t>
            </a:r>
          </a:p>
          <a:p>
            <a:endParaRPr kumimoji="1" lang="zh-CN" altLang="en-US" dirty="0"/>
          </a:p>
        </p:txBody>
      </p:sp>
      <p:pic>
        <p:nvPicPr>
          <p:cNvPr id="10" name="图片 9">
            <a:extLst>
              <a:ext uri="{FF2B5EF4-FFF2-40B4-BE49-F238E27FC236}">
                <a16:creationId xmlns:a16="http://schemas.microsoft.com/office/drawing/2014/main" id="{B45A3640-1282-C82A-C209-C8B213DAD7FB}"/>
              </a:ext>
            </a:extLst>
          </p:cNvPr>
          <p:cNvPicPr>
            <a:picLocks noChangeAspect="1"/>
          </p:cNvPicPr>
          <p:nvPr/>
        </p:nvPicPr>
        <p:blipFill>
          <a:blip r:embed="rId4"/>
          <a:stretch>
            <a:fillRect/>
          </a:stretch>
        </p:blipFill>
        <p:spPr>
          <a:xfrm>
            <a:off x="9443355" y="3646911"/>
            <a:ext cx="2440531" cy="1851705"/>
          </a:xfrm>
          <a:prstGeom prst="rect">
            <a:avLst/>
          </a:prstGeom>
        </p:spPr>
      </p:pic>
      <p:pic>
        <p:nvPicPr>
          <p:cNvPr id="11" name="图片 10">
            <a:extLst>
              <a:ext uri="{FF2B5EF4-FFF2-40B4-BE49-F238E27FC236}">
                <a16:creationId xmlns:a16="http://schemas.microsoft.com/office/drawing/2014/main" id="{458E33EA-CDDD-7652-E6C5-CBE60BB08C1C}"/>
              </a:ext>
            </a:extLst>
          </p:cNvPr>
          <p:cNvPicPr>
            <a:picLocks noChangeAspect="1"/>
          </p:cNvPicPr>
          <p:nvPr/>
        </p:nvPicPr>
        <p:blipFill>
          <a:blip r:embed="rId5"/>
          <a:stretch>
            <a:fillRect/>
          </a:stretch>
        </p:blipFill>
        <p:spPr>
          <a:xfrm>
            <a:off x="9171354" y="3002397"/>
            <a:ext cx="2768854" cy="617105"/>
          </a:xfrm>
          <a:prstGeom prst="rect">
            <a:avLst/>
          </a:prstGeom>
        </p:spPr>
      </p:pic>
      <p:sp>
        <p:nvSpPr>
          <p:cNvPr id="12" name="文本框 11">
            <a:extLst>
              <a:ext uri="{FF2B5EF4-FFF2-40B4-BE49-F238E27FC236}">
                <a16:creationId xmlns:a16="http://schemas.microsoft.com/office/drawing/2014/main" id="{D0082D1B-A050-E103-2A3A-6CFE1D86E013}"/>
              </a:ext>
            </a:extLst>
          </p:cNvPr>
          <p:cNvSpPr txBox="1"/>
          <p:nvPr/>
        </p:nvSpPr>
        <p:spPr>
          <a:xfrm>
            <a:off x="9177926" y="5695521"/>
            <a:ext cx="2762282" cy="461665"/>
          </a:xfrm>
          <a:prstGeom prst="rect">
            <a:avLst/>
          </a:prstGeom>
          <a:noFill/>
        </p:spPr>
        <p:txBody>
          <a:bodyPr wrap="square" rtlCol="0">
            <a:spAutoFit/>
          </a:bodyPr>
          <a:lstStyle/>
          <a:p>
            <a:pPr algn="ctr"/>
            <a:r>
              <a:rPr kumimoji="1" lang="en-US" altLang="zh-CN" sz="1200" dirty="0">
                <a:solidFill>
                  <a:schemeClr val="bg2">
                    <a:lumMod val="75000"/>
                  </a:schemeClr>
                </a:solidFill>
              </a:rPr>
              <a:t>RL for RLM with one training example</a:t>
            </a:r>
          </a:p>
          <a:p>
            <a:pPr algn="ctr"/>
            <a:r>
              <a:rPr kumimoji="1" lang="en-US" altLang="zh-CN" sz="1200" dirty="0">
                <a:solidFill>
                  <a:schemeClr val="bg2">
                    <a:lumMod val="75000"/>
                  </a:schemeClr>
                </a:solidFill>
              </a:rPr>
              <a:t>[Wang et. al, 2025]</a:t>
            </a:r>
            <a:endParaRPr kumimoji="1" lang="zh-CN" altLang="en-US" sz="1200" dirty="0">
              <a:solidFill>
                <a:schemeClr val="bg2">
                  <a:lumMod val="75000"/>
                </a:schemeClr>
              </a:solidFill>
            </a:endParaRPr>
          </a:p>
        </p:txBody>
      </p:sp>
      <p:pic>
        <p:nvPicPr>
          <p:cNvPr id="13" name="图片 12">
            <a:extLst>
              <a:ext uri="{FF2B5EF4-FFF2-40B4-BE49-F238E27FC236}">
                <a16:creationId xmlns:a16="http://schemas.microsoft.com/office/drawing/2014/main" id="{2C4E1197-A249-7031-1B39-6300F9BF4EAC}"/>
              </a:ext>
            </a:extLst>
          </p:cNvPr>
          <p:cNvPicPr>
            <a:picLocks noChangeAspect="1"/>
          </p:cNvPicPr>
          <p:nvPr/>
        </p:nvPicPr>
        <p:blipFill>
          <a:blip r:embed="rId6"/>
          <a:stretch>
            <a:fillRect/>
          </a:stretch>
        </p:blipFill>
        <p:spPr>
          <a:xfrm>
            <a:off x="6568722" y="340552"/>
            <a:ext cx="1923199" cy="190652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kumimoji="1" lang="en-US" altLang="zh-CN" dirty="0"/>
              <a:t>RL: Grade for the reward(signal)</a:t>
            </a:r>
            <a:endParaRPr kumimoji="1" lang="zh-CN" altLang="en-US" dirty="0"/>
          </a:p>
        </p:txBody>
      </p:sp>
      <p:sp>
        <p:nvSpPr>
          <p:cNvPr id="3" name="副标题 2"/>
          <p:cNvSpPr>
            <a:spLocks noGrp="1"/>
          </p:cNvSpPr>
          <p:nvPr>
            <p:ph type="subTitle" idx="1"/>
          </p:nvPr>
        </p:nvSpPr>
        <p:spPr>
          <a:xfrm>
            <a:off x="251792" y="1292087"/>
            <a:ext cx="11575773" cy="5079446"/>
          </a:xfrm>
        </p:spPr>
        <p:txBody>
          <a:bodyPr>
            <a:normAutofit fontScale="85000" lnSpcReduction="20000"/>
          </a:bodyPr>
          <a:lstStyle/>
          <a:p>
            <a:r>
              <a:rPr kumimoji="1" lang="en-US" altLang="zh-CN" sz="1600" b="1" dirty="0"/>
              <a:t>Grading:</a:t>
            </a:r>
          </a:p>
          <a:p>
            <a:r>
              <a:rPr kumimoji="1" lang="en-US" altLang="zh-CN" sz="1600" dirty="0"/>
              <a:t>• figure out </a:t>
            </a:r>
            <a:r>
              <a:rPr kumimoji="1" lang="en-US" altLang="zh-CN" sz="1600" u="sng" dirty="0"/>
              <a:t>what to grade</a:t>
            </a:r>
            <a:r>
              <a:rPr kumimoji="1" lang="en-US" altLang="zh-CN" sz="1600" dirty="0"/>
              <a:t>, </a:t>
            </a:r>
          </a:p>
          <a:p>
            <a:r>
              <a:rPr kumimoji="1" lang="en-US" altLang="zh-CN" sz="1600" dirty="0"/>
              <a:t>• build up </a:t>
            </a:r>
            <a:r>
              <a:rPr kumimoji="1" lang="en-US" altLang="zh-CN" sz="1600" u="sng" dirty="0"/>
              <a:t>a new grader (update rubrics) </a:t>
            </a:r>
            <a:r>
              <a:rPr kumimoji="1" lang="en-US" altLang="zh-CN" sz="1600" dirty="0"/>
              <a:t>to combine with current graders </a:t>
            </a:r>
          </a:p>
          <a:p>
            <a:r>
              <a:rPr kumimoji="1" lang="en-US" altLang="zh-CN" sz="1600" dirty="0"/>
              <a:t>• prepare the </a:t>
            </a:r>
            <a:r>
              <a:rPr kumimoji="1" lang="en-US" altLang="zh-CN" sz="1600" u="sng" dirty="0"/>
              <a:t>data</a:t>
            </a:r>
            <a:r>
              <a:rPr kumimoji="1" lang="en-US" altLang="zh-CN" sz="1600" dirty="0"/>
              <a:t> to be graded and trained (continually evolve, more harder)</a:t>
            </a:r>
          </a:p>
          <a:p>
            <a:endParaRPr kumimoji="1" lang="en-US" altLang="zh-CN" sz="1600" dirty="0"/>
          </a:p>
          <a:p>
            <a:r>
              <a:rPr kumimoji="1" lang="en-US" altLang="zh-CN" sz="1600" b="1" dirty="0"/>
              <a:t>Many different graders from (for general Agent)</a:t>
            </a:r>
          </a:p>
          <a:p>
            <a:r>
              <a:rPr kumimoji="1" lang="en-US" altLang="zh-CN" sz="1600" dirty="0"/>
              <a:t>• Different domains: finance, medical, coding, consultant, Stem, law, </a:t>
            </a:r>
            <a:r>
              <a:rPr kumimoji="1" lang="en-US" altLang="zh-CN" sz="1600" dirty="0" err="1"/>
              <a:t>etc</a:t>
            </a:r>
            <a:r>
              <a:rPr kumimoji="1" lang="en-US" altLang="zh-CN" sz="1600" dirty="0"/>
              <a:t> </a:t>
            </a:r>
          </a:p>
          <a:p>
            <a:r>
              <a:rPr kumimoji="1" lang="en-US" altLang="zh-CN" sz="1600" dirty="0"/>
              <a:t>• Different problems for each domain </a:t>
            </a:r>
          </a:p>
          <a:p>
            <a:r>
              <a:rPr kumimoji="1" lang="en-US" altLang="zh-CN" sz="1600" dirty="0"/>
              <a:t>• Different application/product constraints</a:t>
            </a:r>
          </a:p>
          <a:p>
            <a:endParaRPr kumimoji="1" lang="en-US" altLang="zh-CN" dirty="0"/>
          </a:p>
          <a:p>
            <a:r>
              <a:rPr kumimoji="1" lang="en-US" altLang="zh-CN" sz="1600" b="1" dirty="0"/>
              <a:t>Other Things important for (Asynchronous) Agentic RL Training: </a:t>
            </a:r>
          </a:p>
          <a:p>
            <a:pPr marL="342900" indent="-342900">
              <a:buAutoNum type="arabicPeriod"/>
            </a:pPr>
            <a:r>
              <a:rPr kumimoji="1" lang="en-US" altLang="zh-CN" sz="1600" b="1" dirty="0"/>
              <a:t>Efficiency: </a:t>
            </a:r>
          </a:p>
          <a:p>
            <a:r>
              <a:rPr kumimoji="1" lang="en-US" altLang="zh-CN" sz="1600" b="1" dirty="0"/>
              <a:t>      </a:t>
            </a:r>
            <a:r>
              <a:rPr kumimoji="1" lang="en-US" altLang="zh-CN" sz="1600" dirty="0"/>
              <a:t>- Encourage policy exploration</a:t>
            </a:r>
            <a:r>
              <a:rPr lang="en-US" altLang="zh-CN" sz="1600" dirty="0"/>
              <a:t>: [Agent Training often encounters entropy collapse </a:t>
            </a:r>
            <a:r>
              <a:rPr lang="en-US" altLang="zh-CN" sz="1600" b="1" dirty="0"/>
              <a:t>– </a:t>
            </a:r>
            <a:r>
              <a:rPr lang="en-US" altLang="zh-CN" sz="1600" b="1" dirty="0">
                <a:hlinkClick r:id="rId3"/>
              </a:rPr>
              <a:t>void turns </a:t>
            </a:r>
            <a:r>
              <a:rPr lang="en-US" altLang="zh-CN" sz="1600" b="1" dirty="0"/>
              <a:t>&amp; </a:t>
            </a:r>
            <a:r>
              <a:rPr lang="en-US" altLang="zh-CN" sz="1600" b="1" dirty="0">
                <a:hlinkClick r:id="rId4"/>
              </a:rPr>
              <a:t>echo trap</a:t>
            </a:r>
            <a:r>
              <a:rPr lang="en-US" altLang="zh-CN" sz="1600" b="1" dirty="0"/>
              <a:t>]</a:t>
            </a:r>
            <a:endParaRPr kumimoji="1" lang="en-US" altLang="zh-CN" sz="1600" dirty="0"/>
          </a:p>
          <a:p>
            <a:r>
              <a:rPr kumimoji="1" lang="en-US" altLang="zh-CN" sz="1600" dirty="0"/>
              <a:t>      - Control sampling cost</a:t>
            </a:r>
          </a:p>
          <a:p>
            <a:pPr marL="342900" indent="-342900">
              <a:buAutoNum type="arabicPeriod" startAt="2"/>
            </a:pPr>
            <a:r>
              <a:rPr kumimoji="1" lang="en-US" altLang="zh-CN" sz="1600" b="1" dirty="0"/>
              <a:t>Infra </a:t>
            </a:r>
            <a:r>
              <a:rPr kumimoji="1" lang="en-US" altLang="zh-CN" sz="1500" b="1" dirty="0"/>
              <a:t>for asynchronous Agen</a:t>
            </a:r>
            <a:r>
              <a:rPr kumimoji="1" lang="en-US" altLang="zh-CN" sz="1600" b="1" dirty="0"/>
              <a:t>tic RL</a:t>
            </a:r>
          </a:p>
          <a:p>
            <a:pPr marL="342900" indent="-342900">
              <a:buAutoNum type="arabicPeriod" startAt="2"/>
            </a:pPr>
            <a:r>
              <a:rPr kumimoji="1" lang="en-US" altLang="zh-CN" sz="1600" b="1" dirty="0"/>
              <a:t>Environment </a:t>
            </a:r>
          </a:p>
          <a:p>
            <a:pPr marL="342900" indent="-342900">
              <a:buAutoNum type="arabicPeriod" startAt="2"/>
            </a:pPr>
            <a:r>
              <a:rPr kumimoji="1" lang="en-US" altLang="zh-CN" sz="1600" b="1" dirty="0"/>
              <a:t>Evaluation under open-ended setting</a:t>
            </a:r>
          </a:p>
          <a:p>
            <a:pPr marL="342900" indent="-342900">
              <a:buAutoNum type="arabicPeriod" startAt="2"/>
            </a:pPr>
            <a:r>
              <a:rPr kumimoji="1" lang="en-US" altLang="zh-CN" sz="1600" b="1" dirty="0"/>
              <a:t>…</a:t>
            </a:r>
          </a:p>
        </p:txBody>
      </p:sp>
      <p:sp>
        <p:nvSpPr>
          <p:cNvPr id="4" name="日期占位符 3"/>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p:cNvSpPr>
            <a:spLocks noGrp="1"/>
          </p:cNvSpPr>
          <p:nvPr>
            <p:ph type="sldNum" sz="quarter" idx="12"/>
          </p:nvPr>
        </p:nvSpPr>
        <p:spPr/>
        <p:txBody>
          <a:bodyPr/>
          <a:lstStyle/>
          <a:p>
            <a:fld id="{24F01846-2DA3-FB44-9D89-19679C480714}" type="slidenum">
              <a:rPr kumimoji="1" lang="zh-CN" altLang="en-US" smtClean="0"/>
              <a:t>14</a:t>
            </a:fld>
            <a:endParaRPr kumimoji="1" lang="zh-CN" altLang="en-US" dirty="0"/>
          </a:p>
        </p:txBody>
      </p:sp>
      <p:pic>
        <p:nvPicPr>
          <p:cNvPr id="7" name="图片 6">
            <a:extLst>
              <a:ext uri="{FF2B5EF4-FFF2-40B4-BE49-F238E27FC236}">
                <a16:creationId xmlns:a16="http://schemas.microsoft.com/office/drawing/2014/main" id="{92578549-15B6-A857-E99D-5673E1D31EBB}"/>
              </a:ext>
            </a:extLst>
          </p:cNvPr>
          <p:cNvPicPr>
            <a:picLocks noChangeAspect="1"/>
          </p:cNvPicPr>
          <p:nvPr/>
        </p:nvPicPr>
        <p:blipFill>
          <a:blip r:embed="rId5"/>
          <a:stretch>
            <a:fillRect/>
          </a:stretch>
        </p:blipFill>
        <p:spPr>
          <a:xfrm>
            <a:off x="7762977" y="1292087"/>
            <a:ext cx="3412998" cy="30621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03374274-D676-4720-ADF0-3CECD42C39A0}"/>
              </a:ext>
            </a:extLst>
          </p:cNvPr>
          <p:cNvSpPr>
            <a:spLocks noGrp="1"/>
          </p:cNvSpPr>
          <p:nvPr>
            <p:ph type="dt" sz="half" idx="10"/>
          </p:nvPr>
        </p:nvSpPr>
        <p:spPr/>
        <p:txBody>
          <a:bodyPr/>
          <a:lstStyle/>
          <a:p>
            <a:fld id="{C13912DE-A447-AE4C-B564-2C8E1F35CEE4}" type="datetime1">
              <a:rPr kumimoji="1" lang="zh-CN" altLang="en-US" smtClean="0"/>
              <a:t>2026/3/17</a:t>
            </a:fld>
            <a:endParaRPr kumimoji="1" lang="zh-CN" altLang="en-US"/>
          </a:p>
        </p:txBody>
      </p:sp>
      <p:sp>
        <p:nvSpPr>
          <p:cNvPr id="5" name="灯片编号占位符 4">
            <a:extLst>
              <a:ext uri="{FF2B5EF4-FFF2-40B4-BE49-F238E27FC236}">
                <a16:creationId xmlns:a16="http://schemas.microsoft.com/office/drawing/2014/main" id="{AF8CA9A8-8961-B0BD-CB82-6CDE7D4217ED}"/>
              </a:ext>
            </a:extLst>
          </p:cNvPr>
          <p:cNvSpPr>
            <a:spLocks noGrp="1"/>
          </p:cNvSpPr>
          <p:nvPr>
            <p:ph type="sldNum" sz="quarter" idx="12"/>
          </p:nvPr>
        </p:nvSpPr>
        <p:spPr/>
        <p:txBody>
          <a:bodyPr/>
          <a:lstStyle/>
          <a:p>
            <a:fld id="{24F01846-2DA3-FB44-9D89-19679C480714}" type="slidenum">
              <a:rPr kumimoji="1" lang="zh-CN" altLang="en-US" smtClean="0"/>
              <a:t>15</a:t>
            </a:fld>
            <a:endParaRPr kumimoji="1" lang="zh-CN" altLang="en-US"/>
          </a:p>
        </p:txBody>
      </p:sp>
      <p:pic>
        <p:nvPicPr>
          <p:cNvPr id="6" name="图片 5">
            <a:extLst>
              <a:ext uri="{FF2B5EF4-FFF2-40B4-BE49-F238E27FC236}">
                <a16:creationId xmlns:a16="http://schemas.microsoft.com/office/drawing/2014/main" id="{2CF9BC06-1DE9-0720-FA3A-222646BA8782}"/>
              </a:ext>
            </a:extLst>
          </p:cNvPr>
          <p:cNvPicPr>
            <a:picLocks noChangeAspect="1"/>
          </p:cNvPicPr>
          <p:nvPr/>
        </p:nvPicPr>
        <p:blipFill>
          <a:blip r:embed="rId3"/>
          <a:stretch>
            <a:fillRect/>
          </a:stretch>
        </p:blipFill>
        <p:spPr>
          <a:xfrm>
            <a:off x="689113" y="1222254"/>
            <a:ext cx="10104795" cy="4865998"/>
          </a:xfrm>
          <a:prstGeom prst="rect">
            <a:avLst/>
          </a:prstGeom>
        </p:spPr>
      </p:pic>
      <p:sp>
        <p:nvSpPr>
          <p:cNvPr id="7" name="标题 1">
            <a:extLst>
              <a:ext uri="{FF2B5EF4-FFF2-40B4-BE49-F238E27FC236}">
                <a16:creationId xmlns:a16="http://schemas.microsoft.com/office/drawing/2014/main" id="{99EF25C3-5C6F-6AD8-F166-72F18E07FCB2}"/>
              </a:ext>
            </a:extLst>
          </p:cNvPr>
          <p:cNvSpPr txBox="1">
            <a:spLocks/>
          </p:cNvSpPr>
          <p:nvPr/>
        </p:nvSpPr>
        <p:spPr>
          <a:xfrm>
            <a:off x="251792" y="340552"/>
            <a:ext cx="8524460" cy="6136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2800" b="1" dirty="0">
                <a:solidFill>
                  <a:srgbClr val="FF0000"/>
                </a:solidFill>
                <a:latin typeface="Garamond" panose="02020404030301010803" pitchFamily="18" charset="0"/>
              </a:rPr>
              <a:t>RL: Asynchronous Infra</a:t>
            </a:r>
            <a:endParaRPr kumimoji="1" lang="zh-CN" altLang="en-US" sz="2800" b="1" dirty="0">
              <a:solidFill>
                <a:srgbClr val="FF0000"/>
              </a:solidFill>
              <a:latin typeface="Garamond" panose="02020404030301010803" pitchFamily="18" charset="0"/>
            </a:endParaRPr>
          </a:p>
        </p:txBody>
      </p:sp>
      <p:pic>
        <p:nvPicPr>
          <p:cNvPr id="8" name="图片 7">
            <a:extLst>
              <a:ext uri="{FF2B5EF4-FFF2-40B4-BE49-F238E27FC236}">
                <a16:creationId xmlns:a16="http://schemas.microsoft.com/office/drawing/2014/main" id="{9FF6C8DC-9856-636A-A55C-2189E3D2A4FA}"/>
              </a:ext>
            </a:extLst>
          </p:cNvPr>
          <p:cNvPicPr>
            <a:picLocks noChangeAspect="1"/>
          </p:cNvPicPr>
          <p:nvPr/>
        </p:nvPicPr>
        <p:blipFill>
          <a:blip r:embed="rId4"/>
          <a:stretch>
            <a:fillRect/>
          </a:stretch>
        </p:blipFill>
        <p:spPr>
          <a:xfrm>
            <a:off x="1470380" y="1121831"/>
            <a:ext cx="901700" cy="406400"/>
          </a:xfrm>
          <a:prstGeom prst="rect">
            <a:avLst/>
          </a:prstGeom>
        </p:spPr>
      </p:pic>
      <p:sp>
        <p:nvSpPr>
          <p:cNvPr id="9" name="文本框 8">
            <a:extLst>
              <a:ext uri="{FF2B5EF4-FFF2-40B4-BE49-F238E27FC236}">
                <a16:creationId xmlns:a16="http://schemas.microsoft.com/office/drawing/2014/main" id="{FECD9CC7-1D60-67E2-6899-EBF8D0F07839}"/>
              </a:ext>
            </a:extLst>
          </p:cNvPr>
          <p:cNvSpPr txBox="1"/>
          <p:nvPr/>
        </p:nvSpPr>
        <p:spPr>
          <a:xfrm>
            <a:off x="437323" y="1121831"/>
            <a:ext cx="6649278" cy="1702967"/>
          </a:xfrm>
          <a:prstGeom prst="rect">
            <a:avLst/>
          </a:prstGeom>
          <a:noFill/>
        </p:spPr>
        <p:txBody>
          <a:bodyPr wrap="square" rtlCol="0">
            <a:spAutoFit/>
          </a:bodyPr>
          <a:lstStyle/>
          <a:p>
            <a:pPr>
              <a:lnSpc>
                <a:spcPct val="150000"/>
              </a:lnSpc>
            </a:pPr>
            <a:r>
              <a:rPr kumimoji="1" lang="en-US" altLang="zh-CN" dirty="0"/>
              <a:t>Verl, Slime, </a:t>
            </a:r>
            <a:r>
              <a:rPr kumimoji="1" lang="en-US" altLang="zh-CN" dirty="0" err="1"/>
              <a:t>AReal</a:t>
            </a:r>
            <a:r>
              <a:rPr kumimoji="1" lang="en-US" altLang="zh-CN" dirty="0"/>
              <a:t>, Seer…</a:t>
            </a:r>
          </a:p>
          <a:p>
            <a:pPr marL="285750" indent="-285750">
              <a:lnSpc>
                <a:spcPct val="150000"/>
              </a:lnSpc>
              <a:buFontTx/>
              <a:buChar char="-"/>
            </a:pPr>
            <a:r>
              <a:rPr kumimoji="1" lang="en-US" altLang="zh-CN" dirty="0"/>
              <a:t>Scale environments</a:t>
            </a:r>
          </a:p>
          <a:p>
            <a:pPr marL="285750" indent="-285750">
              <a:lnSpc>
                <a:spcPct val="150000"/>
              </a:lnSpc>
              <a:buFontTx/>
              <a:buChar char="-"/>
            </a:pPr>
            <a:r>
              <a:rPr kumimoji="1" lang="en-US" altLang="zh-CN" dirty="0"/>
              <a:t>Long tails tasks -&gt; unpredictable &amp;</a:t>
            </a:r>
            <a:r>
              <a:rPr kumimoji="1" lang="zh-CN" altLang="en-US" dirty="0"/>
              <a:t> </a:t>
            </a:r>
            <a:r>
              <a:rPr kumimoji="1" lang="en-US" altLang="zh-CN" dirty="0"/>
              <a:t>heterogeneous</a:t>
            </a:r>
          </a:p>
          <a:p>
            <a:pPr marL="285750" indent="-285750">
              <a:lnSpc>
                <a:spcPct val="150000"/>
              </a:lnSpc>
              <a:buFontTx/>
              <a:buChar char="-"/>
            </a:pPr>
            <a:r>
              <a:rPr kumimoji="1" lang="en-US" altLang="zh-CN" dirty="0"/>
              <a:t>… </a:t>
            </a:r>
            <a:endParaRPr kumimoji="1" lang="zh-CN" altLang="en-US" dirty="0"/>
          </a:p>
        </p:txBody>
      </p:sp>
    </p:spTree>
    <p:extLst>
      <p:ext uri="{BB962C8B-B14F-4D97-AF65-F5344CB8AC3E}">
        <p14:creationId xmlns:p14="http://schemas.microsoft.com/office/powerpoint/2010/main" val="3546666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4D870-71BF-1ED9-0F37-048D35275D9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2C66B68-0267-1B9E-6490-43653C15A467}"/>
              </a:ext>
            </a:extLst>
          </p:cNvPr>
          <p:cNvSpPr>
            <a:spLocks noGrp="1"/>
          </p:cNvSpPr>
          <p:nvPr>
            <p:ph type="ctrTitle"/>
          </p:nvPr>
        </p:nvSpPr>
        <p:spPr/>
        <p:txBody>
          <a:bodyPr>
            <a:normAutofit/>
          </a:bodyPr>
          <a:lstStyle/>
          <a:p>
            <a:r>
              <a:rPr kumimoji="1" lang="en-US" altLang="zh-CN" dirty="0"/>
              <a:t>Outline</a:t>
            </a:r>
            <a:endParaRPr kumimoji="1" lang="zh-CN" altLang="en-US" dirty="0"/>
          </a:p>
        </p:txBody>
      </p:sp>
      <p:sp>
        <p:nvSpPr>
          <p:cNvPr id="3" name="副标题 2">
            <a:extLst>
              <a:ext uri="{FF2B5EF4-FFF2-40B4-BE49-F238E27FC236}">
                <a16:creationId xmlns:a16="http://schemas.microsoft.com/office/drawing/2014/main" id="{9982E515-19A1-C9B0-C87C-DCFA1409B7C7}"/>
              </a:ext>
            </a:extLst>
          </p:cNvPr>
          <p:cNvSpPr>
            <a:spLocks noGrp="1"/>
          </p:cNvSpPr>
          <p:nvPr>
            <p:ph type="subTitle" idx="1"/>
          </p:nvPr>
        </p:nvSpPr>
        <p:spPr>
          <a:xfrm>
            <a:off x="253448" y="1383527"/>
            <a:ext cx="11575773" cy="4750904"/>
          </a:xfrm>
        </p:spPr>
        <p:txBody>
          <a:bodyPr/>
          <a:lstStyle/>
          <a:p>
            <a:endParaRPr kumimoji="1" lang="en-US" altLang="zh-CN" dirty="0"/>
          </a:p>
          <a:p>
            <a:pPr marL="457200" indent="-457200">
              <a:buAutoNum type="arabicPeriod"/>
            </a:pPr>
            <a:r>
              <a:rPr kumimoji="1" lang="en-US" altLang="zh-CN" sz="2800" dirty="0">
                <a:solidFill>
                  <a:schemeClr val="bg2"/>
                </a:solidFill>
                <a:latin typeface="Garamond" panose="02020404030301010803" pitchFamily="18" charset="0"/>
              </a:rPr>
              <a:t>Overview</a:t>
            </a:r>
          </a:p>
          <a:p>
            <a:pPr marL="457200" indent="-457200">
              <a:buAutoNum type="arabicPeriod"/>
            </a:pPr>
            <a:endParaRPr kumimoji="1" lang="en-US" altLang="zh-CN" sz="2800" dirty="0">
              <a:latin typeface="Garamond" panose="02020404030301010803" pitchFamily="18" charset="0"/>
            </a:endParaRPr>
          </a:p>
          <a:p>
            <a:pPr marL="457200" indent="-457200">
              <a:buAutoNum type="arabicPeriod"/>
            </a:pPr>
            <a:r>
              <a:rPr kumimoji="1" lang="en-US" altLang="zh-CN" sz="2800" dirty="0">
                <a:solidFill>
                  <a:schemeClr val="bg2"/>
                </a:solidFill>
                <a:latin typeface="Garamond" panose="02020404030301010803" pitchFamily="18" charset="0"/>
              </a:rPr>
              <a:t>Post-training: How can we build a reliable</a:t>
            </a:r>
            <a:r>
              <a:rPr kumimoji="1" lang="zh-CN" altLang="en-US" sz="2800" dirty="0">
                <a:solidFill>
                  <a:schemeClr val="bg2"/>
                </a:solidFill>
                <a:latin typeface="Garamond" panose="02020404030301010803" pitchFamily="18" charset="0"/>
              </a:rPr>
              <a:t> </a:t>
            </a:r>
            <a:r>
              <a:rPr kumimoji="1" lang="en-US" altLang="zh-CN" sz="2800" dirty="0">
                <a:solidFill>
                  <a:schemeClr val="bg2"/>
                </a:solidFill>
                <a:latin typeface="Garamond" panose="02020404030301010803" pitchFamily="18" charset="0"/>
              </a:rPr>
              <a:t>LLM Agent</a:t>
            </a:r>
          </a:p>
          <a:p>
            <a:pPr marL="457200" indent="-457200">
              <a:buAutoNum type="arabicPeriod"/>
            </a:pPr>
            <a:endParaRPr kumimoji="1" lang="en-US" altLang="zh-CN" sz="2800" dirty="0">
              <a:solidFill>
                <a:schemeClr val="bg2">
                  <a:lumMod val="90000"/>
                </a:schemeClr>
              </a:solidFill>
              <a:latin typeface="Garamond" panose="02020404030301010803" pitchFamily="18" charset="0"/>
            </a:endParaRPr>
          </a:p>
          <a:p>
            <a:pPr marL="457200" indent="-457200">
              <a:buAutoNum type="arabicPeriod"/>
            </a:pPr>
            <a:r>
              <a:rPr kumimoji="1" lang="en-US" altLang="zh-CN" sz="2800" dirty="0">
                <a:latin typeface="Garamond" panose="02020404030301010803" pitchFamily="18" charset="0"/>
              </a:rPr>
              <a:t>Self-Evolving: How should we continue to raise the ceiling of LLM Agent</a:t>
            </a:r>
          </a:p>
          <a:p>
            <a:pPr marL="457200" indent="-457200">
              <a:buFont typeface="Arial" panose="020B0604020202020204" pitchFamily="34" charset="0"/>
              <a:buChar char="•"/>
            </a:pPr>
            <a:r>
              <a:rPr kumimoji="1" lang="en-US" altLang="zh-CN" sz="2000" dirty="0">
                <a:latin typeface="Garamond" panose="02020404030301010803" pitchFamily="18" charset="0"/>
              </a:rPr>
              <a:t>Why Self-evolving &amp; What is Self-evolving</a:t>
            </a:r>
          </a:p>
          <a:p>
            <a:pPr marL="457200" indent="-457200">
              <a:buFont typeface="Arial" panose="020B0604020202020204" pitchFamily="34" charset="0"/>
              <a:buChar char="•"/>
            </a:pPr>
            <a:r>
              <a:rPr kumimoji="1" lang="en-US" altLang="zh-CN" sz="2000" dirty="0">
                <a:latin typeface="Garamond" panose="02020404030301010803" pitchFamily="18" charset="0"/>
              </a:rPr>
              <a:t>Two perspectives</a:t>
            </a:r>
            <a:r>
              <a:rPr kumimoji="1" lang="zh-CN" altLang="en-US" sz="2000" dirty="0">
                <a:latin typeface="Garamond" panose="02020404030301010803" pitchFamily="18" charset="0"/>
              </a:rPr>
              <a:t> </a:t>
            </a:r>
            <a:r>
              <a:rPr kumimoji="1" lang="en-US" altLang="zh-CN" sz="2000" dirty="0">
                <a:latin typeface="Garamond" panose="02020404030301010803" pitchFamily="18" charset="0"/>
              </a:rPr>
              <a:t>and their developments</a:t>
            </a:r>
          </a:p>
          <a:p>
            <a:pPr marL="457200" indent="-457200">
              <a:buAutoNum type="arabicPeriod"/>
            </a:pPr>
            <a:endParaRPr kumimoji="1" lang="en-US" altLang="zh-CN" sz="2800" dirty="0">
              <a:latin typeface="Garamond" panose="02020404030301010803" pitchFamily="18" charset="0"/>
            </a:endParaRPr>
          </a:p>
        </p:txBody>
      </p:sp>
      <p:sp>
        <p:nvSpPr>
          <p:cNvPr id="4" name="日期占位符 3">
            <a:extLst>
              <a:ext uri="{FF2B5EF4-FFF2-40B4-BE49-F238E27FC236}">
                <a16:creationId xmlns:a16="http://schemas.microsoft.com/office/drawing/2014/main" id="{5841ED8D-F4D1-F2D6-D9FF-8B5F94A7CAAC}"/>
              </a:ext>
            </a:extLst>
          </p:cNvPr>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a:extLst>
              <a:ext uri="{FF2B5EF4-FFF2-40B4-BE49-F238E27FC236}">
                <a16:creationId xmlns:a16="http://schemas.microsoft.com/office/drawing/2014/main" id="{BD8BA520-15EC-6771-6279-808C993C18ED}"/>
              </a:ext>
            </a:extLst>
          </p:cNvPr>
          <p:cNvSpPr>
            <a:spLocks noGrp="1"/>
          </p:cNvSpPr>
          <p:nvPr>
            <p:ph type="sldNum" sz="quarter" idx="12"/>
          </p:nvPr>
        </p:nvSpPr>
        <p:spPr/>
        <p:txBody>
          <a:bodyPr/>
          <a:lstStyle/>
          <a:p>
            <a:fld id="{24F01846-2DA3-FB44-9D89-19679C480714}" type="slidenum">
              <a:rPr kumimoji="1" lang="zh-CN" altLang="en-US" smtClean="0"/>
              <a:t>16</a:t>
            </a:fld>
            <a:endParaRPr kumimoji="1" lang="zh-CN" altLang="en-US" dirty="0"/>
          </a:p>
        </p:txBody>
      </p:sp>
    </p:spTree>
    <p:extLst>
      <p:ext uri="{BB962C8B-B14F-4D97-AF65-F5344CB8AC3E}">
        <p14:creationId xmlns:p14="http://schemas.microsoft.com/office/powerpoint/2010/main" val="3374080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kumimoji="1" lang="en-US" altLang="zh-CN" dirty="0"/>
              <a:t>Why Self-evolving AI</a:t>
            </a:r>
            <a:endParaRPr kumimoji="1" lang="zh-CN" altLang="en-US" dirty="0"/>
          </a:p>
        </p:txBody>
      </p:sp>
      <p:sp>
        <p:nvSpPr>
          <p:cNvPr id="3" name="副标题 2"/>
          <p:cNvSpPr>
            <a:spLocks noGrp="1"/>
          </p:cNvSpPr>
          <p:nvPr>
            <p:ph type="subTitle" idx="1"/>
          </p:nvPr>
        </p:nvSpPr>
        <p:spPr/>
        <p:txBody>
          <a:bodyPr/>
          <a:lstStyle/>
          <a:p>
            <a:r>
              <a:rPr kumimoji="1" lang="en-US" altLang="zh-CN" sz="2000" dirty="0"/>
              <a:t>1. Scaling under finite human data</a:t>
            </a:r>
          </a:p>
          <a:p>
            <a:endParaRPr kumimoji="1" lang="zh-CN" altLang="en-US" dirty="0"/>
          </a:p>
        </p:txBody>
      </p:sp>
      <p:sp>
        <p:nvSpPr>
          <p:cNvPr id="4" name="日期占位符 3"/>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p:cNvSpPr>
            <a:spLocks noGrp="1"/>
          </p:cNvSpPr>
          <p:nvPr>
            <p:ph type="sldNum" sz="quarter" idx="12"/>
          </p:nvPr>
        </p:nvSpPr>
        <p:spPr/>
        <p:txBody>
          <a:bodyPr/>
          <a:lstStyle/>
          <a:p>
            <a:fld id="{24F01846-2DA3-FB44-9D89-19679C480714}" type="slidenum">
              <a:rPr kumimoji="1" lang="zh-CN" altLang="en-US" smtClean="0"/>
              <a:t>17</a:t>
            </a:fld>
            <a:endParaRPr kumimoji="1" lang="zh-CN" altLang="en-US" dirty="0"/>
          </a:p>
        </p:txBody>
      </p:sp>
      <p:pic>
        <p:nvPicPr>
          <p:cNvPr id="6" name="Picture 2">
            <a:extLst>
              <a:ext uri="{FF2B5EF4-FFF2-40B4-BE49-F238E27FC236}">
                <a16:creationId xmlns:a16="http://schemas.microsoft.com/office/drawing/2014/main" id="{4C8DF6E8-4A1E-F19E-1C5F-D3BAC2759C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9837" y="1780278"/>
            <a:ext cx="8629154" cy="4855796"/>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D609C947-7EAB-0890-F626-8E070F668E23}"/>
              </a:ext>
            </a:extLst>
          </p:cNvPr>
          <p:cNvSpPr txBox="1"/>
          <p:nvPr/>
        </p:nvSpPr>
        <p:spPr>
          <a:xfrm>
            <a:off x="6135955" y="1267515"/>
            <a:ext cx="6537960" cy="738664"/>
          </a:xfrm>
          <a:prstGeom prst="rect">
            <a:avLst/>
          </a:prstGeom>
          <a:noFill/>
        </p:spPr>
        <p:txBody>
          <a:bodyPr wrap="square" rtlCol="0">
            <a:spAutoFit/>
          </a:bodyPr>
          <a:lstStyle/>
          <a:p>
            <a:pPr algn="ctr"/>
            <a:r>
              <a:rPr kumimoji="1" lang="en-US" altLang="zh-CN" sz="1200" dirty="0">
                <a:solidFill>
                  <a:schemeClr val="bg2">
                    <a:lumMod val="75000"/>
                  </a:schemeClr>
                </a:solidFill>
              </a:rPr>
              <a:t>Will we run out of data? Limits of LLM scaling based on human-generated data</a:t>
            </a:r>
          </a:p>
          <a:p>
            <a:pPr algn="ctr"/>
            <a:r>
              <a:rPr kumimoji="1" lang="en-US" altLang="zh-CN" sz="1200" dirty="0">
                <a:solidFill>
                  <a:schemeClr val="bg2">
                    <a:lumMod val="75000"/>
                  </a:schemeClr>
                </a:solidFill>
              </a:rPr>
              <a:t>[Epoch-AI, 2024]</a:t>
            </a:r>
          </a:p>
          <a:p>
            <a:endParaRPr kumimoji="1"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kumimoji="1" lang="en-US" altLang="zh-CN" dirty="0"/>
              <a:t>Why Self-evolving AI</a:t>
            </a:r>
            <a:endParaRPr kumimoji="1" lang="zh-CN" altLang="en-US" dirty="0"/>
          </a:p>
        </p:txBody>
      </p:sp>
      <p:sp>
        <p:nvSpPr>
          <p:cNvPr id="3" name="副标题 2"/>
          <p:cNvSpPr>
            <a:spLocks noGrp="1"/>
          </p:cNvSpPr>
          <p:nvPr>
            <p:ph type="subTitle" idx="1"/>
          </p:nvPr>
        </p:nvSpPr>
        <p:spPr>
          <a:xfrm>
            <a:off x="251792" y="1272209"/>
            <a:ext cx="11575773" cy="4750904"/>
          </a:xfrm>
        </p:spPr>
        <p:txBody>
          <a:bodyPr>
            <a:normAutofit/>
          </a:bodyPr>
          <a:lstStyle/>
          <a:p>
            <a:r>
              <a:rPr kumimoji="1" lang="en-US" altLang="zh-CN" sz="2000" dirty="0"/>
              <a:t>2.  Static weights after human creation</a:t>
            </a:r>
          </a:p>
          <a:p>
            <a:pPr marL="457200" indent="-457200">
              <a:buAutoNum type="arabicPeriod"/>
            </a:pPr>
            <a:endParaRPr kumimoji="1" lang="en-US" altLang="zh-CN" sz="2000" dirty="0"/>
          </a:p>
          <a:p>
            <a:pPr marL="457200" indent="-457200">
              <a:buAutoNum type="arabicPeriod"/>
            </a:pPr>
            <a:endParaRPr kumimoji="1" lang="en-US" altLang="zh-CN" sz="2000" dirty="0"/>
          </a:p>
          <a:p>
            <a:pPr marL="457200" indent="-457200">
              <a:buAutoNum type="arabicPeriod"/>
            </a:pPr>
            <a:endParaRPr kumimoji="1" lang="en-US" altLang="zh-CN" sz="2000" dirty="0"/>
          </a:p>
          <a:p>
            <a:endParaRPr kumimoji="1" lang="en-US" altLang="zh-CN" sz="2000" dirty="0"/>
          </a:p>
          <a:p>
            <a:r>
              <a:rPr kumimoji="1" lang="en-US" altLang="zh-CN" sz="2000" dirty="0"/>
              <a:t>3. Limited by algorithms human can find</a:t>
            </a:r>
            <a:endParaRPr kumimoji="1" lang="zh-CN" altLang="en-US" sz="2000" dirty="0"/>
          </a:p>
        </p:txBody>
      </p:sp>
      <p:sp>
        <p:nvSpPr>
          <p:cNvPr id="4" name="日期占位符 3"/>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p:cNvSpPr>
            <a:spLocks noGrp="1"/>
          </p:cNvSpPr>
          <p:nvPr>
            <p:ph type="sldNum" sz="quarter" idx="12"/>
          </p:nvPr>
        </p:nvSpPr>
        <p:spPr/>
        <p:txBody>
          <a:bodyPr/>
          <a:lstStyle/>
          <a:p>
            <a:fld id="{24F01846-2DA3-FB44-9D89-19679C480714}" type="slidenum">
              <a:rPr kumimoji="1" lang="zh-CN" altLang="en-US" smtClean="0"/>
              <a:t>18</a:t>
            </a:fld>
            <a:endParaRPr kumimoji="1" lang="zh-CN" altLang="en-US" dirty="0"/>
          </a:p>
        </p:txBody>
      </p:sp>
      <p:pic>
        <p:nvPicPr>
          <p:cNvPr id="8" name="图片 7">
            <a:extLst>
              <a:ext uri="{FF2B5EF4-FFF2-40B4-BE49-F238E27FC236}">
                <a16:creationId xmlns:a16="http://schemas.microsoft.com/office/drawing/2014/main" id="{9543A46B-629B-1894-D8C9-19AA10B5AA0A}"/>
              </a:ext>
            </a:extLst>
          </p:cNvPr>
          <p:cNvPicPr>
            <a:picLocks noChangeAspect="1"/>
          </p:cNvPicPr>
          <p:nvPr/>
        </p:nvPicPr>
        <p:blipFill>
          <a:blip r:embed="rId3"/>
          <a:stretch>
            <a:fillRect/>
          </a:stretch>
        </p:blipFill>
        <p:spPr>
          <a:xfrm>
            <a:off x="2319526" y="1544701"/>
            <a:ext cx="6632449" cy="1354269"/>
          </a:xfrm>
          <a:prstGeom prst="rect">
            <a:avLst/>
          </a:prstGeom>
        </p:spPr>
      </p:pic>
      <p:pic>
        <p:nvPicPr>
          <p:cNvPr id="11" name="图片 10">
            <a:extLst>
              <a:ext uri="{FF2B5EF4-FFF2-40B4-BE49-F238E27FC236}">
                <a16:creationId xmlns:a16="http://schemas.microsoft.com/office/drawing/2014/main" id="{B54634EE-A714-2581-1CF6-0763D4B72D6E}"/>
              </a:ext>
            </a:extLst>
          </p:cNvPr>
          <p:cNvPicPr>
            <a:picLocks noChangeAspect="1"/>
          </p:cNvPicPr>
          <p:nvPr/>
        </p:nvPicPr>
        <p:blipFill>
          <a:blip r:embed="rId4"/>
          <a:stretch>
            <a:fillRect/>
          </a:stretch>
        </p:blipFill>
        <p:spPr>
          <a:xfrm>
            <a:off x="2297700" y="3735130"/>
            <a:ext cx="6654275" cy="297335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p:cNvSpPr>
            <a:spLocks noGrp="1"/>
          </p:cNvSpPr>
          <p:nvPr>
            <p:ph type="sldNum" sz="quarter" idx="12"/>
          </p:nvPr>
        </p:nvSpPr>
        <p:spPr/>
        <p:txBody>
          <a:bodyPr/>
          <a:lstStyle/>
          <a:p>
            <a:fld id="{24F01846-2DA3-FB44-9D89-19679C480714}" type="slidenum">
              <a:rPr kumimoji="1" lang="zh-CN" altLang="en-US" smtClean="0"/>
              <a:t>19</a:t>
            </a:fld>
            <a:endParaRPr kumimoji="1" lang="zh-CN" altLang="en-US" dirty="0"/>
          </a:p>
        </p:txBody>
      </p:sp>
      <p:sp>
        <p:nvSpPr>
          <p:cNvPr id="7" name="文本框 6">
            <a:extLst>
              <a:ext uri="{FF2B5EF4-FFF2-40B4-BE49-F238E27FC236}">
                <a16:creationId xmlns:a16="http://schemas.microsoft.com/office/drawing/2014/main" id="{2E6398F7-3BEB-6B05-198C-AEF76464AB07}"/>
              </a:ext>
            </a:extLst>
          </p:cNvPr>
          <p:cNvSpPr txBox="1"/>
          <p:nvPr/>
        </p:nvSpPr>
        <p:spPr>
          <a:xfrm>
            <a:off x="1998134" y="2075092"/>
            <a:ext cx="8524460" cy="1939348"/>
          </a:xfrm>
          <a:prstGeom prst="rect">
            <a:avLst/>
          </a:prstGeom>
          <a:noFill/>
        </p:spPr>
        <p:txBody>
          <a:bodyPr wrap="square">
            <a:spAutoFit/>
          </a:bodyPr>
          <a:lstStyle/>
          <a:p>
            <a:pPr>
              <a:lnSpc>
                <a:spcPct val="170000"/>
              </a:lnSpc>
            </a:pPr>
            <a:r>
              <a:rPr lang="en-US" altLang="zh-CN" sz="2400" i="1" dirty="0"/>
              <a:t>A continually self-evolving AI is one that, once created, can autonomously and continually improve itself better than its human creators can improve it.</a:t>
            </a:r>
            <a:endParaRPr lang="en-US" altLang="zh-CN" sz="2400" dirty="0"/>
          </a:p>
        </p:txBody>
      </p:sp>
      <p:sp>
        <p:nvSpPr>
          <p:cNvPr id="8" name="标题 1">
            <a:extLst>
              <a:ext uri="{FF2B5EF4-FFF2-40B4-BE49-F238E27FC236}">
                <a16:creationId xmlns:a16="http://schemas.microsoft.com/office/drawing/2014/main" id="{315EF2B2-FEC1-7D98-8C47-84DC6D34CE8C}"/>
              </a:ext>
            </a:extLst>
          </p:cNvPr>
          <p:cNvSpPr>
            <a:spLocks noGrp="1"/>
          </p:cNvSpPr>
          <p:nvPr>
            <p:ph type="ctrTitle"/>
          </p:nvPr>
        </p:nvSpPr>
        <p:spPr>
          <a:xfrm>
            <a:off x="251792" y="340552"/>
            <a:ext cx="8524460" cy="613605"/>
          </a:xfrm>
        </p:spPr>
        <p:txBody>
          <a:bodyPr>
            <a:normAutofit/>
          </a:bodyPr>
          <a:lstStyle/>
          <a:p>
            <a:r>
              <a:rPr kumimoji="1" lang="en-US" altLang="zh-CN" dirty="0"/>
              <a:t>What is Self-evolving AI - Definition</a:t>
            </a:r>
            <a:endParaRPr kumimoji="1"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kumimoji="1" lang="en-US" altLang="zh-CN" dirty="0"/>
              <a:t>What is Self-evolving AI - Characteristics</a:t>
            </a:r>
            <a:endParaRPr kumimoji="1" lang="zh-CN" altLang="en-US" dirty="0"/>
          </a:p>
        </p:txBody>
      </p:sp>
      <p:sp>
        <p:nvSpPr>
          <p:cNvPr id="3" name="副标题 2"/>
          <p:cNvSpPr>
            <a:spLocks noGrp="1"/>
          </p:cNvSpPr>
          <p:nvPr>
            <p:ph type="subTitle" idx="1"/>
          </p:nvPr>
        </p:nvSpPr>
        <p:spPr>
          <a:xfrm>
            <a:off x="251792" y="1287393"/>
            <a:ext cx="11575773" cy="4750904"/>
          </a:xfrm>
        </p:spPr>
        <p:txBody>
          <a:bodyPr>
            <a:normAutofit fontScale="92500"/>
          </a:bodyPr>
          <a:lstStyle/>
          <a:p>
            <a:pPr>
              <a:lnSpc>
                <a:spcPct val="160000"/>
              </a:lnSpc>
            </a:pPr>
            <a:r>
              <a:rPr kumimoji="1" lang="en-US" altLang="zh-CN" dirty="0"/>
              <a:t>Three characteristics of self-evolving AI under </a:t>
            </a:r>
            <a:r>
              <a:rPr kumimoji="1" lang="en-US" altLang="zh-CN" dirty="0">
                <a:solidFill>
                  <a:schemeClr val="accent2"/>
                </a:solidFill>
              </a:rPr>
              <a:t>parametric</a:t>
            </a:r>
            <a:r>
              <a:rPr kumimoji="1" lang="en-US" altLang="zh-CN" dirty="0"/>
              <a:t> and </a:t>
            </a:r>
            <a:r>
              <a:rPr kumimoji="1" lang="en-US" altLang="zh-CN" dirty="0">
                <a:solidFill>
                  <a:schemeClr val="accent2"/>
                </a:solidFill>
              </a:rPr>
              <a:t>pretrained assumption</a:t>
            </a:r>
            <a:r>
              <a:rPr kumimoji="1" lang="en-US" altLang="zh-CN" dirty="0"/>
              <a:t>:</a:t>
            </a:r>
          </a:p>
          <a:p>
            <a:pPr marL="457200" indent="-457200">
              <a:lnSpc>
                <a:spcPct val="160000"/>
              </a:lnSpc>
              <a:buAutoNum type="arabicPeriod"/>
            </a:pPr>
            <a:r>
              <a:rPr lang="en-US" altLang="zh-CN" dirty="0"/>
              <a:t>After the initial pretraining phase, the system continues to acquire </a:t>
            </a:r>
            <a:r>
              <a:rPr lang="en-US" altLang="zh-CN" dirty="0">
                <a:solidFill>
                  <a:srgbClr val="FF0000"/>
                </a:solidFill>
              </a:rPr>
              <a:t>new knowledge </a:t>
            </a:r>
            <a:r>
              <a:rPr lang="en-US" altLang="zh-CN" dirty="0"/>
              <a:t>into its </a:t>
            </a:r>
            <a:r>
              <a:rPr lang="en-US" altLang="zh-CN" u="sng" dirty="0"/>
              <a:t>parametric weights</a:t>
            </a:r>
            <a:r>
              <a:rPr lang="en-US" altLang="zh-CN" dirty="0"/>
              <a:t> </a:t>
            </a:r>
            <a:r>
              <a:rPr lang="en-US" altLang="zh-CN" u="sng" dirty="0"/>
              <a:t>without catastrophically forgetting </a:t>
            </a:r>
            <a:r>
              <a:rPr lang="en-US" altLang="zh-CN" dirty="0"/>
              <a:t>existing capabilities.</a:t>
            </a:r>
          </a:p>
          <a:p>
            <a:pPr marL="457200" indent="-457200">
              <a:lnSpc>
                <a:spcPct val="160000"/>
              </a:lnSpc>
              <a:buAutoNum type="arabicPeriod"/>
            </a:pPr>
            <a:r>
              <a:rPr lang="en-US" altLang="zh-CN" dirty="0"/>
              <a:t>The system generates its own </a:t>
            </a:r>
            <a:r>
              <a:rPr lang="en-US" altLang="zh-CN" dirty="0" err="1">
                <a:solidFill>
                  <a:schemeClr val="bg2">
                    <a:lumMod val="50000"/>
                  </a:schemeClr>
                </a:solidFill>
                <a:latin typeface="Consolas" panose="020B0609020204030204" pitchFamily="49" charset="0"/>
                <a:cs typeface="Consolas" panose="020B0609020204030204" pitchFamily="49" charset="0"/>
              </a:rPr>
              <a:t>training_signal</a:t>
            </a:r>
            <a:r>
              <a:rPr lang="en-US" altLang="zh-CN" dirty="0"/>
              <a:t>, and learning from these self-generated signals yields improvement beyond what human-generated signals provide.</a:t>
            </a:r>
          </a:p>
          <a:p>
            <a:pPr marL="457200" indent="-457200">
              <a:lnSpc>
                <a:spcPct val="160000"/>
              </a:lnSpc>
              <a:buAutoNum type="arabicPeriod"/>
            </a:pPr>
            <a:r>
              <a:rPr lang="en-US" altLang="zh-CN" dirty="0"/>
              <a:t>The system can autonomously design what </a:t>
            </a:r>
            <a:r>
              <a:rPr lang="en-US" altLang="zh-CN" dirty="0" err="1">
                <a:solidFill>
                  <a:schemeClr val="bg2">
                    <a:lumMod val="50000"/>
                  </a:schemeClr>
                </a:solidFill>
                <a:latin typeface="Consolas" panose="020B0609020204030204" pitchFamily="49" charset="0"/>
                <a:cs typeface="Consolas" panose="020B0609020204030204" pitchFamily="49" charset="0"/>
              </a:rPr>
              <a:t>learning_algorithm</a:t>
            </a:r>
            <a:r>
              <a:rPr lang="en-US" altLang="zh-CN" dirty="0">
                <a:solidFill>
                  <a:schemeClr val="bg2">
                    <a:lumMod val="50000"/>
                  </a:schemeClr>
                </a:solidFill>
                <a:latin typeface="Consolas" panose="020B0609020204030204" pitchFamily="49" charset="0"/>
                <a:cs typeface="Consolas" panose="020B0609020204030204" pitchFamily="49" charset="0"/>
              </a:rPr>
              <a:t> </a:t>
            </a:r>
            <a:r>
              <a:rPr lang="en-US" altLang="zh-CN" dirty="0"/>
              <a:t>to use to learn from its training signals.</a:t>
            </a:r>
          </a:p>
          <a:p>
            <a:pPr marL="457200" indent="-457200">
              <a:buAutoNum type="arabicPeriod"/>
            </a:pPr>
            <a:endParaRPr lang="en-US" altLang="zh-CN" dirty="0"/>
          </a:p>
          <a:p>
            <a:endParaRPr kumimoji="1" lang="en-US" altLang="zh-CN" dirty="0"/>
          </a:p>
        </p:txBody>
      </p:sp>
      <p:sp>
        <p:nvSpPr>
          <p:cNvPr id="4" name="日期占位符 3"/>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p:cNvSpPr>
            <a:spLocks noGrp="1"/>
          </p:cNvSpPr>
          <p:nvPr>
            <p:ph type="sldNum" sz="quarter" idx="12"/>
          </p:nvPr>
        </p:nvSpPr>
        <p:spPr/>
        <p:txBody>
          <a:bodyPr/>
          <a:lstStyle/>
          <a:p>
            <a:fld id="{24F01846-2DA3-FB44-9D89-19679C480714}" type="slidenum">
              <a:rPr kumimoji="1" lang="zh-CN" altLang="en-US" smtClean="0"/>
              <a:t>20</a:t>
            </a:fld>
            <a:endParaRPr kumimoji="1"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837B9-9EE1-5517-1A2E-E396AFF711E8}"/>
            </a:ext>
          </a:extLst>
        </p:cNvPr>
        <p:cNvGrpSpPr/>
        <p:nvPr/>
      </p:nvGrpSpPr>
      <p:grpSpPr>
        <a:xfrm>
          <a:off x="0" y="0"/>
          <a:ext cx="0" cy="0"/>
          <a:chOff x="0" y="0"/>
          <a:chExt cx="0" cy="0"/>
        </a:xfrm>
      </p:grpSpPr>
      <p:sp>
        <p:nvSpPr>
          <p:cNvPr id="4" name="日期占位符 3">
            <a:extLst>
              <a:ext uri="{FF2B5EF4-FFF2-40B4-BE49-F238E27FC236}">
                <a16:creationId xmlns:a16="http://schemas.microsoft.com/office/drawing/2014/main" id="{55F5FAED-9016-4844-4558-856D084A7640}"/>
              </a:ext>
            </a:extLst>
          </p:cNvPr>
          <p:cNvSpPr>
            <a:spLocks noGrp="1"/>
          </p:cNvSpPr>
          <p:nvPr>
            <p:ph type="dt" sz="half" idx="10"/>
          </p:nvPr>
        </p:nvSpPr>
        <p:spPr/>
        <p:txBody>
          <a:bodyPr/>
          <a:lstStyle/>
          <a:p>
            <a:fld id="{C13912DE-A447-AE4C-B564-2C8E1F35CEE4}" type="datetime1">
              <a:rPr kumimoji="1" lang="zh-CN" altLang="en-US" smtClean="0"/>
              <a:t>2026/3/17</a:t>
            </a:fld>
            <a:endParaRPr kumimoji="1" lang="zh-CN" altLang="en-US"/>
          </a:p>
        </p:txBody>
      </p:sp>
      <p:sp>
        <p:nvSpPr>
          <p:cNvPr id="5" name="灯片编号占位符 4">
            <a:extLst>
              <a:ext uri="{FF2B5EF4-FFF2-40B4-BE49-F238E27FC236}">
                <a16:creationId xmlns:a16="http://schemas.microsoft.com/office/drawing/2014/main" id="{1E4E022E-F5D1-F001-188C-EC7C8A0241B8}"/>
              </a:ext>
            </a:extLst>
          </p:cNvPr>
          <p:cNvSpPr>
            <a:spLocks noGrp="1"/>
          </p:cNvSpPr>
          <p:nvPr>
            <p:ph type="sldNum" sz="quarter" idx="12"/>
          </p:nvPr>
        </p:nvSpPr>
        <p:spPr/>
        <p:txBody>
          <a:bodyPr/>
          <a:lstStyle/>
          <a:p>
            <a:fld id="{24F01846-2DA3-FB44-9D89-19679C480714}" type="slidenum">
              <a:rPr kumimoji="1" lang="zh-CN" altLang="en-US" smtClean="0"/>
              <a:t>21</a:t>
            </a:fld>
            <a:endParaRPr kumimoji="1" lang="zh-CN" altLang="en-US"/>
          </a:p>
        </p:txBody>
      </p:sp>
      <p:pic>
        <p:nvPicPr>
          <p:cNvPr id="6" name="图片 5">
            <a:extLst>
              <a:ext uri="{FF2B5EF4-FFF2-40B4-BE49-F238E27FC236}">
                <a16:creationId xmlns:a16="http://schemas.microsoft.com/office/drawing/2014/main" id="{53AC7E1E-DDFF-54DB-7F92-151044B51C20}"/>
              </a:ext>
            </a:extLst>
          </p:cNvPr>
          <p:cNvPicPr>
            <a:picLocks noChangeAspect="1"/>
          </p:cNvPicPr>
          <p:nvPr/>
        </p:nvPicPr>
        <p:blipFill>
          <a:blip r:embed="rId3">
            <a:clrChange>
              <a:clrFrom>
                <a:srgbClr val="FCF4EB"/>
              </a:clrFrom>
              <a:clrTo>
                <a:srgbClr val="FCF4EB">
                  <a:alpha val="0"/>
                </a:srgbClr>
              </a:clrTo>
            </a:clrChange>
          </a:blip>
          <a:stretch>
            <a:fillRect/>
          </a:stretch>
        </p:blipFill>
        <p:spPr>
          <a:xfrm>
            <a:off x="446860" y="1515636"/>
            <a:ext cx="7789980" cy="3513840"/>
          </a:xfrm>
          <a:prstGeom prst="rect">
            <a:avLst/>
          </a:prstGeom>
        </p:spPr>
      </p:pic>
      <p:sp>
        <p:nvSpPr>
          <p:cNvPr id="7" name="矩形 6">
            <a:extLst>
              <a:ext uri="{FF2B5EF4-FFF2-40B4-BE49-F238E27FC236}">
                <a16:creationId xmlns:a16="http://schemas.microsoft.com/office/drawing/2014/main" id="{16266A85-F615-2108-95CD-47D11AD91548}"/>
              </a:ext>
            </a:extLst>
          </p:cNvPr>
          <p:cNvSpPr/>
          <p:nvPr/>
        </p:nvSpPr>
        <p:spPr>
          <a:xfrm>
            <a:off x="4194639" y="1007533"/>
            <a:ext cx="45719" cy="48429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右箭头 7">
            <a:extLst>
              <a:ext uri="{FF2B5EF4-FFF2-40B4-BE49-F238E27FC236}">
                <a16:creationId xmlns:a16="http://schemas.microsoft.com/office/drawing/2014/main" id="{13E2B7AB-D340-EA24-3239-D6E3DDD606C8}"/>
              </a:ext>
            </a:extLst>
          </p:cNvPr>
          <p:cNvSpPr/>
          <p:nvPr/>
        </p:nvSpPr>
        <p:spPr>
          <a:xfrm>
            <a:off x="4400553" y="1560242"/>
            <a:ext cx="642257" cy="2830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右箭头 9">
            <a:extLst>
              <a:ext uri="{FF2B5EF4-FFF2-40B4-BE49-F238E27FC236}">
                <a16:creationId xmlns:a16="http://schemas.microsoft.com/office/drawing/2014/main" id="{24732AE7-8440-D26E-522F-CDEBF92E0363}"/>
              </a:ext>
            </a:extLst>
          </p:cNvPr>
          <p:cNvSpPr/>
          <p:nvPr/>
        </p:nvSpPr>
        <p:spPr>
          <a:xfrm rot="10800000">
            <a:off x="3213769" y="1560242"/>
            <a:ext cx="642257" cy="2830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1" name="图片 10">
            <a:extLst>
              <a:ext uri="{FF2B5EF4-FFF2-40B4-BE49-F238E27FC236}">
                <a16:creationId xmlns:a16="http://schemas.microsoft.com/office/drawing/2014/main" id="{7BF3E16E-67E0-C5D9-6607-1C9546BA180A}"/>
              </a:ext>
            </a:extLst>
          </p:cNvPr>
          <p:cNvPicPr>
            <a:picLocks noChangeAspect="1"/>
          </p:cNvPicPr>
          <p:nvPr/>
        </p:nvPicPr>
        <p:blipFill>
          <a:blip r:embed="rId4"/>
          <a:stretch>
            <a:fillRect/>
          </a:stretch>
        </p:blipFill>
        <p:spPr>
          <a:xfrm>
            <a:off x="8236840" y="2162871"/>
            <a:ext cx="3511528" cy="2532257"/>
          </a:xfrm>
          <a:prstGeom prst="rect">
            <a:avLst/>
          </a:prstGeom>
        </p:spPr>
      </p:pic>
      <p:sp>
        <p:nvSpPr>
          <p:cNvPr id="12" name="文本框 11">
            <a:extLst>
              <a:ext uri="{FF2B5EF4-FFF2-40B4-BE49-F238E27FC236}">
                <a16:creationId xmlns:a16="http://schemas.microsoft.com/office/drawing/2014/main" id="{DD344EAF-606F-AB22-5377-A1C6A99E9DA7}"/>
              </a:ext>
            </a:extLst>
          </p:cNvPr>
          <p:cNvSpPr txBox="1"/>
          <p:nvPr/>
        </p:nvSpPr>
        <p:spPr>
          <a:xfrm>
            <a:off x="8759234" y="4876284"/>
            <a:ext cx="3108569" cy="738664"/>
          </a:xfrm>
          <a:prstGeom prst="rect">
            <a:avLst/>
          </a:prstGeom>
          <a:noFill/>
        </p:spPr>
        <p:txBody>
          <a:bodyPr wrap="square" rtlCol="0">
            <a:spAutoFit/>
          </a:bodyPr>
          <a:lstStyle/>
          <a:p>
            <a:pPr algn="ctr"/>
            <a:r>
              <a:rPr kumimoji="1" lang="en-US" altLang="zh-CN" sz="1200" dirty="0">
                <a:solidFill>
                  <a:schemeClr val="bg2">
                    <a:lumMod val="75000"/>
                  </a:schemeClr>
                </a:solidFill>
              </a:rPr>
              <a:t>S1: Simple test-time scaling</a:t>
            </a:r>
          </a:p>
          <a:p>
            <a:pPr algn="ctr"/>
            <a:r>
              <a:rPr kumimoji="1" lang="en-US" altLang="zh-CN" sz="1200" dirty="0">
                <a:solidFill>
                  <a:schemeClr val="bg2">
                    <a:lumMod val="75000"/>
                  </a:schemeClr>
                </a:solidFill>
              </a:rPr>
              <a:t>[</a:t>
            </a:r>
            <a:r>
              <a:rPr kumimoji="1" lang="en-US" altLang="zh-CN" sz="1200" dirty="0" err="1">
                <a:solidFill>
                  <a:schemeClr val="bg2">
                    <a:lumMod val="75000"/>
                  </a:schemeClr>
                </a:solidFill>
              </a:rPr>
              <a:t>Muennighoff</a:t>
            </a:r>
            <a:r>
              <a:rPr kumimoji="1" lang="en-US" altLang="zh-CN" sz="1200" dirty="0">
                <a:solidFill>
                  <a:schemeClr val="bg2">
                    <a:lumMod val="75000"/>
                  </a:schemeClr>
                </a:solidFill>
              </a:rPr>
              <a:t> et. al, 2025]</a:t>
            </a:r>
          </a:p>
          <a:p>
            <a:endParaRPr kumimoji="1" lang="zh-CN" altLang="en-US" dirty="0"/>
          </a:p>
        </p:txBody>
      </p:sp>
      <p:sp>
        <p:nvSpPr>
          <p:cNvPr id="13" name="文本框 12">
            <a:extLst>
              <a:ext uri="{FF2B5EF4-FFF2-40B4-BE49-F238E27FC236}">
                <a16:creationId xmlns:a16="http://schemas.microsoft.com/office/drawing/2014/main" id="{E1F4A11D-06FE-BB77-340A-E1C7EE5A8DA3}"/>
              </a:ext>
            </a:extLst>
          </p:cNvPr>
          <p:cNvSpPr txBox="1"/>
          <p:nvPr/>
        </p:nvSpPr>
        <p:spPr>
          <a:xfrm>
            <a:off x="4391892" y="5468838"/>
            <a:ext cx="2575932" cy="369332"/>
          </a:xfrm>
          <a:prstGeom prst="rect">
            <a:avLst/>
          </a:prstGeom>
          <a:noFill/>
        </p:spPr>
        <p:txBody>
          <a:bodyPr wrap="square" rtlCol="0">
            <a:spAutoFit/>
          </a:bodyPr>
          <a:lstStyle/>
          <a:p>
            <a:r>
              <a:rPr kumimoji="1" lang="en-US" altLang="zh-CN" b="1" dirty="0">
                <a:solidFill>
                  <a:srgbClr val="C00000"/>
                </a:solidFill>
              </a:rPr>
              <a:t>Mid-training</a:t>
            </a:r>
            <a:endParaRPr kumimoji="1" lang="zh-CN" altLang="en-US" b="1" dirty="0">
              <a:solidFill>
                <a:srgbClr val="C00000"/>
              </a:solidFill>
            </a:endParaRPr>
          </a:p>
        </p:txBody>
      </p:sp>
      <p:sp>
        <p:nvSpPr>
          <p:cNvPr id="14" name="下箭头 13">
            <a:extLst>
              <a:ext uri="{FF2B5EF4-FFF2-40B4-BE49-F238E27FC236}">
                <a16:creationId xmlns:a16="http://schemas.microsoft.com/office/drawing/2014/main" id="{4887F72D-5024-F0F1-7579-EAB54A63FF8F}"/>
              </a:ext>
            </a:extLst>
          </p:cNvPr>
          <p:cNvSpPr/>
          <p:nvPr/>
        </p:nvSpPr>
        <p:spPr>
          <a:xfrm rot="10800000">
            <a:off x="4875541" y="4430219"/>
            <a:ext cx="334537" cy="86753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4954982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35871-0F6D-2748-0D84-D666816A1B2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7F60563-9589-47F6-8019-68BAE803C4C9}"/>
              </a:ext>
            </a:extLst>
          </p:cNvPr>
          <p:cNvSpPr>
            <a:spLocks noGrp="1"/>
          </p:cNvSpPr>
          <p:nvPr>
            <p:ph type="ctrTitle"/>
          </p:nvPr>
        </p:nvSpPr>
        <p:spPr/>
        <p:txBody>
          <a:bodyPr>
            <a:normAutofit/>
          </a:bodyPr>
          <a:lstStyle/>
          <a:p>
            <a:r>
              <a:rPr kumimoji="1" lang="en-US" altLang="zh-CN" dirty="0"/>
              <a:t>Perspective 1: </a:t>
            </a:r>
            <a:r>
              <a:rPr kumimoji="1" lang="en-US" altLang="zh-CN" u="sng" dirty="0"/>
              <a:t>pre-training</a:t>
            </a:r>
            <a:r>
              <a:rPr kumimoji="1" lang="en-US" altLang="zh-CN" dirty="0"/>
              <a:t> is the core</a:t>
            </a:r>
            <a:endParaRPr kumimoji="1" lang="zh-CN" altLang="en-US" dirty="0"/>
          </a:p>
        </p:txBody>
      </p:sp>
      <p:sp>
        <p:nvSpPr>
          <p:cNvPr id="3" name="副标题 2">
            <a:extLst>
              <a:ext uri="{FF2B5EF4-FFF2-40B4-BE49-F238E27FC236}">
                <a16:creationId xmlns:a16="http://schemas.microsoft.com/office/drawing/2014/main" id="{4C3D02C3-F91C-7E9B-1CE1-31D879D2187E}"/>
              </a:ext>
            </a:extLst>
          </p:cNvPr>
          <p:cNvSpPr>
            <a:spLocks noGrp="1"/>
          </p:cNvSpPr>
          <p:nvPr>
            <p:ph type="subTitle" idx="1"/>
          </p:nvPr>
        </p:nvSpPr>
        <p:spPr>
          <a:xfrm>
            <a:off x="251792" y="1210227"/>
            <a:ext cx="11575773" cy="4750904"/>
          </a:xfrm>
        </p:spPr>
        <p:txBody>
          <a:bodyPr/>
          <a:lstStyle/>
          <a:p>
            <a:pPr marL="457200" indent="-457200">
              <a:buAutoNum type="arabicPeriod"/>
            </a:pPr>
            <a:r>
              <a:rPr kumimoji="1" lang="en-US" altLang="zh-CN" dirty="0"/>
              <a:t>Continual Knowledge acquisition for continual pre-training</a:t>
            </a:r>
          </a:p>
          <a:p>
            <a:r>
              <a:rPr lang="en-US" altLang="zh-CN" sz="2000" b="1" dirty="0"/>
              <a:t>Goal:</a:t>
            </a:r>
            <a:r>
              <a:rPr lang="en-US" altLang="zh-CN" sz="2000" dirty="0"/>
              <a:t> teach model the </a:t>
            </a:r>
            <a:r>
              <a:rPr lang="en-US" altLang="zh-CN" sz="2000" dirty="0">
                <a:solidFill>
                  <a:srgbClr val="FF0000"/>
                </a:solidFill>
              </a:rPr>
              <a:t>knowledge</a:t>
            </a:r>
            <a:r>
              <a:rPr lang="en-US" altLang="zh-CN" sz="2000" dirty="0"/>
              <a:t> from a niche domain consisted of a few “source documents”.</a:t>
            </a:r>
          </a:p>
          <a:p>
            <a:r>
              <a:rPr lang="en-US" altLang="zh-CN" sz="1800" b="1" dirty="0"/>
              <a:t>Step 1:</a:t>
            </a:r>
            <a:r>
              <a:rPr lang="en-US" altLang="zh-CN" sz="1800" dirty="0"/>
              <a:t> Generate synthetic text based on the source documents </a:t>
            </a:r>
          </a:p>
          <a:p>
            <a:r>
              <a:rPr lang="en-US" altLang="zh-CN" sz="1800" b="1" dirty="0"/>
              <a:t>Step 2:</a:t>
            </a:r>
            <a:r>
              <a:rPr lang="en-US" altLang="zh-CN" sz="1800" dirty="0"/>
              <a:t> Continually pretrain (finetune) the model on generated text</a:t>
            </a:r>
          </a:p>
          <a:p>
            <a:endParaRPr kumimoji="1" lang="en-US" altLang="zh-CN" dirty="0"/>
          </a:p>
        </p:txBody>
      </p:sp>
      <p:sp>
        <p:nvSpPr>
          <p:cNvPr id="4" name="日期占位符 3">
            <a:extLst>
              <a:ext uri="{FF2B5EF4-FFF2-40B4-BE49-F238E27FC236}">
                <a16:creationId xmlns:a16="http://schemas.microsoft.com/office/drawing/2014/main" id="{9873D7F9-A38B-D889-51AB-A6ED0E5C2E2F}"/>
              </a:ext>
            </a:extLst>
          </p:cNvPr>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a:extLst>
              <a:ext uri="{FF2B5EF4-FFF2-40B4-BE49-F238E27FC236}">
                <a16:creationId xmlns:a16="http://schemas.microsoft.com/office/drawing/2014/main" id="{826B75AF-9AEF-5793-9E9B-1D44E58FC0BA}"/>
              </a:ext>
            </a:extLst>
          </p:cNvPr>
          <p:cNvSpPr>
            <a:spLocks noGrp="1"/>
          </p:cNvSpPr>
          <p:nvPr>
            <p:ph type="sldNum" sz="quarter" idx="12"/>
          </p:nvPr>
        </p:nvSpPr>
        <p:spPr/>
        <p:txBody>
          <a:bodyPr/>
          <a:lstStyle/>
          <a:p>
            <a:fld id="{24F01846-2DA3-FB44-9D89-19679C480714}" type="slidenum">
              <a:rPr kumimoji="1" lang="zh-CN" altLang="en-US" smtClean="0"/>
              <a:t>22</a:t>
            </a:fld>
            <a:endParaRPr kumimoji="1" lang="zh-CN" altLang="en-US" dirty="0"/>
          </a:p>
        </p:txBody>
      </p:sp>
      <p:pic>
        <p:nvPicPr>
          <p:cNvPr id="6" name="图片 5">
            <a:extLst>
              <a:ext uri="{FF2B5EF4-FFF2-40B4-BE49-F238E27FC236}">
                <a16:creationId xmlns:a16="http://schemas.microsoft.com/office/drawing/2014/main" id="{7FD2133B-F177-97EE-EB3F-FF345DEFC43D}"/>
              </a:ext>
            </a:extLst>
          </p:cNvPr>
          <p:cNvPicPr>
            <a:picLocks noChangeAspect="1"/>
          </p:cNvPicPr>
          <p:nvPr/>
        </p:nvPicPr>
        <p:blipFill>
          <a:blip r:embed="rId3"/>
          <a:stretch>
            <a:fillRect/>
          </a:stretch>
        </p:blipFill>
        <p:spPr>
          <a:xfrm>
            <a:off x="3851361" y="4035888"/>
            <a:ext cx="7762513" cy="2194177"/>
          </a:xfrm>
          <a:prstGeom prst="rect">
            <a:avLst/>
          </a:prstGeom>
        </p:spPr>
      </p:pic>
      <p:pic>
        <p:nvPicPr>
          <p:cNvPr id="7" name="图片 6">
            <a:extLst>
              <a:ext uri="{FF2B5EF4-FFF2-40B4-BE49-F238E27FC236}">
                <a16:creationId xmlns:a16="http://schemas.microsoft.com/office/drawing/2014/main" id="{B546359D-5844-F4FD-1C3D-EEF92507DBA1}"/>
              </a:ext>
            </a:extLst>
          </p:cNvPr>
          <p:cNvPicPr>
            <a:picLocks noChangeAspect="1"/>
          </p:cNvPicPr>
          <p:nvPr/>
        </p:nvPicPr>
        <p:blipFill>
          <a:blip r:embed="rId4"/>
          <a:stretch>
            <a:fillRect/>
          </a:stretch>
        </p:blipFill>
        <p:spPr>
          <a:xfrm>
            <a:off x="578126" y="3141954"/>
            <a:ext cx="2273931" cy="2519963"/>
          </a:xfrm>
          <a:prstGeom prst="rect">
            <a:avLst/>
          </a:prstGeom>
        </p:spPr>
      </p:pic>
      <p:sp>
        <p:nvSpPr>
          <p:cNvPr id="8" name="文本框 7">
            <a:extLst>
              <a:ext uri="{FF2B5EF4-FFF2-40B4-BE49-F238E27FC236}">
                <a16:creationId xmlns:a16="http://schemas.microsoft.com/office/drawing/2014/main" id="{62320482-B342-44A6-D036-0554CC90387B}"/>
              </a:ext>
            </a:extLst>
          </p:cNvPr>
          <p:cNvSpPr txBox="1"/>
          <p:nvPr/>
        </p:nvSpPr>
        <p:spPr>
          <a:xfrm>
            <a:off x="139149" y="5799561"/>
            <a:ext cx="5682343" cy="800219"/>
          </a:xfrm>
          <a:prstGeom prst="rect">
            <a:avLst/>
          </a:prstGeom>
          <a:noFill/>
        </p:spPr>
        <p:txBody>
          <a:bodyPr wrap="square" rtlCol="0">
            <a:spAutoFit/>
          </a:bodyPr>
          <a:lstStyle/>
          <a:p>
            <a:r>
              <a:rPr lang="en-US" altLang="zh-CN" sz="1400" dirty="0"/>
              <a:t>265 </a:t>
            </a:r>
            <a:r>
              <a:rPr lang="en-US" altLang="zh-CN" sz="1400" i="1" dirty="0"/>
              <a:t>specialized</a:t>
            </a:r>
            <a:r>
              <a:rPr lang="en-US" altLang="zh-CN" sz="1400" dirty="0"/>
              <a:t> books (~1.8M tokens); </a:t>
            </a:r>
          </a:p>
          <a:p>
            <a:r>
              <a:rPr lang="en-US" altLang="zh-CN" sz="1400" dirty="0"/>
              <a:t>High-quality multiple-choice Q&amp;As </a:t>
            </a:r>
          </a:p>
          <a:p>
            <a:endParaRPr kumimoji="1" lang="zh-CN" altLang="en-US" dirty="0"/>
          </a:p>
        </p:txBody>
      </p:sp>
      <p:sp>
        <p:nvSpPr>
          <p:cNvPr id="9" name="文本框 8">
            <a:extLst>
              <a:ext uri="{FF2B5EF4-FFF2-40B4-BE49-F238E27FC236}">
                <a16:creationId xmlns:a16="http://schemas.microsoft.com/office/drawing/2014/main" id="{737F8120-1B1D-572C-90A2-ED230C9DAE37}"/>
              </a:ext>
            </a:extLst>
          </p:cNvPr>
          <p:cNvSpPr txBox="1"/>
          <p:nvPr/>
        </p:nvSpPr>
        <p:spPr>
          <a:xfrm>
            <a:off x="1000283" y="6298887"/>
            <a:ext cx="1429616" cy="738664"/>
          </a:xfrm>
          <a:prstGeom prst="rect">
            <a:avLst/>
          </a:prstGeom>
          <a:noFill/>
        </p:spPr>
        <p:txBody>
          <a:bodyPr wrap="square" rtlCol="0">
            <a:spAutoFit/>
          </a:bodyPr>
          <a:lstStyle/>
          <a:p>
            <a:pPr algn="ctr"/>
            <a:r>
              <a:rPr kumimoji="1" lang="en-US" altLang="zh-CN" sz="1200" dirty="0" err="1">
                <a:solidFill>
                  <a:schemeClr val="bg2">
                    <a:lumMod val="75000"/>
                  </a:schemeClr>
                </a:solidFill>
              </a:rPr>
              <a:t>QuALITY</a:t>
            </a:r>
            <a:endParaRPr kumimoji="1" lang="en-US" altLang="zh-CN" sz="1200" dirty="0">
              <a:solidFill>
                <a:schemeClr val="bg2">
                  <a:lumMod val="75000"/>
                </a:schemeClr>
              </a:solidFill>
            </a:endParaRPr>
          </a:p>
          <a:p>
            <a:pPr algn="ctr"/>
            <a:r>
              <a:rPr kumimoji="1" lang="en-US" altLang="zh-CN" sz="1200" dirty="0">
                <a:solidFill>
                  <a:schemeClr val="bg2">
                    <a:lumMod val="75000"/>
                  </a:schemeClr>
                </a:solidFill>
              </a:rPr>
              <a:t>[Pang et. al, 2022]</a:t>
            </a:r>
          </a:p>
          <a:p>
            <a:endParaRPr kumimoji="1" lang="zh-CN" altLang="en-US" dirty="0"/>
          </a:p>
        </p:txBody>
      </p:sp>
      <p:sp>
        <p:nvSpPr>
          <p:cNvPr id="10" name="文本框 9">
            <a:extLst>
              <a:ext uri="{FF2B5EF4-FFF2-40B4-BE49-F238E27FC236}">
                <a16:creationId xmlns:a16="http://schemas.microsoft.com/office/drawing/2014/main" id="{6B192337-DAE2-44D6-9FD6-AAC92AF13CDF}"/>
              </a:ext>
            </a:extLst>
          </p:cNvPr>
          <p:cNvSpPr txBox="1"/>
          <p:nvPr/>
        </p:nvSpPr>
        <p:spPr>
          <a:xfrm>
            <a:off x="6370510" y="6298887"/>
            <a:ext cx="3810258" cy="738664"/>
          </a:xfrm>
          <a:prstGeom prst="rect">
            <a:avLst/>
          </a:prstGeom>
          <a:noFill/>
        </p:spPr>
        <p:txBody>
          <a:bodyPr wrap="square" rtlCol="0">
            <a:spAutoFit/>
          </a:bodyPr>
          <a:lstStyle/>
          <a:p>
            <a:pPr algn="ctr"/>
            <a:r>
              <a:rPr kumimoji="1" lang="en-US" altLang="zh-CN" sz="1200" dirty="0">
                <a:solidFill>
                  <a:schemeClr val="bg2">
                    <a:lumMod val="75000"/>
                  </a:schemeClr>
                </a:solidFill>
              </a:rPr>
              <a:t>Synthetic Continued Pretraining</a:t>
            </a:r>
          </a:p>
          <a:p>
            <a:pPr algn="ctr"/>
            <a:r>
              <a:rPr kumimoji="1" lang="en-US" altLang="zh-CN" sz="1200" dirty="0">
                <a:solidFill>
                  <a:schemeClr val="bg2">
                    <a:lumMod val="75000"/>
                  </a:schemeClr>
                </a:solidFill>
              </a:rPr>
              <a:t>[Yang et. al, 2024]</a:t>
            </a:r>
          </a:p>
          <a:p>
            <a:endParaRPr kumimoji="1" lang="zh-CN" altLang="en-US" dirty="0"/>
          </a:p>
        </p:txBody>
      </p:sp>
      <p:pic>
        <p:nvPicPr>
          <p:cNvPr id="11" name="图片 10">
            <a:extLst>
              <a:ext uri="{FF2B5EF4-FFF2-40B4-BE49-F238E27FC236}">
                <a16:creationId xmlns:a16="http://schemas.microsoft.com/office/drawing/2014/main" id="{85A4AFA5-9BCD-A6BA-130D-17A40DFE2EE2}"/>
              </a:ext>
            </a:extLst>
          </p:cNvPr>
          <p:cNvPicPr>
            <a:picLocks noChangeAspect="1"/>
          </p:cNvPicPr>
          <p:nvPr/>
        </p:nvPicPr>
        <p:blipFill>
          <a:blip r:embed="rId5"/>
          <a:stretch>
            <a:fillRect/>
          </a:stretch>
        </p:blipFill>
        <p:spPr>
          <a:xfrm>
            <a:off x="7732617" y="2189489"/>
            <a:ext cx="2972012" cy="1846399"/>
          </a:xfrm>
          <a:prstGeom prst="rect">
            <a:avLst/>
          </a:prstGeom>
        </p:spPr>
      </p:pic>
    </p:spTree>
    <p:extLst>
      <p:ext uri="{BB962C8B-B14F-4D97-AF65-F5344CB8AC3E}">
        <p14:creationId xmlns:p14="http://schemas.microsoft.com/office/powerpoint/2010/main" val="8997240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F30FA-6560-0518-6844-D6CE9A616F3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6F0E574-2E20-E301-902D-BD254587478D}"/>
              </a:ext>
            </a:extLst>
          </p:cNvPr>
          <p:cNvSpPr>
            <a:spLocks noGrp="1"/>
          </p:cNvSpPr>
          <p:nvPr>
            <p:ph type="ctrTitle"/>
          </p:nvPr>
        </p:nvSpPr>
        <p:spPr/>
        <p:txBody>
          <a:bodyPr>
            <a:normAutofit/>
          </a:bodyPr>
          <a:lstStyle/>
          <a:p>
            <a:r>
              <a:rPr kumimoji="1" lang="en-US" altLang="zh-CN" dirty="0"/>
              <a:t>Perspective 1: </a:t>
            </a:r>
            <a:r>
              <a:rPr kumimoji="1" lang="en-US" altLang="zh-CN" u="sng" dirty="0"/>
              <a:t>pre-training</a:t>
            </a:r>
            <a:r>
              <a:rPr kumimoji="1" lang="en-US" altLang="zh-CN" dirty="0"/>
              <a:t> is the core</a:t>
            </a:r>
            <a:endParaRPr kumimoji="1" lang="zh-CN" altLang="en-US" dirty="0"/>
          </a:p>
        </p:txBody>
      </p:sp>
      <p:sp>
        <p:nvSpPr>
          <p:cNvPr id="3" name="副标题 2">
            <a:extLst>
              <a:ext uri="{FF2B5EF4-FFF2-40B4-BE49-F238E27FC236}">
                <a16:creationId xmlns:a16="http://schemas.microsoft.com/office/drawing/2014/main" id="{335C33EA-E037-F467-DC18-21C6269FF67B}"/>
              </a:ext>
            </a:extLst>
          </p:cNvPr>
          <p:cNvSpPr>
            <a:spLocks noGrp="1"/>
          </p:cNvSpPr>
          <p:nvPr>
            <p:ph type="subTitle" idx="1"/>
          </p:nvPr>
        </p:nvSpPr>
        <p:spPr>
          <a:xfrm>
            <a:off x="251792" y="1269350"/>
            <a:ext cx="11575773" cy="4750904"/>
          </a:xfrm>
        </p:spPr>
        <p:txBody>
          <a:bodyPr/>
          <a:lstStyle/>
          <a:p>
            <a:pPr marL="457200" indent="-457200">
              <a:buAutoNum type="arabicPeriod" startAt="2"/>
            </a:pPr>
            <a:r>
              <a:rPr kumimoji="1" lang="en-US" altLang="zh-CN" dirty="0"/>
              <a:t>Self-improving pretraining capability – Learn structural correlation from scratch</a:t>
            </a:r>
          </a:p>
          <a:p>
            <a:r>
              <a:rPr lang="en-US" altLang="zh-CN" sz="1800" b="1" dirty="0"/>
              <a:t>Goal: Self-improving with no distillation from teacher model</a:t>
            </a:r>
          </a:p>
          <a:p>
            <a:r>
              <a:rPr lang="en-US" altLang="zh-CN" sz="1800" b="1" dirty="0"/>
              <a:t>Step 1: Nearest-neighbor pairing: </a:t>
            </a:r>
            <a:r>
              <a:rPr lang="en-US" altLang="zh-CN" sz="1800" dirty="0"/>
              <a:t>Use DCLM subset and Qwen-0.6B-Embedding </a:t>
            </a:r>
          </a:p>
          <a:p>
            <a:r>
              <a:rPr lang="en-US" altLang="zh-CN" sz="1800" b="1" dirty="0"/>
              <a:t>Step 2: Synthesizer tuning: </a:t>
            </a:r>
            <a:r>
              <a:rPr lang="en-US" altLang="zh-CN" sz="1800" dirty="0"/>
              <a:t>SFT-like objective               initialized at pretrained checkpoint </a:t>
            </a:r>
          </a:p>
          <a:p>
            <a:r>
              <a:rPr lang="en-US" altLang="zh-CN" sz="1800" b="1" dirty="0"/>
              <a:t>Step 3: Synthesis at scale: </a:t>
            </a:r>
            <a:r>
              <a:rPr lang="en-US" altLang="zh-CN" sz="1800" dirty="0"/>
              <a:t>Temperature=1 allows each document to have varied synthesis</a:t>
            </a:r>
          </a:p>
          <a:p>
            <a:pPr marL="457200" indent="-457200">
              <a:buAutoNum type="arabicPeriod" startAt="2"/>
            </a:pPr>
            <a:endParaRPr kumimoji="1" lang="en-US" altLang="zh-CN" dirty="0"/>
          </a:p>
          <a:p>
            <a:pPr marL="457200" indent="-457200">
              <a:buAutoNum type="arabicPeriod" startAt="2"/>
            </a:pPr>
            <a:endParaRPr kumimoji="1" lang="en-US" altLang="zh-CN" dirty="0"/>
          </a:p>
          <a:p>
            <a:pPr marL="457200" indent="-457200">
              <a:buAutoNum type="arabicPeriod" startAt="2"/>
            </a:pPr>
            <a:endParaRPr kumimoji="1" lang="en-US" altLang="zh-CN" dirty="0"/>
          </a:p>
          <a:p>
            <a:pPr marL="457200" indent="-457200">
              <a:buAutoNum type="arabicPeriod" startAt="2"/>
            </a:pPr>
            <a:endParaRPr kumimoji="1" lang="en-US" altLang="zh-CN" dirty="0"/>
          </a:p>
          <a:p>
            <a:endParaRPr kumimoji="1" lang="zh-CN" altLang="en-US" dirty="0"/>
          </a:p>
        </p:txBody>
      </p:sp>
      <p:sp>
        <p:nvSpPr>
          <p:cNvPr id="4" name="日期占位符 3">
            <a:extLst>
              <a:ext uri="{FF2B5EF4-FFF2-40B4-BE49-F238E27FC236}">
                <a16:creationId xmlns:a16="http://schemas.microsoft.com/office/drawing/2014/main" id="{F3A2810F-D190-9349-73D4-B2B21855BCBE}"/>
              </a:ext>
            </a:extLst>
          </p:cNvPr>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a:extLst>
              <a:ext uri="{FF2B5EF4-FFF2-40B4-BE49-F238E27FC236}">
                <a16:creationId xmlns:a16="http://schemas.microsoft.com/office/drawing/2014/main" id="{33E60E10-AC0B-0602-B0E1-EFAFCB5F852C}"/>
              </a:ext>
            </a:extLst>
          </p:cNvPr>
          <p:cNvSpPr>
            <a:spLocks noGrp="1"/>
          </p:cNvSpPr>
          <p:nvPr>
            <p:ph type="sldNum" sz="quarter" idx="12"/>
          </p:nvPr>
        </p:nvSpPr>
        <p:spPr/>
        <p:txBody>
          <a:bodyPr/>
          <a:lstStyle/>
          <a:p>
            <a:fld id="{24F01846-2DA3-FB44-9D89-19679C480714}" type="slidenum">
              <a:rPr kumimoji="1" lang="zh-CN" altLang="en-US" smtClean="0"/>
              <a:t>23</a:t>
            </a:fld>
            <a:endParaRPr kumimoji="1" lang="zh-CN" altLang="en-US" dirty="0"/>
          </a:p>
        </p:txBody>
      </p:sp>
      <p:sp>
        <p:nvSpPr>
          <p:cNvPr id="6" name="文本框 5">
            <a:extLst>
              <a:ext uri="{FF2B5EF4-FFF2-40B4-BE49-F238E27FC236}">
                <a16:creationId xmlns:a16="http://schemas.microsoft.com/office/drawing/2014/main" id="{EB0FFE94-3AB2-0B0F-291A-B29726EAFC52}"/>
              </a:ext>
            </a:extLst>
          </p:cNvPr>
          <p:cNvSpPr txBox="1"/>
          <p:nvPr/>
        </p:nvSpPr>
        <p:spPr>
          <a:xfrm>
            <a:off x="4006450" y="6184763"/>
            <a:ext cx="3810258" cy="738664"/>
          </a:xfrm>
          <a:prstGeom prst="rect">
            <a:avLst/>
          </a:prstGeom>
          <a:noFill/>
        </p:spPr>
        <p:txBody>
          <a:bodyPr wrap="square" rtlCol="0">
            <a:spAutoFit/>
          </a:bodyPr>
          <a:lstStyle/>
          <a:p>
            <a:pPr algn="ctr"/>
            <a:r>
              <a:rPr kumimoji="1" lang="en-US" altLang="zh-CN" sz="1200" dirty="0">
                <a:solidFill>
                  <a:schemeClr val="bg2">
                    <a:lumMod val="75000"/>
                  </a:schemeClr>
                </a:solidFill>
              </a:rPr>
              <a:t>Synthetic bootstrapped pretraining</a:t>
            </a:r>
          </a:p>
          <a:p>
            <a:pPr algn="ctr"/>
            <a:r>
              <a:rPr kumimoji="1" lang="en-US" altLang="zh-CN" sz="1200" dirty="0">
                <a:solidFill>
                  <a:schemeClr val="bg2">
                    <a:lumMod val="75000"/>
                  </a:schemeClr>
                </a:solidFill>
              </a:rPr>
              <a:t>[Yang et. al, 2025]</a:t>
            </a:r>
          </a:p>
          <a:p>
            <a:endParaRPr kumimoji="1" lang="zh-CN" altLang="en-US" dirty="0"/>
          </a:p>
        </p:txBody>
      </p:sp>
      <p:pic>
        <p:nvPicPr>
          <p:cNvPr id="7" name="图片 6">
            <a:extLst>
              <a:ext uri="{FF2B5EF4-FFF2-40B4-BE49-F238E27FC236}">
                <a16:creationId xmlns:a16="http://schemas.microsoft.com/office/drawing/2014/main" id="{0C9F0DF4-C7BE-B106-EC23-FE397375444E}"/>
              </a:ext>
            </a:extLst>
          </p:cNvPr>
          <p:cNvPicPr>
            <a:picLocks noChangeAspect="1"/>
          </p:cNvPicPr>
          <p:nvPr/>
        </p:nvPicPr>
        <p:blipFill>
          <a:blip r:embed="rId3"/>
          <a:stretch>
            <a:fillRect/>
          </a:stretch>
        </p:blipFill>
        <p:spPr>
          <a:xfrm>
            <a:off x="2007539" y="3320179"/>
            <a:ext cx="7772400" cy="2890361"/>
          </a:xfrm>
          <a:prstGeom prst="rect">
            <a:avLst/>
          </a:prstGeom>
        </p:spPr>
      </p:pic>
      <p:pic>
        <p:nvPicPr>
          <p:cNvPr id="9" name="图形 8">
            <a:extLst>
              <a:ext uri="{FF2B5EF4-FFF2-40B4-BE49-F238E27FC236}">
                <a16:creationId xmlns:a16="http://schemas.microsoft.com/office/drawing/2014/main" id="{94E088C1-DE37-EBD8-D711-C35C0847A57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26350" y="2499401"/>
            <a:ext cx="813328" cy="215781"/>
          </a:xfrm>
          <a:prstGeom prst="rect">
            <a:avLst/>
          </a:prstGeom>
        </p:spPr>
      </p:pic>
      <p:pic>
        <p:nvPicPr>
          <p:cNvPr id="12" name="图片 11">
            <a:extLst>
              <a:ext uri="{FF2B5EF4-FFF2-40B4-BE49-F238E27FC236}">
                <a16:creationId xmlns:a16="http://schemas.microsoft.com/office/drawing/2014/main" id="{3B32BAAD-5504-1E9A-C28D-E72D7A434F23}"/>
              </a:ext>
            </a:extLst>
          </p:cNvPr>
          <p:cNvPicPr>
            <a:picLocks noChangeAspect="1"/>
          </p:cNvPicPr>
          <p:nvPr/>
        </p:nvPicPr>
        <p:blipFill>
          <a:blip r:embed="rId6"/>
          <a:stretch>
            <a:fillRect/>
          </a:stretch>
        </p:blipFill>
        <p:spPr>
          <a:xfrm>
            <a:off x="6951092" y="4345317"/>
            <a:ext cx="3845798" cy="438556"/>
          </a:xfrm>
          <a:prstGeom prst="rect">
            <a:avLst/>
          </a:prstGeom>
        </p:spPr>
      </p:pic>
      <p:grpSp>
        <p:nvGrpSpPr>
          <p:cNvPr id="18" name="组合 17">
            <a:extLst>
              <a:ext uri="{FF2B5EF4-FFF2-40B4-BE49-F238E27FC236}">
                <a16:creationId xmlns:a16="http://schemas.microsoft.com/office/drawing/2014/main" id="{2135F0E3-C38E-43E6-B58F-63F9DDB8E1F3}"/>
              </a:ext>
            </a:extLst>
          </p:cNvPr>
          <p:cNvGrpSpPr/>
          <p:nvPr/>
        </p:nvGrpSpPr>
        <p:grpSpPr>
          <a:xfrm>
            <a:off x="2420645" y="4122155"/>
            <a:ext cx="923937" cy="588428"/>
            <a:chOff x="2420645" y="4122155"/>
            <a:chExt cx="923937" cy="588428"/>
          </a:xfrm>
        </p:grpSpPr>
        <mc:AlternateContent xmlns:mc="http://schemas.openxmlformats.org/markup-compatibility/2006">
          <mc:Choice xmlns:p14="http://schemas.microsoft.com/office/powerpoint/2010/main" Requires="p14">
            <p:contentPart p14:bwMode="auto" r:id="rId7">
              <p14:nvContentPartPr>
                <p14:cNvPr id="15" name="墨迹 14">
                  <a:extLst>
                    <a:ext uri="{FF2B5EF4-FFF2-40B4-BE49-F238E27FC236}">
                      <a16:creationId xmlns:a16="http://schemas.microsoft.com/office/drawing/2014/main" id="{47558777-FDB6-D28F-BDC8-6A3B37543764}"/>
                    </a:ext>
                  </a:extLst>
                </p14:cNvPr>
                <p14:cNvContentPartPr/>
                <p14:nvPr/>
              </p14:nvContentPartPr>
              <p14:xfrm>
                <a:off x="2572022" y="4122155"/>
                <a:ext cx="772560" cy="442440"/>
              </p14:xfrm>
            </p:contentPart>
          </mc:Choice>
          <mc:Fallback>
            <p:pic>
              <p:nvPicPr>
                <p:cNvPr id="15" name="墨迹 14">
                  <a:extLst>
                    <a:ext uri="{FF2B5EF4-FFF2-40B4-BE49-F238E27FC236}">
                      <a16:creationId xmlns:a16="http://schemas.microsoft.com/office/drawing/2014/main" id="{47558777-FDB6-D28F-BDC8-6A3B37543764}"/>
                    </a:ext>
                  </a:extLst>
                </p:cNvPr>
                <p:cNvPicPr/>
                <p:nvPr/>
              </p:nvPicPr>
              <p:blipFill>
                <a:blip r:embed="rId8"/>
                <a:stretch>
                  <a:fillRect/>
                </a:stretch>
              </p:blipFill>
              <p:spPr>
                <a:xfrm>
                  <a:off x="2565902" y="4116035"/>
                  <a:ext cx="784800" cy="4546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6" name="墨迹 15">
                  <a:extLst>
                    <a:ext uri="{FF2B5EF4-FFF2-40B4-BE49-F238E27FC236}">
                      <a16:creationId xmlns:a16="http://schemas.microsoft.com/office/drawing/2014/main" id="{4DA768AC-64CD-6B6D-3984-19BA571D7CBF}"/>
                    </a:ext>
                  </a:extLst>
                </p14:cNvPr>
                <p14:cNvContentPartPr/>
                <p14:nvPr/>
              </p14:nvContentPartPr>
              <p14:xfrm>
                <a:off x="2420645" y="4232503"/>
                <a:ext cx="794880" cy="478080"/>
              </p14:xfrm>
            </p:contentPart>
          </mc:Choice>
          <mc:Fallback>
            <p:pic>
              <p:nvPicPr>
                <p:cNvPr id="16" name="墨迹 15">
                  <a:extLst>
                    <a:ext uri="{FF2B5EF4-FFF2-40B4-BE49-F238E27FC236}">
                      <a16:creationId xmlns:a16="http://schemas.microsoft.com/office/drawing/2014/main" id="{4DA768AC-64CD-6B6D-3984-19BA571D7CBF}"/>
                    </a:ext>
                  </a:extLst>
                </p:cNvPr>
                <p:cNvPicPr/>
                <p:nvPr/>
              </p:nvPicPr>
              <p:blipFill>
                <a:blip r:embed="rId10"/>
                <a:stretch>
                  <a:fillRect/>
                </a:stretch>
              </p:blipFill>
              <p:spPr>
                <a:xfrm>
                  <a:off x="2414525" y="4226383"/>
                  <a:ext cx="807120" cy="490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
            <p14:nvContentPartPr>
              <p14:cNvPr id="19" name="墨迹 18">
                <a:extLst>
                  <a:ext uri="{FF2B5EF4-FFF2-40B4-BE49-F238E27FC236}">
                    <a16:creationId xmlns:a16="http://schemas.microsoft.com/office/drawing/2014/main" id="{8C30752E-53A1-6920-92FE-2411A927B029}"/>
                  </a:ext>
                </a:extLst>
              </p14:cNvPr>
              <p14:cNvContentPartPr/>
              <p14:nvPr/>
            </p14:nvContentPartPr>
            <p14:xfrm>
              <a:off x="6286225" y="4649949"/>
              <a:ext cx="392400" cy="509400"/>
            </p14:xfrm>
          </p:contentPart>
        </mc:Choice>
        <mc:Fallback>
          <p:pic>
            <p:nvPicPr>
              <p:cNvPr id="19" name="墨迹 18">
                <a:extLst>
                  <a:ext uri="{FF2B5EF4-FFF2-40B4-BE49-F238E27FC236}">
                    <a16:creationId xmlns:a16="http://schemas.microsoft.com/office/drawing/2014/main" id="{8C30752E-53A1-6920-92FE-2411A927B029}"/>
                  </a:ext>
                </a:extLst>
              </p:cNvPr>
              <p:cNvPicPr/>
              <p:nvPr/>
            </p:nvPicPr>
            <p:blipFill>
              <a:blip r:embed="rId12"/>
              <a:stretch>
                <a:fillRect/>
              </a:stretch>
            </p:blipFill>
            <p:spPr>
              <a:xfrm>
                <a:off x="6280105" y="4643825"/>
                <a:ext cx="404640" cy="521649"/>
              </a:xfrm>
              <a:prstGeom prst="rect">
                <a:avLst/>
              </a:prstGeom>
            </p:spPr>
          </p:pic>
        </mc:Fallback>
      </mc:AlternateContent>
    </p:spTree>
    <p:extLst>
      <p:ext uri="{BB962C8B-B14F-4D97-AF65-F5344CB8AC3E}">
        <p14:creationId xmlns:p14="http://schemas.microsoft.com/office/powerpoint/2010/main" val="3036152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C7235-3B7E-F838-7A21-EDBD96D580F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59F705-CF05-A0FA-37AC-57D32CB643A2}"/>
              </a:ext>
            </a:extLst>
          </p:cNvPr>
          <p:cNvSpPr>
            <a:spLocks noGrp="1"/>
          </p:cNvSpPr>
          <p:nvPr>
            <p:ph type="ctrTitle"/>
          </p:nvPr>
        </p:nvSpPr>
        <p:spPr>
          <a:xfrm>
            <a:off x="251792" y="340552"/>
            <a:ext cx="11657986" cy="622993"/>
          </a:xfrm>
        </p:spPr>
        <p:txBody>
          <a:bodyPr>
            <a:normAutofit fontScale="90000"/>
          </a:bodyPr>
          <a:lstStyle/>
          <a:p>
            <a:r>
              <a:rPr kumimoji="1" lang="en-US" altLang="zh-CN" dirty="0"/>
              <a:t>Perspective 2: </a:t>
            </a:r>
            <a:r>
              <a:rPr kumimoji="1" lang="en-US" altLang="zh-CN" u="sng" dirty="0"/>
              <a:t>mid and post-training</a:t>
            </a:r>
            <a:r>
              <a:rPr kumimoji="1" lang="en-US" altLang="zh-CN" dirty="0"/>
              <a:t> &amp; </a:t>
            </a:r>
            <a:r>
              <a:rPr kumimoji="1" lang="en-US" altLang="zh-CN" u="sng" dirty="0"/>
              <a:t>Agent scaffold components</a:t>
            </a:r>
            <a:r>
              <a:rPr kumimoji="1" lang="en-US" altLang="zh-CN" dirty="0"/>
              <a:t> for </a:t>
            </a:r>
            <a:r>
              <a:rPr kumimoji="1" lang="en-US" altLang="zh-CN" dirty="0">
                <a:solidFill>
                  <a:srgbClr val="C00000"/>
                </a:solidFill>
              </a:rPr>
              <a:t>adaptation  </a:t>
            </a:r>
            <a:endParaRPr kumimoji="1" lang="zh-CN" altLang="en-US" dirty="0">
              <a:solidFill>
                <a:srgbClr val="C00000"/>
              </a:solidFill>
            </a:endParaRPr>
          </a:p>
        </p:txBody>
      </p:sp>
      <p:sp>
        <p:nvSpPr>
          <p:cNvPr id="3" name="副标题 2">
            <a:extLst>
              <a:ext uri="{FF2B5EF4-FFF2-40B4-BE49-F238E27FC236}">
                <a16:creationId xmlns:a16="http://schemas.microsoft.com/office/drawing/2014/main" id="{9704565E-3708-A2F0-3796-B4D8541B48C9}"/>
              </a:ext>
            </a:extLst>
          </p:cNvPr>
          <p:cNvSpPr>
            <a:spLocks noGrp="1"/>
          </p:cNvSpPr>
          <p:nvPr>
            <p:ph type="subTitle" idx="1"/>
          </p:nvPr>
        </p:nvSpPr>
        <p:spPr/>
        <p:txBody>
          <a:bodyPr/>
          <a:lstStyle/>
          <a:p>
            <a:endParaRPr kumimoji="1" lang="zh-CN" altLang="en-US" dirty="0"/>
          </a:p>
        </p:txBody>
      </p:sp>
      <p:sp>
        <p:nvSpPr>
          <p:cNvPr id="4" name="日期占位符 3">
            <a:extLst>
              <a:ext uri="{FF2B5EF4-FFF2-40B4-BE49-F238E27FC236}">
                <a16:creationId xmlns:a16="http://schemas.microsoft.com/office/drawing/2014/main" id="{C063CA69-BC29-600F-C1E6-27E653EA1D55}"/>
              </a:ext>
            </a:extLst>
          </p:cNvPr>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a:extLst>
              <a:ext uri="{FF2B5EF4-FFF2-40B4-BE49-F238E27FC236}">
                <a16:creationId xmlns:a16="http://schemas.microsoft.com/office/drawing/2014/main" id="{44D2DC29-118B-EFA9-FF87-46D450FA2F2D}"/>
              </a:ext>
            </a:extLst>
          </p:cNvPr>
          <p:cNvSpPr>
            <a:spLocks noGrp="1"/>
          </p:cNvSpPr>
          <p:nvPr>
            <p:ph type="sldNum" sz="quarter" idx="12"/>
          </p:nvPr>
        </p:nvSpPr>
        <p:spPr/>
        <p:txBody>
          <a:bodyPr/>
          <a:lstStyle/>
          <a:p>
            <a:fld id="{24F01846-2DA3-FB44-9D89-19679C480714}" type="slidenum">
              <a:rPr kumimoji="1" lang="zh-CN" altLang="en-US" smtClean="0"/>
              <a:t>24</a:t>
            </a:fld>
            <a:endParaRPr kumimoji="1" lang="zh-CN" altLang="en-US" dirty="0"/>
          </a:p>
        </p:txBody>
      </p:sp>
      <p:pic>
        <p:nvPicPr>
          <p:cNvPr id="6" name="图片 5">
            <a:extLst>
              <a:ext uri="{FF2B5EF4-FFF2-40B4-BE49-F238E27FC236}">
                <a16:creationId xmlns:a16="http://schemas.microsoft.com/office/drawing/2014/main" id="{1BD1D55A-77BF-2E0A-FB31-D18A230E3436}"/>
              </a:ext>
            </a:extLst>
          </p:cNvPr>
          <p:cNvPicPr>
            <a:picLocks noChangeAspect="1"/>
          </p:cNvPicPr>
          <p:nvPr/>
        </p:nvPicPr>
        <p:blipFill>
          <a:blip r:embed="rId3"/>
          <a:stretch>
            <a:fillRect/>
          </a:stretch>
        </p:blipFill>
        <p:spPr>
          <a:xfrm>
            <a:off x="1063487" y="1168259"/>
            <a:ext cx="9584473" cy="4764046"/>
          </a:xfrm>
          <a:prstGeom prst="rect">
            <a:avLst/>
          </a:prstGeom>
        </p:spPr>
      </p:pic>
      <p:sp>
        <p:nvSpPr>
          <p:cNvPr id="7" name="文本框 6">
            <a:extLst>
              <a:ext uri="{FF2B5EF4-FFF2-40B4-BE49-F238E27FC236}">
                <a16:creationId xmlns:a16="http://schemas.microsoft.com/office/drawing/2014/main" id="{DF76C62E-752E-E86E-0548-7CDA713B708E}"/>
              </a:ext>
            </a:extLst>
          </p:cNvPr>
          <p:cNvSpPr txBox="1"/>
          <p:nvPr/>
        </p:nvSpPr>
        <p:spPr>
          <a:xfrm>
            <a:off x="2545917" y="6184763"/>
            <a:ext cx="7100165" cy="738664"/>
          </a:xfrm>
          <a:prstGeom prst="rect">
            <a:avLst/>
          </a:prstGeom>
          <a:noFill/>
        </p:spPr>
        <p:txBody>
          <a:bodyPr wrap="square" rtlCol="0">
            <a:spAutoFit/>
          </a:bodyPr>
          <a:lstStyle/>
          <a:p>
            <a:pPr algn="ctr"/>
            <a:r>
              <a:rPr kumimoji="1" lang="en-US" altLang="zh-CN" sz="1200" dirty="0">
                <a:solidFill>
                  <a:schemeClr val="bg2">
                    <a:lumMod val="75000"/>
                  </a:schemeClr>
                </a:solidFill>
              </a:rPr>
              <a:t>A SURVEY OF SELF-EVOLVING AGENTS: ON PATH TO  ARTIFICIAL SUPER INTELLIGENCE</a:t>
            </a:r>
          </a:p>
          <a:p>
            <a:pPr algn="ctr"/>
            <a:r>
              <a:rPr kumimoji="1" lang="en-US" altLang="zh-CN" sz="1200" dirty="0">
                <a:solidFill>
                  <a:schemeClr val="bg2">
                    <a:lumMod val="75000"/>
                  </a:schemeClr>
                </a:solidFill>
              </a:rPr>
              <a:t>[Gao et. al, 2025]</a:t>
            </a:r>
          </a:p>
          <a:p>
            <a:endParaRPr kumimoji="1" lang="zh-CN" altLang="en-US" dirty="0"/>
          </a:p>
        </p:txBody>
      </p:sp>
    </p:spTree>
    <p:extLst>
      <p:ext uri="{BB962C8B-B14F-4D97-AF65-F5344CB8AC3E}">
        <p14:creationId xmlns:p14="http://schemas.microsoft.com/office/powerpoint/2010/main" val="32773731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DF165-B677-5C3E-1E41-2D9F55C00325}"/>
            </a:ext>
          </a:extLst>
        </p:cNvPr>
        <p:cNvGrpSpPr/>
        <p:nvPr/>
      </p:nvGrpSpPr>
      <p:grpSpPr>
        <a:xfrm>
          <a:off x="0" y="0"/>
          <a:ext cx="0" cy="0"/>
          <a:chOff x="0" y="0"/>
          <a:chExt cx="0" cy="0"/>
        </a:xfrm>
      </p:grpSpPr>
      <p:sp>
        <p:nvSpPr>
          <p:cNvPr id="3" name="副标题 2">
            <a:extLst>
              <a:ext uri="{FF2B5EF4-FFF2-40B4-BE49-F238E27FC236}">
                <a16:creationId xmlns:a16="http://schemas.microsoft.com/office/drawing/2014/main" id="{1F223E5D-6E3B-0DB4-EACF-1581B1D8F182}"/>
              </a:ext>
            </a:extLst>
          </p:cNvPr>
          <p:cNvSpPr>
            <a:spLocks noGrp="1"/>
          </p:cNvSpPr>
          <p:nvPr>
            <p:ph type="subTitle" idx="1"/>
          </p:nvPr>
        </p:nvSpPr>
        <p:spPr/>
        <p:txBody>
          <a:bodyPr/>
          <a:lstStyle/>
          <a:p>
            <a:endParaRPr kumimoji="1" lang="zh-CN" altLang="en-US" dirty="0"/>
          </a:p>
        </p:txBody>
      </p:sp>
      <p:sp>
        <p:nvSpPr>
          <p:cNvPr id="4" name="日期占位符 3">
            <a:extLst>
              <a:ext uri="{FF2B5EF4-FFF2-40B4-BE49-F238E27FC236}">
                <a16:creationId xmlns:a16="http://schemas.microsoft.com/office/drawing/2014/main" id="{F58D6DD9-B34E-4043-8BEC-3013CE2B62E2}"/>
              </a:ext>
            </a:extLst>
          </p:cNvPr>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a:extLst>
              <a:ext uri="{FF2B5EF4-FFF2-40B4-BE49-F238E27FC236}">
                <a16:creationId xmlns:a16="http://schemas.microsoft.com/office/drawing/2014/main" id="{62D069EF-151B-D2B8-178E-93C4671026BE}"/>
              </a:ext>
            </a:extLst>
          </p:cNvPr>
          <p:cNvSpPr>
            <a:spLocks noGrp="1"/>
          </p:cNvSpPr>
          <p:nvPr>
            <p:ph type="sldNum" sz="quarter" idx="12"/>
          </p:nvPr>
        </p:nvSpPr>
        <p:spPr/>
        <p:txBody>
          <a:bodyPr/>
          <a:lstStyle/>
          <a:p>
            <a:fld id="{24F01846-2DA3-FB44-9D89-19679C480714}" type="slidenum">
              <a:rPr kumimoji="1" lang="zh-CN" altLang="en-US" smtClean="0"/>
              <a:t>25</a:t>
            </a:fld>
            <a:endParaRPr kumimoji="1" lang="zh-CN" altLang="en-US" dirty="0"/>
          </a:p>
        </p:txBody>
      </p:sp>
      <p:sp>
        <p:nvSpPr>
          <p:cNvPr id="7" name="文本框 6">
            <a:extLst>
              <a:ext uri="{FF2B5EF4-FFF2-40B4-BE49-F238E27FC236}">
                <a16:creationId xmlns:a16="http://schemas.microsoft.com/office/drawing/2014/main" id="{C0E0AD76-3003-3D5A-8116-86ED6B1FCF7E}"/>
              </a:ext>
            </a:extLst>
          </p:cNvPr>
          <p:cNvSpPr txBox="1"/>
          <p:nvPr/>
        </p:nvSpPr>
        <p:spPr>
          <a:xfrm>
            <a:off x="2545917" y="6184763"/>
            <a:ext cx="7100165" cy="738664"/>
          </a:xfrm>
          <a:prstGeom prst="rect">
            <a:avLst/>
          </a:prstGeom>
          <a:noFill/>
        </p:spPr>
        <p:txBody>
          <a:bodyPr wrap="square" rtlCol="0">
            <a:spAutoFit/>
          </a:bodyPr>
          <a:lstStyle/>
          <a:p>
            <a:pPr algn="ctr"/>
            <a:r>
              <a:rPr kumimoji="1" lang="en-US" altLang="zh-CN" sz="1200" dirty="0">
                <a:solidFill>
                  <a:schemeClr val="bg2">
                    <a:lumMod val="75000"/>
                  </a:schemeClr>
                </a:solidFill>
              </a:rPr>
              <a:t>A Comprehensive Survey of Self-Evolving AI Agents</a:t>
            </a:r>
          </a:p>
          <a:p>
            <a:pPr algn="ctr"/>
            <a:r>
              <a:rPr kumimoji="1" lang="en-US" altLang="zh-CN" sz="1200" dirty="0">
                <a:solidFill>
                  <a:schemeClr val="bg2">
                    <a:lumMod val="75000"/>
                  </a:schemeClr>
                </a:solidFill>
              </a:rPr>
              <a:t>[Fang et. al, 2025]</a:t>
            </a:r>
          </a:p>
          <a:p>
            <a:endParaRPr kumimoji="1" lang="zh-CN" altLang="en-US" dirty="0"/>
          </a:p>
        </p:txBody>
      </p:sp>
      <p:pic>
        <p:nvPicPr>
          <p:cNvPr id="8" name="图片 7">
            <a:extLst>
              <a:ext uri="{FF2B5EF4-FFF2-40B4-BE49-F238E27FC236}">
                <a16:creationId xmlns:a16="http://schemas.microsoft.com/office/drawing/2014/main" id="{20B6613A-5EC6-0DD5-DC17-061DB799382C}"/>
              </a:ext>
            </a:extLst>
          </p:cNvPr>
          <p:cNvPicPr>
            <a:picLocks noChangeAspect="1"/>
          </p:cNvPicPr>
          <p:nvPr/>
        </p:nvPicPr>
        <p:blipFill>
          <a:blip r:embed="rId3"/>
          <a:stretch>
            <a:fillRect/>
          </a:stretch>
        </p:blipFill>
        <p:spPr>
          <a:xfrm>
            <a:off x="1628355" y="1150315"/>
            <a:ext cx="8123158" cy="4892676"/>
          </a:xfrm>
          <a:prstGeom prst="rect">
            <a:avLst/>
          </a:prstGeom>
        </p:spPr>
      </p:pic>
      <p:sp>
        <p:nvSpPr>
          <p:cNvPr id="12" name="标题 1">
            <a:extLst>
              <a:ext uri="{FF2B5EF4-FFF2-40B4-BE49-F238E27FC236}">
                <a16:creationId xmlns:a16="http://schemas.microsoft.com/office/drawing/2014/main" id="{EBC740E4-9D97-96B3-9771-CA6D5349A656}"/>
              </a:ext>
            </a:extLst>
          </p:cNvPr>
          <p:cNvSpPr>
            <a:spLocks noGrp="1"/>
          </p:cNvSpPr>
          <p:nvPr>
            <p:ph type="ctrTitle"/>
          </p:nvPr>
        </p:nvSpPr>
        <p:spPr>
          <a:xfrm>
            <a:off x="267006" y="340552"/>
            <a:ext cx="11657986" cy="622993"/>
          </a:xfrm>
        </p:spPr>
        <p:txBody>
          <a:bodyPr>
            <a:normAutofit fontScale="90000"/>
          </a:bodyPr>
          <a:lstStyle/>
          <a:p>
            <a:r>
              <a:rPr kumimoji="1" lang="en-US" altLang="zh-CN" dirty="0"/>
              <a:t>Perspective 2: </a:t>
            </a:r>
            <a:r>
              <a:rPr kumimoji="1" lang="en-US" altLang="zh-CN" u="sng" dirty="0"/>
              <a:t>mid and post-training</a:t>
            </a:r>
            <a:r>
              <a:rPr kumimoji="1" lang="en-US" altLang="zh-CN" dirty="0"/>
              <a:t> &amp; </a:t>
            </a:r>
            <a:r>
              <a:rPr kumimoji="1" lang="en-US" altLang="zh-CN" u="sng" dirty="0"/>
              <a:t>Agent scaffold components</a:t>
            </a:r>
            <a:r>
              <a:rPr kumimoji="1" lang="en-US" altLang="zh-CN" dirty="0"/>
              <a:t> for </a:t>
            </a:r>
            <a:r>
              <a:rPr kumimoji="1" lang="en-US" altLang="zh-CN" dirty="0">
                <a:solidFill>
                  <a:srgbClr val="C00000"/>
                </a:solidFill>
              </a:rPr>
              <a:t>adaptation  </a:t>
            </a:r>
            <a:endParaRPr kumimoji="1" lang="zh-CN" altLang="en-US" dirty="0">
              <a:solidFill>
                <a:srgbClr val="C00000"/>
              </a:solidFill>
            </a:endParaRPr>
          </a:p>
        </p:txBody>
      </p:sp>
    </p:spTree>
    <p:extLst>
      <p:ext uri="{BB962C8B-B14F-4D97-AF65-F5344CB8AC3E}">
        <p14:creationId xmlns:p14="http://schemas.microsoft.com/office/powerpoint/2010/main" val="2975937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77702-3EE7-D3D3-3894-F8DCEB8A001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650171F-FB91-C8F1-EE8F-6A69A8CC2FD0}"/>
              </a:ext>
            </a:extLst>
          </p:cNvPr>
          <p:cNvSpPr>
            <a:spLocks noGrp="1"/>
          </p:cNvSpPr>
          <p:nvPr>
            <p:ph type="ctrTitle"/>
          </p:nvPr>
        </p:nvSpPr>
        <p:spPr>
          <a:xfrm>
            <a:off x="251792" y="340553"/>
            <a:ext cx="11575772" cy="847273"/>
          </a:xfrm>
        </p:spPr>
        <p:txBody>
          <a:bodyPr>
            <a:noAutofit/>
          </a:bodyPr>
          <a:lstStyle/>
          <a:p>
            <a:r>
              <a:rPr lang="en-US" altLang="zh-CN" dirty="0"/>
              <a:t>Look Ahead: Can AI self-evolve to be </a:t>
            </a:r>
            <a:r>
              <a:rPr lang="en-US" altLang="zh-CN" i="1" dirty="0"/>
              <a:t>really</a:t>
            </a:r>
            <a:r>
              <a:rPr lang="en-US" altLang="zh-CN" dirty="0"/>
              <a:t> stronger than its creator?</a:t>
            </a:r>
            <a:br>
              <a:rPr lang="en-US" altLang="zh-CN" dirty="0"/>
            </a:br>
            <a:endParaRPr kumimoji="1" lang="zh-CN" altLang="en-US" dirty="0"/>
          </a:p>
        </p:txBody>
      </p:sp>
      <p:sp>
        <p:nvSpPr>
          <p:cNvPr id="4" name="日期占位符 3">
            <a:extLst>
              <a:ext uri="{FF2B5EF4-FFF2-40B4-BE49-F238E27FC236}">
                <a16:creationId xmlns:a16="http://schemas.microsoft.com/office/drawing/2014/main" id="{45F85BD3-B011-7C76-C9FF-202136190176}"/>
              </a:ext>
            </a:extLst>
          </p:cNvPr>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a:extLst>
              <a:ext uri="{FF2B5EF4-FFF2-40B4-BE49-F238E27FC236}">
                <a16:creationId xmlns:a16="http://schemas.microsoft.com/office/drawing/2014/main" id="{FCB75EFE-2220-2721-80E1-7B7B37993442}"/>
              </a:ext>
            </a:extLst>
          </p:cNvPr>
          <p:cNvSpPr>
            <a:spLocks noGrp="1"/>
          </p:cNvSpPr>
          <p:nvPr>
            <p:ph type="sldNum" sz="quarter" idx="12"/>
          </p:nvPr>
        </p:nvSpPr>
        <p:spPr/>
        <p:txBody>
          <a:bodyPr/>
          <a:lstStyle/>
          <a:p>
            <a:fld id="{24F01846-2DA3-FB44-9D89-19679C480714}" type="slidenum">
              <a:rPr kumimoji="1" lang="zh-CN" altLang="en-US" smtClean="0"/>
              <a:t>26</a:t>
            </a:fld>
            <a:endParaRPr kumimoji="1" lang="zh-CN" altLang="en-US" dirty="0"/>
          </a:p>
        </p:txBody>
      </p:sp>
      <p:sp>
        <p:nvSpPr>
          <p:cNvPr id="8" name="副标题 2">
            <a:extLst>
              <a:ext uri="{FF2B5EF4-FFF2-40B4-BE49-F238E27FC236}">
                <a16:creationId xmlns:a16="http://schemas.microsoft.com/office/drawing/2014/main" id="{AB7214CC-DFE3-8948-2E40-98EF8A2F99AE}"/>
              </a:ext>
            </a:extLst>
          </p:cNvPr>
          <p:cNvSpPr txBox="1">
            <a:spLocks/>
          </p:cNvSpPr>
          <p:nvPr/>
        </p:nvSpPr>
        <p:spPr>
          <a:xfrm>
            <a:off x="308112" y="691563"/>
            <a:ext cx="11575773" cy="475090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endParaRPr kumimoji="1" lang="zh-CN" altLang="en-US" dirty="0"/>
          </a:p>
        </p:txBody>
      </p:sp>
      <p:pic>
        <p:nvPicPr>
          <p:cNvPr id="11" name="图片 10">
            <a:extLst>
              <a:ext uri="{FF2B5EF4-FFF2-40B4-BE49-F238E27FC236}">
                <a16:creationId xmlns:a16="http://schemas.microsoft.com/office/drawing/2014/main" id="{A9A39F31-2857-5656-4596-A8E9C823ECD2}"/>
              </a:ext>
            </a:extLst>
          </p:cNvPr>
          <p:cNvPicPr>
            <a:picLocks noChangeAspect="1"/>
          </p:cNvPicPr>
          <p:nvPr/>
        </p:nvPicPr>
        <p:blipFill>
          <a:blip r:embed="rId2"/>
          <a:stretch>
            <a:fillRect/>
          </a:stretch>
        </p:blipFill>
        <p:spPr>
          <a:xfrm>
            <a:off x="971044" y="1086800"/>
            <a:ext cx="4408854" cy="1115934"/>
          </a:xfrm>
          <a:prstGeom prst="rect">
            <a:avLst/>
          </a:prstGeom>
        </p:spPr>
      </p:pic>
      <p:pic>
        <p:nvPicPr>
          <p:cNvPr id="12" name="图片 11">
            <a:extLst>
              <a:ext uri="{FF2B5EF4-FFF2-40B4-BE49-F238E27FC236}">
                <a16:creationId xmlns:a16="http://schemas.microsoft.com/office/drawing/2014/main" id="{EE67D17D-A4C0-001F-6F88-62E060D8EF0C}"/>
              </a:ext>
            </a:extLst>
          </p:cNvPr>
          <p:cNvPicPr>
            <a:picLocks noChangeAspect="1"/>
          </p:cNvPicPr>
          <p:nvPr/>
        </p:nvPicPr>
        <p:blipFill>
          <a:blip r:embed="rId3"/>
          <a:stretch>
            <a:fillRect/>
          </a:stretch>
        </p:blipFill>
        <p:spPr>
          <a:xfrm>
            <a:off x="911811" y="2676676"/>
            <a:ext cx="4686503" cy="1434866"/>
          </a:xfrm>
          <a:prstGeom prst="rect">
            <a:avLst/>
          </a:prstGeom>
        </p:spPr>
      </p:pic>
      <p:pic>
        <p:nvPicPr>
          <p:cNvPr id="13" name="图片 12">
            <a:extLst>
              <a:ext uri="{FF2B5EF4-FFF2-40B4-BE49-F238E27FC236}">
                <a16:creationId xmlns:a16="http://schemas.microsoft.com/office/drawing/2014/main" id="{64A1C6DD-AA4B-8B4F-C68B-434445D5FA2E}"/>
              </a:ext>
            </a:extLst>
          </p:cNvPr>
          <p:cNvPicPr>
            <a:picLocks noChangeAspect="1"/>
          </p:cNvPicPr>
          <p:nvPr/>
        </p:nvPicPr>
        <p:blipFill>
          <a:blip r:embed="rId4"/>
          <a:stretch>
            <a:fillRect/>
          </a:stretch>
        </p:blipFill>
        <p:spPr>
          <a:xfrm>
            <a:off x="6151075" y="1493328"/>
            <a:ext cx="5772448" cy="1573687"/>
          </a:xfrm>
          <a:prstGeom prst="rect">
            <a:avLst/>
          </a:prstGeom>
        </p:spPr>
      </p:pic>
      <p:pic>
        <p:nvPicPr>
          <p:cNvPr id="14" name="图片 13">
            <a:extLst>
              <a:ext uri="{FF2B5EF4-FFF2-40B4-BE49-F238E27FC236}">
                <a16:creationId xmlns:a16="http://schemas.microsoft.com/office/drawing/2014/main" id="{CA0BC623-B169-4EDD-5A9F-C3024EABA190}"/>
              </a:ext>
            </a:extLst>
          </p:cNvPr>
          <p:cNvPicPr>
            <a:picLocks noChangeAspect="1"/>
          </p:cNvPicPr>
          <p:nvPr/>
        </p:nvPicPr>
        <p:blipFill>
          <a:blip r:embed="rId5"/>
          <a:stretch>
            <a:fillRect/>
          </a:stretch>
        </p:blipFill>
        <p:spPr>
          <a:xfrm>
            <a:off x="6794410" y="3681895"/>
            <a:ext cx="4485779" cy="1927907"/>
          </a:xfrm>
          <a:prstGeom prst="rect">
            <a:avLst/>
          </a:prstGeom>
        </p:spPr>
      </p:pic>
      <p:pic>
        <p:nvPicPr>
          <p:cNvPr id="3" name="图片 2">
            <a:extLst>
              <a:ext uri="{FF2B5EF4-FFF2-40B4-BE49-F238E27FC236}">
                <a16:creationId xmlns:a16="http://schemas.microsoft.com/office/drawing/2014/main" id="{6056F8CD-433B-8EA9-208E-7D20782388A6}"/>
              </a:ext>
            </a:extLst>
          </p:cNvPr>
          <p:cNvPicPr>
            <a:picLocks noChangeAspect="1"/>
          </p:cNvPicPr>
          <p:nvPr/>
        </p:nvPicPr>
        <p:blipFill>
          <a:blip r:embed="rId6"/>
          <a:stretch>
            <a:fillRect/>
          </a:stretch>
        </p:blipFill>
        <p:spPr>
          <a:xfrm>
            <a:off x="1109450" y="4537901"/>
            <a:ext cx="4223346" cy="724533"/>
          </a:xfrm>
          <a:prstGeom prst="rect">
            <a:avLst/>
          </a:prstGeom>
        </p:spPr>
      </p:pic>
      <p:pic>
        <p:nvPicPr>
          <p:cNvPr id="6" name="图片 5">
            <a:extLst>
              <a:ext uri="{FF2B5EF4-FFF2-40B4-BE49-F238E27FC236}">
                <a16:creationId xmlns:a16="http://schemas.microsoft.com/office/drawing/2014/main" id="{9FAE36DE-BA57-A385-FDEE-C0FAD6F15076}"/>
              </a:ext>
            </a:extLst>
          </p:cNvPr>
          <p:cNvPicPr>
            <a:picLocks noChangeAspect="1"/>
          </p:cNvPicPr>
          <p:nvPr/>
        </p:nvPicPr>
        <p:blipFill>
          <a:blip r:embed="rId7"/>
          <a:stretch>
            <a:fillRect/>
          </a:stretch>
        </p:blipFill>
        <p:spPr>
          <a:xfrm>
            <a:off x="971044" y="5312218"/>
            <a:ext cx="4500158" cy="694848"/>
          </a:xfrm>
          <a:prstGeom prst="rect">
            <a:avLst/>
          </a:prstGeom>
        </p:spPr>
      </p:pic>
    </p:spTree>
    <p:extLst>
      <p:ext uri="{BB962C8B-B14F-4D97-AF65-F5344CB8AC3E}">
        <p14:creationId xmlns:p14="http://schemas.microsoft.com/office/powerpoint/2010/main" val="1115406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CEAC0-7432-69A8-D964-90B8D715CC3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4A0B3BA-60F4-E876-0245-8792A56F95DF}"/>
              </a:ext>
            </a:extLst>
          </p:cNvPr>
          <p:cNvSpPr>
            <a:spLocks noGrp="1"/>
          </p:cNvSpPr>
          <p:nvPr>
            <p:ph type="ctrTitle"/>
          </p:nvPr>
        </p:nvSpPr>
        <p:spPr>
          <a:xfrm>
            <a:off x="251792" y="340553"/>
            <a:ext cx="11575772" cy="847273"/>
          </a:xfrm>
        </p:spPr>
        <p:txBody>
          <a:bodyPr>
            <a:noAutofit/>
          </a:bodyPr>
          <a:lstStyle/>
          <a:p>
            <a:r>
              <a:rPr lang="en-US" altLang="zh-CN" dirty="0"/>
              <a:t>Look Ahead: Can AI self-evolve to be </a:t>
            </a:r>
            <a:r>
              <a:rPr lang="en-US" altLang="zh-CN" i="1" dirty="0"/>
              <a:t>really</a:t>
            </a:r>
            <a:r>
              <a:rPr lang="en-US" altLang="zh-CN" dirty="0"/>
              <a:t> stronger than its creator?</a:t>
            </a:r>
            <a:br>
              <a:rPr lang="en-US" altLang="zh-CN" dirty="0"/>
            </a:br>
            <a:endParaRPr kumimoji="1" lang="zh-CN" altLang="en-US" dirty="0"/>
          </a:p>
        </p:txBody>
      </p:sp>
      <p:sp>
        <p:nvSpPr>
          <p:cNvPr id="3" name="副标题 2">
            <a:extLst>
              <a:ext uri="{FF2B5EF4-FFF2-40B4-BE49-F238E27FC236}">
                <a16:creationId xmlns:a16="http://schemas.microsoft.com/office/drawing/2014/main" id="{5066F938-016C-9378-8B72-0EA0B6871226}"/>
              </a:ext>
            </a:extLst>
          </p:cNvPr>
          <p:cNvSpPr>
            <a:spLocks noGrp="1"/>
          </p:cNvSpPr>
          <p:nvPr>
            <p:ph type="subTitle" idx="1"/>
          </p:nvPr>
        </p:nvSpPr>
        <p:spPr>
          <a:xfrm>
            <a:off x="308111" y="3884414"/>
            <a:ext cx="11575773" cy="4750904"/>
          </a:xfrm>
        </p:spPr>
        <p:txBody>
          <a:bodyPr/>
          <a:lstStyle/>
          <a:p>
            <a:pPr marL="342900" indent="-342900">
              <a:lnSpc>
                <a:spcPct val="150000"/>
              </a:lnSpc>
              <a:buFont typeface="Arial" panose="020B0604020202020204" pitchFamily="34" charset="0"/>
              <a:buChar char="•"/>
            </a:pPr>
            <a:r>
              <a:rPr lang="en-US" altLang="zh-CN" sz="2000" dirty="0"/>
              <a:t>A theory can evolve and can mutate. It has a life of their own. </a:t>
            </a:r>
          </a:p>
          <a:p>
            <a:pPr marL="342900" indent="-342900">
              <a:lnSpc>
                <a:spcPct val="150000"/>
              </a:lnSpc>
              <a:buFont typeface="Arial" panose="020B0604020202020204" pitchFamily="34" charset="0"/>
              <a:buChar char="•"/>
            </a:pPr>
            <a:r>
              <a:rPr lang="en-US" altLang="zh-CN" sz="2000" dirty="0"/>
              <a:t>Einstein created the field equations that is smarter than himself. </a:t>
            </a:r>
          </a:p>
          <a:p>
            <a:pPr marL="342900" indent="-342900">
              <a:lnSpc>
                <a:spcPct val="150000"/>
              </a:lnSpc>
              <a:buFont typeface="Arial" panose="020B0604020202020204" pitchFamily="34" charset="0"/>
              <a:buChar char="•"/>
            </a:pPr>
            <a:r>
              <a:rPr lang="en-US" altLang="zh-CN" sz="2000" dirty="0"/>
              <a:t>By analogy, humans can create AI that is smarter than humans themselves.</a:t>
            </a:r>
          </a:p>
          <a:p>
            <a:endParaRPr kumimoji="1" lang="zh-CN" altLang="en-US" dirty="0"/>
          </a:p>
        </p:txBody>
      </p:sp>
      <p:sp>
        <p:nvSpPr>
          <p:cNvPr id="4" name="日期占位符 3">
            <a:extLst>
              <a:ext uri="{FF2B5EF4-FFF2-40B4-BE49-F238E27FC236}">
                <a16:creationId xmlns:a16="http://schemas.microsoft.com/office/drawing/2014/main" id="{D72E3188-84CF-1809-ED01-5F191E7D272C}"/>
              </a:ext>
            </a:extLst>
          </p:cNvPr>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a:extLst>
              <a:ext uri="{FF2B5EF4-FFF2-40B4-BE49-F238E27FC236}">
                <a16:creationId xmlns:a16="http://schemas.microsoft.com/office/drawing/2014/main" id="{49515CB7-A187-AB6A-63B5-A02B14E9B629}"/>
              </a:ext>
            </a:extLst>
          </p:cNvPr>
          <p:cNvSpPr>
            <a:spLocks noGrp="1"/>
          </p:cNvSpPr>
          <p:nvPr>
            <p:ph type="sldNum" sz="quarter" idx="12"/>
          </p:nvPr>
        </p:nvSpPr>
        <p:spPr/>
        <p:txBody>
          <a:bodyPr/>
          <a:lstStyle/>
          <a:p>
            <a:fld id="{24F01846-2DA3-FB44-9D89-19679C480714}" type="slidenum">
              <a:rPr kumimoji="1" lang="zh-CN" altLang="en-US" smtClean="0"/>
              <a:t>27</a:t>
            </a:fld>
            <a:endParaRPr kumimoji="1" lang="zh-CN" altLang="en-US" dirty="0"/>
          </a:p>
        </p:txBody>
      </p:sp>
      <p:pic>
        <p:nvPicPr>
          <p:cNvPr id="6" name="图片 5">
            <a:extLst>
              <a:ext uri="{FF2B5EF4-FFF2-40B4-BE49-F238E27FC236}">
                <a16:creationId xmlns:a16="http://schemas.microsoft.com/office/drawing/2014/main" id="{C3576A81-9A6D-A722-0613-2FFF8E8A0797}"/>
              </a:ext>
            </a:extLst>
          </p:cNvPr>
          <p:cNvPicPr>
            <a:picLocks noChangeAspect="1"/>
          </p:cNvPicPr>
          <p:nvPr/>
        </p:nvPicPr>
        <p:blipFill>
          <a:blip r:embed="rId3"/>
          <a:stretch>
            <a:fillRect/>
          </a:stretch>
        </p:blipFill>
        <p:spPr>
          <a:xfrm>
            <a:off x="3016534" y="1415533"/>
            <a:ext cx="5540944" cy="2241174"/>
          </a:xfrm>
          <a:prstGeom prst="rect">
            <a:avLst/>
          </a:prstGeom>
        </p:spPr>
      </p:pic>
      <p:sp>
        <p:nvSpPr>
          <p:cNvPr id="7" name="文本框 6">
            <a:extLst>
              <a:ext uri="{FF2B5EF4-FFF2-40B4-BE49-F238E27FC236}">
                <a16:creationId xmlns:a16="http://schemas.microsoft.com/office/drawing/2014/main" id="{2F4F26F0-CE6F-54BB-52F5-95DE94645727}"/>
              </a:ext>
            </a:extLst>
          </p:cNvPr>
          <p:cNvSpPr txBox="1"/>
          <p:nvPr/>
        </p:nvSpPr>
        <p:spPr>
          <a:xfrm>
            <a:off x="2505522" y="5793477"/>
            <a:ext cx="7068312" cy="1292662"/>
          </a:xfrm>
          <a:prstGeom prst="rect">
            <a:avLst/>
          </a:prstGeom>
          <a:noFill/>
        </p:spPr>
        <p:txBody>
          <a:bodyPr wrap="square" rtlCol="0">
            <a:spAutoFit/>
          </a:bodyPr>
          <a:lstStyle/>
          <a:p>
            <a:pPr algn="ctr"/>
            <a:r>
              <a:rPr lang="en-US" altLang="zh-CN" b="1" i="1" dirty="0"/>
              <a:t>The moment the theory is created, it is above its creator.</a:t>
            </a:r>
          </a:p>
          <a:p>
            <a:pPr algn="ctr"/>
            <a:r>
              <a:rPr lang="en-US" altLang="zh-CN" sz="2400" b="1" i="1" dirty="0"/>
              <a:t>Think Boldly, Act Bravely</a:t>
            </a:r>
          </a:p>
          <a:p>
            <a:endParaRPr lang="en-US" altLang="zh-CN" dirty="0"/>
          </a:p>
          <a:p>
            <a:endParaRPr kumimoji="1" lang="zh-CN" altLang="en-US" dirty="0"/>
          </a:p>
        </p:txBody>
      </p:sp>
      <p:sp>
        <p:nvSpPr>
          <p:cNvPr id="8" name="副标题 2">
            <a:extLst>
              <a:ext uri="{FF2B5EF4-FFF2-40B4-BE49-F238E27FC236}">
                <a16:creationId xmlns:a16="http://schemas.microsoft.com/office/drawing/2014/main" id="{65050677-835D-6826-DAFE-3007142B2EDA}"/>
              </a:ext>
            </a:extLst>
          </p:cNvPr>
          <p:cNvSpPr txBox="1">
            <a:spLocks/>
          </p:cNvSpPr>
          <p:nvPr/>
        </p:nvSpPr>
        <p:spPr>
          <a:xfrm>
            <a:off x="308112" y="691563"/>
            <a:ext cx="11575773" cy="475090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marL="342900" indent="-342900">
              <a:lnSpc>
                <a:spcPct val="150000"/>
              </a:lnSpc>
              <a:buFont typeface="Arial" panose="020B0604020202020204" pitchFamily="34" charset="0"/>
              <a:buChar char="•"/>
            </a:pPr>
            <a:r>
              <a:rPr lang="en-US" altLang="zh-CN" sz="2000" dirty="0"/>
              <a:t>At present, the underlying technologies for neither perspective have completely hit the mark.</a:t>
            </a:r>
            <a:endParaRPr lang="en-US" altLang="zh-CN" sz="1800" dirty="0"/>
          </a:p>
          <a:p>
            <a:endParaRPr kumimoji="1" lang="zh-CN" altLang="en-US" dirty="0"/>
          </a:p>
        </p:txBody>
      </p:sp>
    </p:spTree>
    <p:extLst>
      <p:ext uri="{BB962C8B-B14F-4D97-AF65-F5344CB8AC3E}">
        <p14:creationId xmlns:p14="http://schemas.microsoft.com/office/powerpoint/2010/main" val="31721780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C205C-FCD7-3BF9-4922-00244F8A1BA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E146027-56B4-586D-D717-BC3D0699C62F}"/>
              </a:ext>
            </a:extLst>
          </p:cNvPr>
          <p:cNvSpPr>
            <a:spLocks noGrp="1"/>
          </p:cNvSpPr>
          <p:nvPr>
            <p:ph type="ctrTitle"/>
          </p:nvPr>
        </p:nvSpPr>
        <p:spPr/>
        <p:txBody>
          <a:bodyPr>
            <a:normAutofit/>
          </a:bodyPr>
          <a:lstStyle/>
          <a:p>
            <a:r>
              <a:rPr kumimoji="1" lang="en-US" altLang="zh-CN" dirty="0"/>
              <a:t>References: </a:t>
            </a:r>
            <a:endParaRPr kumimoji="1" lang="zh-CN" altLang="en-US" dirty="0"/>
          </a:p>
        </p:txBody>
      </p:sp>
      <p:sp>
        <p:nvSpPr>
          <p:cNvPr id="3" name="副标题 2">
            <a:extLst>
              <a:ext uri="{FF2B5EF4-FFF2-40B4-BE49-F238E27FC236}">
                <a16:creationId xmlns:a16="http://schemas.microsoft.com/office/drawing/2014/main" id="{8E7DED9F-C5EE-218D-C9C1-00CEB4386FDD}"/>
              </a:ext>
            </a:extLst>
          </p:cNvPr>
          <p:cNvSpPr>
            <a:spLocks noGrp="1"/>
          </p:cNvSpPr>
          <p:nvPr>
            <p:ph type="subTitle" idx="1"/>
          </p:nvPr>
        </p:nvSpPr>
        <p:spPr>
          <a:xfrm>
            <a:off x="308113" y="1090195"/>
            <a:ext cx="11575773" cy="5463900"/>
          </a:xfrm>
        </p:spPr>
        <p:txBody>
          <a:bodyPr>
            <a:normAutofit fontScale="47500" lnSpcReduction="20000"/>
          </a:bodyPr>
          <a:lstStyle/>
          <a:p>
            <a:pPr marL="457200" indent="-457200">
              <a:lnSpc>
                <a:spcPct val="130000"/>
              </a:lnSpc>
              <a:buAutoNum type="arabicPeriod"/>
            </a:pPr>
            <a:r>
              <a:rPr kumimoji="1" lang="en-US" altLang="zh-CN" sz="2500" dirty="0"/>
              <a:t>Agentic AI, UC Berkeley, </a:t>
            </a:r>
            <a:r>
              <a:rPr kumimoji="1" lang="en-US" altLang="zh-CN" sz="2500" dirty="0">
                <a:hlinkClick r:id="rId2"/>
              </a:rPr>
              <a:t>https://agenticai-learning.org/f25</a:t>
            </a:r>
            <a:endParaRPr kumimoji="1" lang="en-US" altLang="zh-CN" sz="2500" dirty="0"/>
          </a:p>
          <a:p>
            <a:pPr marL="457200" indent="-457200">
              <a:lnSpc>
                <a:spcPct val="130000"/>
              </a:lnSpc>
              <a:buAutoNum type="arabicPeriod"/>
            </a:pPr>
            <a:r>
              <a:rPr kumimoji="1" lang="en-US" altLang="zh-CN" sz="2500" dirty="0"/>
              <a:t>Advanced Large Language Model Agents, UC Berkeley, </a:t>
            </a:r>
            <a:r>
              <a:rPr kumimoji="1" lang="en-US" altLang="zh-CN" sz="2500" dirty="0">
                <a:hlinkClick r:id="rId3"/>
              </a:rPr>
              <a:t>https://agenticai-learning.org/sp25</a:t>
            </a:r>
            <a:endParaRPr kumimoji="1" lang="en-US" altLang="zh-CN" sz="2500" dirty="0"/>
          </a:p>
          <a:p>
            <a:pPr marL="457200" indent="-457200">
              <a:lnSpc>
                <a:spcPct val="130000"/>
              </a:lnSpc>
              <a:buAutoNum type="arabicPeriod"/>
            </a:pPr>
            <a:r>
              <a:rPr kumimoji="1" lang="en-US" altLang="zh-CN" sz="2500" dirty="0"/>
              <a:t>Continually self-improving AI, Zitong Yang, </a:t>
            </a:r>
            <a:r>
              <a:rPr kumimoji="1" lang="en-US" altLang="zh-CN" sz="2500"/>
              <a:t>Stanford University</a:t>
            </a:r>
            <a:endParaRPr kumimoji="1" lang="en-US" altLang="zh-CN" sz="2500" dirty="0"/>
          </a:p>
          <a:p>
            <a:pPr marL="457200" indent="-457200">
              <a:lnSpc>
                <a:spcPct val="130000"/>
              </a:lnSpc>
              <a:buFont typeface="Arial" panose="020B0604020202090204" pitchFamily="34" charset="0"/>
              <a:buAutoNum type="arabicPeriod"/>
            </a:pPr>
            <a:r>
              <a:rPr lang="en-US" altLang="zh-CN" sz="2500" dirty="0"/>
              <a:t>Lambert, Nathan, et al. "Tulu 3: Pushing frontiers in open language model post-training." </a:t>
            </a:r>
            <a:r>
              <a:rPr lang="en-US" altLang="zh-CN" sz="2500" i="1" dirty="0" err="1"/>
              <a:t>arXiv</a:t>
            </a:r>
            <a:r>
              <a:rPr lang="en-US" altLang="zh-CN" sz="2500" i="1" dirty="0"/>
              <a:t> preprint arXiv:2411.15124</a:t>
            </a:r>
            <a:r>
              <a:rPr lang="en-US" altLang="zh-CN" sz="2500" dirty="0"/>
              <a:t> (2024). </a:t>
            </a:r>
          </a:p>
          <a:p>
            <a:pPr marL="457200" indent="-457200">
              <a:lnSpc>
                <a:spcPct val="130000"/>
              </a:lnSpc>
              <a:buFont typeface="Arial" panose="020B0604020202090204" pitchFamily="34" charset="0"/>
              <a:buAutoNum type="arabicPeriod"/>
            </a:pPr>
            <a:r>
              <a:rPr lang="en-US" altLang="zh-CN" sz="2500" dirty="0"/>
              <a:t>Guo, Daya, et al. "Deepseek-r1: Incentivizing reasoning capability in </a:t>
            </a:r>
            <a:r>
              <a:rPr lang="en-US" altLang="zh-CN" sz="2500" dirty="0" err="1"/>
              <a:t>llms</a:t>
            </a:r>
            <a:r>
              <a:rPr lang="en-US" altLang="zh-CN" sz="2500" dirty="0"/>
              <a:t> via reinforcement learning." </a:t>
            </a:r>
            <a:r>
              <a:rPr lang="en-US" altLang="zh-CN" sz="2500" i="1" dirty="0" err="1"/>
              <a:t>arXiv</a:t>
            </a:r>
            <a:r>
              <a:rPr lang="en-US" altLang="zh-CN" sz="2500" i="1" dirty="0"/>
              <a:t> preprint arXiv:2501.12948</a:t>
            </a:r>
            <a:r>
              <a:rPr lang="en-US" altLang="zh-CN" sz="2500" dirty="0"/>
              <a:t> (2025).</a:t>
            </a:r>
          </a:p>
          <a:p>
            <a:pPr marL="457200" indent="-457200">
              <a:lnSpc>
                <a:spcPct val="130000"/>
              </a:lnSpc>
              <a:buFont typeface="Arial" panose="020B0604020202090204" pitchFamily="34" charset="0"/>
              <a:buAutoNum type="arabicPeriod"/>
            </a:pPr>
            <a:r>
              <a:rPr lang="en-US" altLang="zh-CN" sz="2500" dirty="0"/>
              <a:t>Team, Kimi, et al. "Kimi k2: Open agentic intelligence." </a:t>
            </a:r>
            <a:r>
              <a:rPr lang="en-US" altLang="zh-CN" sz="2500" i="1" dirty="0" err="1"/>
              <a:t>arXiv</a:t>
            </a:r>
            <a:r>
              <a:rPr lang="en-US" altLang="zh-CN" sz="2500" i="1" dirty="0"/>
              <a:t> preprint arXiv:2507.20534</a:t>
            </a:r>
            <a:r>
              <a:rPr lang="en-US" altLang="zh-CN" sz="2500" dirty="0"/>
              <a:t> (2025). </a:t>
            </a:r>
          </a:p>
          <a:p>
            <a:pPr marL="457200" indent="-457200">
              <a:lnSpc>
                <a:spcPct val="130000"/>
              </a:lnSpc>
              <a:buFont typeface="Arial" panose="020B0604020202090204" pitchFamily="34" charset="0"/>
              <a:buAutoNum type="arabicPeriod"/>
            </a:pPr>
            <a:r>
              <a:rPr lang="en-US" altLang="zh-CN" sz="2500" dirty="0"/>
              <a:t>Wang, Yiping, et al. "Reinforcement learning for reasoning in large language models with one training example." </a:t>
            </a:r>
            <a:r>
              <a:rPr lang="en-US" altLang="zh-CN" sz="2500" i="1" dirty="0" err="1"/>
              <a:t>arXiv</a:t>
            </a:r>
            <a:r>
              <a:rPr lang="en-US" altLang="zh-CN" sz="2500" i="1" dirty="0"/>
              <a:t> preprint arXiv:2504.20571</a:t>
            </a:r>
            <a:r>
              <a:rPr lang="en-US" altLang="zh-CN" sz="2500" dirty="0"/>
              <a:t> (2025).</a:t>
            </a:r>
          </a:p>
          <a:p>
            <a:pPr marL="457200" indent="-457200">
              <a:lnSpc>
                <a:spcPct val="130000"/>
              </a:lnSpc>
              <a:buFont typeface="Arial" panose="020B0604020202090204" pitchFamily="34" charset="0"/>
              <a:buAutoNum type="arabicPeriod"/>
            </a:pPr>
            <a:r>
              <a:rPr lang="en-US" altLang="zh-CN" sz="2500" dirty="0"/>
              <a:t>Villalobos, Pablo, et al. "Position: Will we run out of data? Limits of LLM scaling based on human-generated data." </a:t>
            </a:r>
            <a:r>
              <a:rPr lang="en-US" altLang="zh-CN" sz="2500" i="1" dirty="0"/>
              <a:t>Forty-first International Conference on Machine Learning</a:t>
            </a:r>
            <a:r>
              <a:rPr lang="en-US" altLang="zh-CN" sz="2500" dirty="0"/>
              <a:t>. 2024.</a:t>
            </a:r>
          </a:p>
          <a:p>
            <a:pPr marL="457200" indent="-457200">
              <a:lnSpc>
                <a:spcPct val="130000"/>
              </a:lnSpc>
              <a:buFont typeface="Arial" panose="020B0604020202090204" pitchFamily="34" charset="0"/>
              <a:buAutoNum type="arabicPeriod"/>
            </a:pPr>
            <a:r>
              <a:rPr lang="en-US" altLang="zh-CN" sz="2500" dirty="0" err="1"/>
              <a:t>Muennighoff</a:t>
            </a:r>
            <a:r>
              <a:rPr lang="en-US" altLang="zh-CN" sz="2500" dirty="0"/>
              <a:t>, Niklas, et al. "s1: Simple test-time scaling." </a:t>
            </a:r>
            <a:r>
              <a:rPr lang="en-US" altLang="zh-CN" sz="2500" i="1" dirty="0"/>
              <a:t>Proceedings of the 2025 Conference on Empirical Methods in Natural Language Processing</a:t>
            </a:r>
            <a:r>
              <a:rPr lang="en-US" altLang="zh-CN" sz="2500" dirty="0"/>
              <a:t>. 2025.</a:t>
            </a:r>
          </a:p>
          <a:p>
            <a:pPr marL="457200" indent="-457200">
              <a:lnSpc>
                <a:spcPct val="130000"/>
              </a:lnSpc>
              <a:buFont typeface="Arial" panose="020B0604020202090204" pitchFamily="34" charset="0"/>
              <a:buAutoNum type="arabicPeriod"/>
            </a:pPr>
            <a:r>
              <a:rPr lang="en-US" altLang="zh-CN" sz="2500" dirty="0"/>
              <a:t>Pang, Richard </a:t>
            </a:r>
            <a:r>
              <a:rPr lang="en-US" altLang="zh-CN" sz="2500" dirty="0" err="1"/>
              <a:t>Yuanzhe</a:t>
            </a:r>
            <a:r>
              <a:rPr lang="en-US" altLang="zh-CN" sz="2500" dirty="0"/>
              <a:t>, et al. "</a:t>
            </a:r>
            <a:r>
              <a:rPr lang="en-US" altLang="zh-CN" sz="2500" dirty="0" err="1"/>
              <a:t>QuALITY</a:t>
            </a:r>
            <a:r>
              <a:rPr lang="en-US" altLang="zh-CN" sz="2500" dirty="0"/>
              <a:t>: Question answering with long input texts, yes!." </a:t>
            </a:r>
            <a:r>
              <a:rPr lang="en-US" altLang="zh-CN" sz="2500" i="1" dirty="0"/>
              <a:t>Proceedings of the 2022 Conference of the North American Chapter of the Association for Computational Linguistics: Human Language Technologies</a:t>
            </a:r>
            <a:r>
              <a:rPr lang="en-US" altLang="zh-CN" sz="2500" dirty="0"/>
              <a:t>. 2022.</a:t>
            </a:r>
          </a:p>
          <a:p>
            <a:pPr marL="457200" indent="-457200">
              <a:lnSpc>
                <a:spcPct val="130000"/>
              </a:lnSpc>
              <a:buFont typeface="Arial" panose="020B0604020202090204" pitchFamily="34" charset="0"/>
              <a:buAutoNum type="arabicPeriod"/>
            </a:pPr>
            <a:r>
              <a:rPr lang="en-US" altLang="zh-CN" sz="2500" dirty="0"/>
              <a:t>Yang, Zitong, et al. "Synthetic continued pretraining." </a:t>
            </a:r>
            <a:r>
              <a:rPr lang="en-US" altLang="zh-CN" sz="2500" i="1" dirty="0" err="1"/>
              <a:t>arXiv</a:t>
            </a:r>
            <a:r>
              <a:rPr lang="en-US" altLang="zh-CN" sz="2500" i="1" dirty="0"/>
              <a:t> preprint arXiv:2409.07431</a:t>
            </a:r>
            <a:r>
              <a:rPr lang="en-US" altLang="zh-CN" sz="2500" dirty="0"/>
              <a:t> (2024).</a:t>
            </a:r>
          </a:p>
          <a:p>
            <a:pPr marL="457200" indent="-457200">
              <a:lnSpc>
                <a:spcPct val="130000"/>
              </a:lnSpc>
              <a:buFont typeface="Arial" panose="020B0604020202090204" pitchFamily="34" charset="0"/>
              <a:buAutoNum type="arabicPeriod"/>
            </a:pPr>
            <a:r>
              <a:rPr lang="en-US" altLang="zh-CN" sz="2500" dirty="0"/>
              <a:t>Yang, Zitong, et al. "Synthetic bootstrapped pretraining." </a:t>
            </a:r>
            <a:r>
              <a:rPr lang="en-US" altLang="zh-CN" sz="2500" i="1" dirty="0" err="1"/>
              <a:t>arXiv</a:t>
            </a:r>
            <a:r>
              <a:rPr lang="en-US" altLang="zh-CN" sz="2500" i="1" dirty="0"/>
              <a:t> preprint arXiv:2509.15248</a:t>
            </a:r>
            <a:r>
              <a:rPr lang="en-US" altLang="zh-CN" sz="2500" dirty="0"/>
              <a:t> (2025).</a:t>
            </a:r>
          </a:p>
          <a:p>
            <a:pPr marL="457200" indent="-457200">
              <a:lnSpc>
                <a:spcPct val="130000"/>
              </a:lnSpc>
              <a:buFont typeface="Arial" panose="020B0604020202090204" pitchFamily="34" charset="0"/>
              <a:buAutoNum type="arabicPeriod"/>
            </a:pPr>
            <a:r>
              <a:rPr lang="en-US" altLang="zh-CN" sz="2500" dirty="0"/>
              <a:t>Gao, Huan-ang, et al. "A survey of self-evolving agents: On path to artificial super intelligence." </a:t>
            </a:r>
            <a:r>
              <a:rPr lang="en-US" altLang="zh-CN" sz="2500" i="1" dirty="0" err="1"/>
              <a:t>arXiv</a:t>
            </a:r>
            <a:r>
              <a:rPr lang="en-US" altLang="zh-CN" sz="2500" i="1" dirty="0"/>
              <a:t> preprint arXiv:2507.21046</a:t>
            </a:r>
            <a:r>
              <a:rPr lang="en-US" altLang="zh-CN" sz="2500" dirty="0"/>
              <a:t> 1 (2025).</a:t>
            </a:r>
          </a:p>
          <a:p>
            <a:pPr marL="457200" indent="-457200">
              <a:lnSpc>
                <a:spcPct val="130000"/>
              </a:lnSpc>
              <a:buFont typeface="Arial" panose="020B0604020202090204" pitchFamily="34" charset="0"/>
              <a:buAutoNum type="arabicPeriod"/>
            </a:pPr>
            <a:r>
              <a:rPr lang="en-US" altLang="zh-CN" sz="2500" dirty="0"/>
              <a:t>Fang, </a:t>
            </a:r>
            <a:r>
              <a:rPr lang="en-US" altLang="zh-CN" sz="2500" dirty="0" err="1"/>
              <a:t>Jinyuan</a:t>
            </a:r>
            <a:r>
              <a:rPr lang="en-US" altLang="zh-CN" sz="2500" dirty="0"/>
              <a:t>, et al. "A comprehensive survey of self-evolving ai agents: A new paradigm bridging foundation models and lifelong agentic systems." </a:t>
            </a:r>
            <a:r>
              <a:rPr lang="en-US" altLang="zh-CN" sz="2500" i="1" dirty="0" err="1"/>
              <a:t>arXiv</a:t>
            </a:r>
            <a:r>
              <a:rPr lang="en-US" altLang="zh-CN" sz="2500" i="1" dirty="0"/>
              <a:t> preprint arXiv:2508.07407</a:t>
            </a:r>
            <a:r>
              <a:rPr lang="en-US" altLang="zh-CN" sz="2500" dirty="0"/>
              <a:t>(2025).</a:t>
            </a:r>
            <a:endParaRPr lang="en-US" altLang="zh-CN" sz="2500" b="1" dirty="0"/>
          </a:p>
          <a:p>
            <a:pPr marL="457200" indent="-457200">
              <a:buFont typeface="Arial" panose="020B0604020202090204" pitchFamily="34" charset="0"/>
              <a:buAutoNum type="arabicPeriod"/>
            </a:pPr>
            <a:endParaRPr lang="en-US" altLang="zh-CN" b="1" dirty="0"/>
          </a:p>
          <a:p>
            <a:pPr marL="457200" indent="-457200">
              <a:buFont typeface="Arial" panose="020B0604020202090204" pitchFamily="34" charset="0"/>
              <a:buAutoNum type="arabicPeriod"/>
            </a:pPr>
            <a:endParaRPr kumimoji="1" lang="en-US" altLang="zh-CN" dirty="0"/>
          </a:p>
          <a:p>
            <a:pPr marL="457200" indent="-457200">
              <a:buAutoNum type="arabicPeriod"/>
            </a:pPr>
            <a:endParaRPr kumimoji="1" lang="en-US" altLang="zh-CN" dirty="0"/>
          </a:p>
          <a:p>
            <a:pPr marL="457200" indent="-457200">
              <a:buAutoNum type="arabicPeriod"/>
            </a:pPr>
            <a:endParaRPr kumimoji="1" lang="en-US" altLang="zh-CN" dirty="0"/>
          </a:p>
        </p:txBody>
      </p:sp>
      <p:sp>
        <p:nvSpPr>
          <p:cNvPr id="4" name="日期占位符 3">
            <a:extLst>
              <a:ext uri="{FF2B5EF4-FFF2-40B4-BE49-F238E27FC236}">
                <a16:creationId xmlns:a16="http://schemas.microsoft.com/office/drawing/2014/main" id="{6E551A1A-9FD4-A612-5A82-7997B8351BD4}"/>
              </a:ext>
            </a:extLst>
          </p:cNvPr>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a:extLst>
              <a:ext uri="{FF2B5EF4-FFF2-40B4-BE49-F238E27FC236}">
                <a16:creationId xmlns:a16="http://schemas.microsoft.com/office/drawing/2014/main" id="{4F1F9A80-7100-BDDF-2F74-61460E6640BA}"/>
              </a:ext>
            </a:extLst>
          </p:cNvPr>
          <p:cNvSpPr>
            <a:spLocks noGrp="1"/>
          </p:cNvSpPr>
          <p:nvPr>
            <p:ph type="sldNum" sz="quarter" idx="12"/>
          </p:nvPr>
        </p:nvSpPr>
        <p:spPr/>
        <p:txBody>
          <a:bodyPr/>
          <a:lstStyle/>
          <a:p>
            <a:fld id="{24F01846-2DA3-FB44-9D89-19679C480714}" type="slidenum">
              <a:rPr kumimoji="1" lang="zh-CN" altLang="en-US" smtClean="0"/>
              <a:t>28</a:t>
            </a:fld>
            <a:endParaRPr kumimoji="1" lang="zh-CN" altLang="en-US" dirty="0"/>
          </a:p>
        </p:txBody>
      </p:sp>
    </p:spTree>
    <p:extLst>
      <p:ext uri="{BB962C8B-B14F-4D97-AF65-F5344CB8AC3E}">
        <p14:creationId xmlns:p14="http://schemas.microsoft.com/office/powerpoint/2010/main" val="2852569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08113" y="452064"/>
            <a:ext cx="8524460" cy="613605"/>
          </a:xfrm>
        </p:spPr>
        <p:txBody>
          <a:bodyPr>
            <a:normAutofit/>
          </a:bodyPr>
          <a:lstStyle/>
          <a:p>
            <a:r>
              <a:rPr lang="en-US" altLang="zh-CN" dirty="0"/>
              <a:t>Hope you enjoyed the lecture!</a:t>
            </a:r>
            <a:endParaRPr kumimoji="1" lang="zh-CN" altLang="en-US" sz="3200" dirty="0"/>
          </a:p>
        </p:txBody>
      </p:sp>
      <p:sp>
        <p:nvSpPr>
          <p:cNvPr id="3" name="副标题 2"/>
          <p:cNvSpPr>
            <a:spLocks noGrp="1"/>
          </p:cNvSpPr>
          <p:nvPr>
            <p:ph type="subTitle" idx="1"/>
          </p:nvPr>
        </p:nvSpPr>
        <p:spPr>
          <a:xfrm>
            <a:off x="308113" y="1438176"/>
            <a:ext cx="11575773" cy="4750904"/>
          </a:xfrm>
        </p:spPr>
        <p:txBody>
          <a:bodyPr/>
          <a:lstStyle/>
          <a:p>
            <a:endParaRPr kumimoji="1" lang="en-US" altLang="zh-CN" dirty="0"/>
          </a:p>
          <a:p>
            <a:r>
              <a:rPr kumimoji="1" lang="en-US" altLang="zh-CN" dirty="0"/>
              <a:t>Question?</a:t>
            </a:r>
          </a:p>
          <a:p>
            <a:endParaRPr kumimoji="1" lang="en-US" altLang="zh-CN" dirty="0"/>
          </a:p>
          <a:p>
            <a:endParaRPr kumimoji="1" lang="en-US" altLang="zh-CN" dirty="0"/>
          </a:p>
          <a:p>
            <a:endParaRPr kumimoji="1" lang="en-US" altLang="zh-CN" dirty="0"/>
          </a:p>
          <a:p>
            <a:r>
              <a:rPr kumimoji="1" lang="en-US" altLang="zh-CN" dirty="0"/>
              <a:t> </a:t>
            </a:r>
          </a:p>
        </p:txBody>
      </p:sp>
      <p:sp>
        <p:nvSpPr>
          <p:cNvPr id="4" name="日期占位符 3"/>
          <p:cNvSpPr>
            <a:spLocks noGrp="1"/>
          </p:cNvSpPr>
          <p:nvPr>
            <p:ph type="dt" sz="half" idx="10"/>
          </p:nvPr>
        </p:nvSpPr>
        <p:spPr/>
        <p:txBody>
          <a:bodyPr/>
          <a:lstStyle/>
          <a:p>
            <a:fld id="{3EC80B9B-165E-4D40-8ABE-74EB107C3243}" type="datetime1">
              <a:rPr kumimoji="1" lang="zh-CN" altLang="en-US" smtClean="0"/>
              <a:t>2026/3/17</a:t>
            </a:fld>
            <a:endParaRPr kumimoji="1" lang="zh-CN" altLang="en-US"/>
          </a:p>
        </p:txBody>
      </p:sp>
      <p:sp>
        <p:nvSpPr>
          <p:cNvPr id="5" name="灯片编号占位符 4"/>
          <p:cNvSpPr>
            <a:spLocks noGrp="1"/>
          </p:cNvSpPr>
          <p:nvPr>
            <p:ph type="sldNum" sz="quarter" idx="12"/>
          </p:nvPr>
        </p:nvSpPr>
        <p:spPr/>
        <p:txBody>
          <a:bodyPr/>
          <a:lstStyle/>
          <a:p>
            <a:fld id="{24F01846-2DA3-FB44-9D89-19679C480714}" type="slidenum">
              <a:rPr kumimoji="1" lang="zh-CN" altLang="en-US" smtClean="0"/>
              <a:t>29</a:t>
            </a:fld>
            <a:endParaRPr kumimoji="1"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967</TotalTime>
  <Words>4501</Words>
  <Application>Microsoft Macintosh PowerPoint</Application>
  <PresentationFormat>宽屏</PresentationFormat>
  <Paragraphs>465</Paragraphs>
  <Slides>29</Slides>
  <Notes>22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29</vt:i4>
      </vt:variant>
    </vt:vector>
  </HeadingPairs>
  <TitlesOfParts>
    <vt:vector size="36" baseType="lpstr">
      <vt:lpstr>等线</vt:lpstr>
      <vt:lpstr>Arial</vt:lpstr>
      <vt:lpstr>Consolas</vt:lpstr>
      <vt:lpstr>Garamond</vt:lpstr>
      <vt:lpstr>Times New Roman</vt:lpstr>
      <vt:lpstr>Wingdings</vt:lpstr>
      <vt:lpstr>Office 主题​​</vt:lpstr>
      <vt:lpstr>Modern Agent: Training &amp; Self-Evolving</vt:lpstr>
      <vt:lpstr>Outline</vt:lpstr>
      <vt:lpstr>Outline</vt:lpstr>
      <vt:lpstr>Moden Agent != LLM + external environment</vt:lpstr>
      <vt:lpstr>A conceptual framework you might know</vt:lpstr>
      <vt:lpstr>Stage 1: LLM Agent (LLM is the only brain) </vt:lpstr>
      <vt:lpstr>Stage 2: Agentic System (Hybrid System for production)</vt:lpstr>
      <vt:lpstr>Outline</vt:lpstr>
      <vt:lpstr>PowerPoint 演示文稿</vt:lpstr>
      <vt:lpstr>Post-training</vt:lpstr>
      <vt:lpstr>SFT: Trajectory Curation</vt:lpstr>
      <vt:lpstr>SFT: Data Synthesis Pipeline</vt:lpstr>
      <vt:lpstr>RL: Data</vt:lpstr>
      <vt:lpstr>RL: Grade for the reward(signal)</vt:lpstr>
      <vt:lpstr>PowerPoint 演示文稿</vt:lpstr>
      <vt:lpstr>Outline</vt:lpstr>
      <vt:lpstr>Why Self-evolving AI</vt:lpstr>
      <vt:lpstr>Why Self-evolving AI</vt:lpstr>
      <vt:lpstr>What is Self-evolving AI - Definition</vt:lpstr>
      <vt:lpstr>What is Self-evolving AI - Characteristics</vt:lpstr>
      <vt:lpstr>PowerPoint 演示文稿</vt:lpstr>
      <vt:lpstr>Perspective 1: pre-training is the core</vt:lpstr>
      <vt:lpstr>Perspective 1: pre-training is the core</vt:lpstr>
      <vt:lpstr>Perspective 2: mid and post-training &amp; Agent scaffold components for adaptation  </vt:lpstr>
      <vt:lpstr>Perspective 2: mid and post-training &amp; Agent scaffold components for adaptation  </vt:lpstr>
      <vt:lpstr>Look Ahead: Can AI self-evolve to be really stronger than its creator? </vt:lpstr>
      <vt:lpstr>Look Ahead: Can AI self-evolve to be really stronger than its creator? </vt:lpstr>
      <vt:lpstr>References: </vt:lpstr>
      <vt:lpstr>Hope you enjoyed the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Rui Shi</dc:creator>
  <cp:lastModifiedBy>Rui Shi</cp:lastModifiedBy>
  <cp:revision>110</cp:revision>
  <dcterms:created xsi:type="dcterms:W3CDTF">2026-03-14T16:14:30Z</dcterms:created>
  <dcterms:modified xsi:type="dcterms:W3CDTF">2026-03-17T11:19:20Z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A13B9DF7EF7C4C024789B56920A072B3_42</vt:lpwstr>
  </property>
  <property fmtid="{D5CDD505-2E9C-101B-9397-08002B2CF9AE}" pid="3" name="KSOProductBuildVer">
    <vt:lpwstr>2052-12.1.24031.24031</vt:lpwstr>
  </property>
</Properties>
</file>